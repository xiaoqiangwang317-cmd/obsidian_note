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notesSlides/notesSlide2.xml" ContentType="application/vnd.openxmlformats-officedocument.presentationml.notesSlide+xml"/>
  <Override PartName="/ppt/tags/tag18.xml" ContentType="application/vnd.openxmlformats-officedocument.presentationml.tags+xml"/>
  <Override PartName="/ppt/notesSlides/notesSlide3.xml" ContentType="application/vnd.openxmlformats-officedocument.presentationml.notesSlide+xml"/>
  <Override PartName="/ppt/tags/tag19.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notesSlides/notesSlide7.xml" ContentType="application/vnd.openxmlformats-officedocument.presentationml.notesSlide+xml"/>
  <Override PartName="/ppt/tags/tag23.xml" ContentType="application/vnd.openxmlformats-officedocument.presentationml.tags+xml"/>
  <Override PartName="/ppt/notesSlides/notesSlide8.xml" ContentType="application/vnd.openxmlformats-officedocument.presentationml.notesSlide+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notesSlides/notesSlide10.xml" ContentType="application/vnd.openxmlformats-officedocument.presentationml.notesSlide+xml"/>
  <Override PartName="/ppt/tags/tag26.xml" ContentType="application/vnd.openxmlformats-officedocument.presentationml.tags+xml"/>
  <Override PartName="/ppt/notesSlides/notesSlide11.xml" ContentType="application/vnd.openxmlformats-officedocument.presentationml.notesSlide+xml"/>
  <Override PartName="/ppt/tags/tag27.xml" ContentType="application/vnd.openxmlformats-officedocument.presentationml.tags+xml"/>
  <Override PartName="/ppt/notesSlides/notesSlide12.xml" ContentType="application/vnd.openxmlformats-officedocument.presentationml.notesSlide+xml"/>
  <Override PartName="/ppt/tags/tag28.xml" ContentType="application/vnd.openxmlformats-officedocument.presentationml.tags+xml"/>
  <Override PartName="/ppt/notesSlides/notesSlide13.xml" ContentType="application/vnd.openxmlformats-officedocument.presentationml.notesSlide+xml"/>
  <Override PartName="/ppt/tags/tag29.xml" ContentType="application/vnd.openxmlformats-officedocument.presentationml.tags+xml"/>
  <Override PartName="/ppt/notesSlides/notesSlide14.xml" ContentType="application/vnd.openxmlformats-officedocument.presentationml.notesSlide+xml"/>
  <Override PartName="/ppt/tags/tag30.xml" ContentType="application/vnd.openxmlformats-officedocument.presentationml.tags+xml"/>
  <Override PartName="/ppt/notesSlides/notesSlide15.xml" ContentType="application/vnd.openxmlformats-officedocument.presentationml.notesSlide+xml"/>
  <Override PartName="/ppt/tags/tag31.xml" ContentType="application/vnd.openxmlformats-officedocument.presentationml.tags+xml"/>
  <Override PartName="/ppt/notesSlides/notesSlide16.xml" ContentType="application/vnd.openxmlformats-officedocument.presentationml.notesSlide+xml"/>
  <Override PartName="/ppt/tags/tag32.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19"/>
  </p:notesMasterIdLst>
  <p:handoutMasterIdLst>
    <p:handoutMasterId r:id="rId20"/>
  </p:handoutMasterIdLst>
  <p:sldIdLst>
    <p:sldId id="256" r:id="rId2"/>
    <p:sldId id="272" r:id="rId3"/>
    <p:sldId id="273" r:id="rId4"/>
    <p:sldId id="257" r:id="rId5"/>
    <p:sldId id="276" r:id="rId6"/>
    <p:sldId id="275" r:id="rId7"/>
    <p:sldId id="280" r:id="rId8"/>
    <p:sldId id="277" r:id="rId9"/>
    <p:sldId id="282" r:id="rId10"/>
    <p:sldId id="278" r:id="rId11"/>
    <p:sldId id="279" r:id="rId12"/>
    <p:sldId id="261" r:id="rId13"/>
    <p:sldId id="284" r:id="rId14"/>
    <p:sldId id="290" r:id="rId15"/>
    <p:sldId id="289" r:id="rId16"/>
    <p:sldId id="281" r:id="rId17"/>
    <p:sldId id="265" r:id="rId18"/>
  </p:sldIdLst>
  <p:sldSz cx="11520488" cy="6480175"/>
  <p:notesSz cx="6858000" cy="9144000"/>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1" userDrawn="1">
          <p15:clr>
            <a:srgbClr val="A4A3A4"/>
          </p15:clr>
        </p15:guide>
        <p15:guide id="2" pos="36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A7D2"/>
    <a:srgbClr val="2476B2"/>
    <a:srgbClr val="1FB1D7"/>
    <a:srgbClr val="238BC1"/>
    <a:srgbClr val="1EE2F4"/>
    <a:srgbClr val="FFFFFF"/>
    <a:srgbClr val="FAFAFA"/>
    <a:srgbClr val="DCDCDC"/>
    <a:srgbClr val="F0F0F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p:cViewPr varScale="1">
        <p:scale>
          <a:sx n="60" d="100"/>
          <a:sy n="60" d="100"/>
        </p:scale>
        <p:origin x="480" y="36"/>
      </p:cViewPr>
      <p:guideLst>
        <p:guide orient="horz" pos="2041"/>
        <p:guide pos="3629"/>
      </p:guideLst>
    </p:cSldViewPr>
  </p:slideViewPr>
  <p:notesTextViewPr>
    <p:cViewPr>
      <p:scale>
        <a:sx n="3" d="2"/>
        <a:sy n="3" d="2"/>
      </p:scale>
      <p:origin x="0" y="0"/>
    </p:cViewPr>
  </p:notesTextViewPr>
  <p:sorterViewPr>
    <p:cViewPr>
      <p:scale>
        <a:sx n="190" d="100"/>
        <a:sy n="19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字魂59号-创粗黑" panose="00000500000000000000" pitchFamily="2" charset="-122"/>
              <a:ea typeface="字魂59号-创粗黑" panose="00000500000000000000"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字魂59号-创粗黑" panose="00000500000000000000" pitchFamily="2" charset="-122"/>
                <a:ea typeface="字魂59号-创粗黑" panose="00000500000000000000" pitchFamily="2" charset="-122"/>
              </a:rPr>
              <a:t>2025/12/28</a:t>
            </a:fld>
            <a:endParaRPr lang="zh-CN" altLang="en-US" dirty="0">
              <a:latin typeface="字魂59号-创粗黑" panose="00000500000000000000" pitchFamily="2" charset="-122"/>
              <a:ea typeface="字魂59号-创粗黑" panose="00000500000000000000"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字魂59号-创粗黑" panose="00000500000000000000" pitchFamily="2" charset="-122"/>
              <a:ea typeface="字魂59号-创粗黑" panose="00000500000000000000"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字魂59号-创粗黑" panose="00000500000000000000" pitchFamily="2" charset="-122"/>
                <a:ea typeface="字魂59号-创粗黑" panose="00000500000000000000" pitchFamily="2" charset="-122"/>
              </a:rPr>
              <a:t>‹#›</a:t>
            </a:fld>
            <a:endParaRPr lang="zh-CN" altLang="en-US" dirty="0">
              <a:latin typeface="字魂59号-创粗黑" panose="00000500000000000000" pitchFamily="2" charset="-122"/>
              <a:ea typeface="字魂59号-创粗黑" panose="00000500000000000000" pitchFamily="2" charset="-122"/>
            </a:endParaRPr>
          </a:p>
        </p:txBody>
      </p:sp>
    </p:spTree>
    <p:extLst>
      <p:ext uri="{BB962C8B-B14F-4D97-AF65-F5344CB8AC3E}">
        <p14:creationId xmlns:p14="http://schemas.microsoft.com/office/powerpoint/2010/main" val="5494917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59号-创粗黑" panose="00000500000000000000" pitchFamily="2" charset="-122"/>
                <a:ea typeface="字魂59号-创粗黑" panose="00000500000000000000"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59号-创粗黑" panose="00000500000000000000" pitchFamily="2" charset="-122"/>
                <a:ea typeface="字魂59号-创粗黑" panose="00000500000000000000" pitchFamily="2" charset="-122"/>
              </a:defRPr>
            </a:lvl1pPr>
          </a:lstStyle>
          <a:p>
            <a:fld id="{1AC49D05-6128-4D0D-A32A-06A5E73B386C}" type="datetimeFigureOut">
              <a:rPr lang="zh-CN" altLang="en-US" smtClean="0"/>
              <a:pPr/>
              <a:t>2025/12/28</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59号-创粗黑" panose="00000500000000000000" pitchFamily="2" charset="-122"/>
                <a:ea typeface="字魂59号-创粗黑" panose="00000500000000000000"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59号-创粗黑" panose="00000500000000000000" pitchFamily="2" charset="-122"/>
                <a:ea typeface="字魂59号-创粗黑" panose="00000500000000000000" pitchFamily="2" charset="-122"/>
              </a:defRPr>
            </a:lvl1pPr>
          </a:lstStyle>
          <a:p>
            <a:fld id="{5849F42C-2DAE-424C-A4B8-3140182C3E9F}" type="slidenum">
              <a:rPr lang="zh-CN" altLang="en-US" smtClean="0"/>
              <a:pPr/>
              <a:t>‹#›</a:t>
            </a:fld>
            <a:endParaRPr lang="zh-CN" altLang="en-US" dirty="0"/>
          </a:p>
        </p:txBody>
      </p:sp>
    </p:spTree>
    <p:extLst>
      <p:ext uri="{BB962C8B-B14F-4D97-AF65-F5344CB8AC3E}">
        <p14:creationId xmlns:p14="http://schemas.microsoft.com/office/powerpoint/2010/main" val="3228470652"/>
      </p:ext>
    </p:extLst>
  </p:cSld>
  <p:clrMap bg1="lt1" tx1="dk1" bg2="lt2" tx2="dk2" accent1="accent1" accent2="accent2" accent3="accent3" accent4="accent4" accent5="accent5" accent6="accent6" hlink="hlink" folHlink="folHlink"/>
  <p:notesStyle>
    <a:lvl1pPr marL="0" algn="l" defTabSz="863925" rtl="0" eaLnBrk="1" latinLnBrk="0" hangingPunct="1">
      <a:defRPr sz="1512" kern="1200">
        <a:solidFill>
          <a:schemeClr val="tx1"/>
        </a:solidFill>
        <a:latin typeface="字魂59号-创粗黑" panose="00000500000000000000" pitchFamily="2" charset="-122"/>
        <a:ea typeface="字魂59号-创粗黑" panose="00000500000000000000" pitchFamily="2" charset="-122"/>
        <a:cs typeface="+mn-cs"/>
      </a:defRPr>
    </a:lvl1pPr>
    <a:lvl2pPr marL="431962" algn="l" defTabSz="863925" rtl="0" eaLnBrk="1" latinLnBrk="0" hangingPunct="1">
      <a:defRPr sz="1134" kern="1200">
        <a:solidFill>
          <a:schemeClr val="tx1"/>
        </a:solidFill>
        <a:latin typeface="字魂59号-创粗黑" panose="00000500000000000000" pitchFamily="2" charset="-122"/>
        <a:ea typeface="字魂59号-创粗黑" panose="00000500000000000000" pitchFamily="2" charset="-122"/>
        <a:cs typeface="+mn-cs"/>
      </a:defRPr>
    </a:lvl2pPr>
    <a:lvl3pPr marL="863925" algn="l" defTabSz="863925" rtl="0" eaLnBrk="1" latinLnBrk="0" hangingPunct="1">
      <a:defRPr sz="1134" kern="1200">
        <a:solidFill>
          <a:schemeClr val="tx1"/>
        </a:solidFill>
        <a:latin typeface="字魂59号-创粗黑" panose="00000500000000000000" pitchFamily="2" charset="-122"/>
        <a:ea typeface="字魂59号-创粗黑" panose="00000500000000000000" pitchFamily="2" charset="-122"/>
        <a:cs typeface="+mn-cs"/>
      </a:defRPr>
    </a:lvl3pPr>
    <a:lvl4pPr marL="1295887" algn="l" defTabSz="863925" rtl="0" eaLnBrk="1" latinLnBrk="0" hangingPunct="1">
      <a:defRPr sz="1134" kern="1200">
        <a:solidFill>
          <a:schemeClr val="tx1"/>
        </a:solidFill>
        <a:latin typeface="字魂59号-创粗黑" panose="00000500000000000000" pitchFamily="2" charset="-122"/>
        <a:ea typeface="字魂59号-创粗黑" panose="00000500000000000000" pitchFamily="2" charset="-122"/>
        <a:cs typeface="+mn-cs"/>
      </a:defRPr>
    </a:lvl4pPr>
    <a:lvl5pPr marL="1727849" algn="l" defTabSz="863925" rtl="0" eaLnBrk="1" latinLnBrk="0" hangingPunct="1">
      <a:defRPr sz="1134" kern="1200">
        <a:solidFill>
          <a:schemeClr val="tx1"/>
        </a:solidFill>
        <a:latin typeface="字魂59号-创粗黑" panose="00000500000000000000" pitchFamily="2" charset="-122"/>
        <a:ea typeface="字魂59号-创粗黑" panose="00000500000000000000" pitchFamily="2" charset="-122"/>
        <a:cs typeface="+mn-cs"/>
      </a:defRPr>
    </a:lvl5pPr>
    <a:lvl6pPr marL="2159810" algn="l" defTabSz="863925" rtl="0" eaLnBrk="1" latinLnBrk="0" hangingPunct="1">
      <a:defRPr sz="1134" kern="1200">
        <a:solidFill>
          <a:schemeClr val="tx1"/>
        </a:solidFill>
        <a:latin typeface="+mn-lt"/>
        <a:ea typeface="+mn-ea"/>
        <a:cs typeface="+mn-cs"/>
      </a:defRPr>
    </a:lvl6pPr>
    <a:lvl7pPr marL="2591773" algn="l" defTabSz="863925" rtl="0" eaLnBrk="1" latinLnBrk="0" hangingPunct="1">
      <a:defRPr sz="1134" kern="1200">
        <a:solidFill>
          <a:schemeClr val="tx1"/>
        </a:solidFill>
        <a:latin typeface="+mn-lt"/>
        <a:ea typeface="+mn-ea"/>
        <a:cs typeface="+mn-cs"/>
      </a:defRPr>
    </a:lvl7pPr>
    <a:lvl8pPr marL="3023735" algn="l" defTabSz="863925" rtl="0" eaLnBrk="1" latinLnBrk="0" hangingPunct="1">
      <a:defRPr sz="1134" kern="1200">
        <a:solidFill>
          <a:schemeClr val="tx1"/>
        </a:solidFill>
        <a:latin typeface="+mn-lt"/>
        <a:ea typeface="+mn-ea"/>
        <a:cs typeface="+mn-cs"/>
      </a:defRPr>
    </a:lvl8pPr>
    <a:lvl9pPr marL="3455697" algn="l" defTabSz="863925" rtl="0" eaLnBrk="1" latinLnBrk="0" hangingPunct="1">
      <a:defRPr sz="113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1</a:t>
            </a:fld>
            <a:endParaRPr lang="zh-CN" altLang="en-US"/>
          </a:p>
        </p:txBody>
      </p:sp>
    </p:spTree>
    <p:extLst>
      <p:ext uri="{BB962C8B-B14F-4D97-AF65-F5344CB8AC3E}">
        <p14:creationId xmlns:p14="http://schemas.microsoft.com/office/powerpoint/2010/main" val="2599402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2</a:t>
            </a:fld>
            <a:endParaRPr lang="zh-CN" altLang="en-US" dirty="0"/>
          </a:p>
        </p:txBody>
      </p:sp>
    </p:spTree>
    <p:extLst>
      <p:ext uri="{BB962C8B-B14F-4D97-AF65-F5344CB8AC3E}">
        <p14:creationId xmlns:p14="http://schemas.microsoft.com/office/powerpoint/2010/main" val="3134572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3</a:t>
            </a:fld>
            <a:endParaRPr lang="zh-CN" altLang="en-US" dirty="0"/>
          </a:p>
        </p:txBody>
      </p:sp>
    </p:spTree>
    <p:extLst>
      <p:ext uri="{BB962C8B-B14F-4D97-AF65-F5344CB8AC3E}">
        <p14:creationId xmlns:p14="http://schemas.microsoft.com/office/powerpoint/2010/main" val="1652548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4</a:t>
            </a:fld>
            <a:endParaRPr lang="zh-CN" altLang="en-US" dirty="0"/>
          </a:p>
        </p:txBody>
      </p:sp>
    </p:spTree>
    <p:extLst>
      <p:ext uri="{BB962C8B-B14F-4D97-AF65-F5344CB8AC3E}">
        <p14:creationId xmlns:p14="http://schemas.microsoft.com/office/powerpoint/2010/main" val="1816874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F16A0-9835-3CCA-53C2-2E9216342A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457D19-3E3A-3179-4976-8B9437F5A50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254AF83-EC29-4114-0891-43FFF09294E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9272675-5A5E-24FB-3DDB-6F52269AB5FA}"/>
              </a:ext>
            </a:extLst>
          </p:cNvPr>
          <p:cNvSpPr>
            <a:spLocks noGrp="1"/>
          </p:cNvSpPr>
          <p:nvPr>
            <p:ph type="sldNum" sz="quarter" idx="5"/>
          </p:nvPr>
        </p:nvSpPr>
        <p:spPr/>
        <p:txBody>
          <a:bodyPr/>
          <a:lstStyle/>
          <a:p>
            <a:fld id="{5849F42C-2DAE-424C-A4B8-3140182C3E9F}" type="slidenum">
              <a:rPr lang="zh-CN" altLang="en-US" smtClean="0"/>
              <a:pPr/>
              <a:t>5</a:t>
            </a:fld>
            <a:endParaRPr lang="zh-CN" altLang="en-US" dirty="0"/>
          </a:p>
        </p:txBody>
      </p:sp>
    </p:spTree>
    <p:extLst>
      <p:ext uri="{BB962C8B-B14F-4D97-AF65-F5344CB8AC3E}">
        <p14:creationId xmlns:p14="http://schemas.microsoft.com/office/powerpoint/2010/main" val="2162585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AD8F9-3397-10A1-4663-523FBDDB7D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26DC60-C42E-2BD6-04E0-BCAC3090DA0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333AFF5-8D40-3BEA-5471-E6D373EAD66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2D7E6A3-736C-0DBA-B474-7EEFE8EEDBBA}"/>
              </a:ext>
            </a:extLst>
          </p:cNvPr>
          <p:cNvSpPr>
            <a:spLocks noGrp="1"/>
          </p:cNvSpPr>
          <p:nvPr>
            <p:ph type="sldNum" sz="quarter" idx="5"/>
          </p:nvPr>
        </p:nvSpPr>
        <p:spPr/>
        <p:txBody>
          <a:bodyPr/>
          <a:lstStyle/>
          <a:p>
            <a:fld id="{5849F42C-2DAE-424C-A4B8-3140182C3E9F}" type="slidenum">
              <a:rPr lang="zh-CN" altLang="en-US" smtClean="0"/>
              <a:pPr/>
              <a:t>6</a:t>
            </a:fld>
            <a:endParaRPr lang="zh-CN" altLang="en-US" dirty="0"/>
          </a:p>
        </p:txBody>
      </p:sp>
    </p:spTree>
    <p:extLst>
      <p:ext uri="{BB962C8B-B14F-4D97-AF65-F5344CB8AC3E}">
        <p14:creationId xmlns:p14="http://schemas.microsoft.com/office/powerpoint/2010/main" val="3850539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F190C-8B2E-BC08-0F51-836FF9C3EC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CCD02F-C703-26D0-8572-C9B6B92E782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3BFE5027-1CE4-7338-6212-CC3E562F503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2E731E5-1EEF-7F5F-4D2E-BA5DB637B2E6}"/>
              </a:ext>
            </a:extLst>
          </p:cNvPr>
          <p:cNvSpPr>
            <a:spLocks noGrp="1"/>
          </p:cNvSpPr>
          <p:nvPr>
            <p:ph type="sldNum" sz="quarter" idx="5"/>
          </p:nvPr>
        </p:nvSpPr>
        <p:spPr/>
        <p:txBody>
          <a:bodyPr/>
          <a:lstStyle/>
          <a:p>
            <a:fld id="{5849F42C-2DAE-424C-A4B8-3140182C3E9F}" type="slidenum">
              <a:rPr lang="zh-CN" altLang="en-US" smtClean="0"/>
              <a:pPr/>
              <a:t>7</a:t>
            </a:fld>
            <a:endParaRPr lang="zh-CN" altLang="en-US" dirty="0"/>
          </a:p>
        </p:txBody>
      </p:sp>
    </p:spTree>
    <p:extLst>
      <p:ext uri="{BB962C8B-B14F-4D97-AF65-F5344CB8AC3E}">
        <p14:creationId xmlns:p14="http://schemas.microsoft.com/office/powerpoint/2010/main" val="2668627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5D9EF-D84A-0305-B546-47EEE79305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95D8A4-59FD-7FFE-05AB-8DDC5C854F7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BA141AE-67FC-7E32-2830-48358E911F7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D351DE5-AB35-8B8D-66AD-EE1C56929051}"/>
              </a:ext>
            </a:extLst>
          </p:cNvPr>
          <p:cNvSpPr>
            <a:spLocks noGrp="1"/>
          </p:cNvSpPr>
          <p:nvPr>
            <p:ph type="sldNum" sz="quarter" idx="5"/>
          </p:nvPr>
        </p:nvSpPr>
        <p:spPr/>
        <p:txBody>
          <a:bodyPr/>
          <a:lstStyle/>
          <a:p>
            <a:fld id="{5849F42C-2DAE-424C-A4B8-3140182C3E9F}" type="slidenum">
              <a:rPr lang="zh-CN" altLang="en-US" smtClean="0"/>
              <a:pPr/>
              <a:t>8</a:t>
            </a:fld>
            <a:endParaRPr lang="zh-CN" altLang="en-US" dirty="0"/>
          </a:p>
        </p:txBody>
      </p:sp>
    </p:spTree>
    <p:extLst>
      <p:ext uri="{BB962C8B-B14F-4D97-AF65-F5344CB8AC3E}">
        <p14:creationId xmlns:p14="http://schemas.microsoft.com/office/powerpoint/2010/main" val="2955176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2C98A-599B-E804-CFD8-DA0B19113E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D9F8D6-E295-5D51-AE3A-AB999F23C8B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2A9EF35-6A76-4001-50D8-B9036E98B1B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C325D03-9424-C76C-CB47-1496DA348F99}"/>
              </a:ext>
            </a:extLst>
          </p:cNvPr>
          <p:cNvSpPr>
            <a:spLocks noGrp="1"/>
          </p:cNvSpPr>
          <p:nvPr>
            <p:ph type="sldNum" sz="quarter" idx="5"/>
          </p:nvPr>
        </p:nvSpPr>
        <p:spPr/>
        <p:txBody>
          <a:bodyPr/>
          <a:lstStyle/>
          <a:p>
            <a:fld id="{5849F42C-2DAE-424C-A4B8-3140182C3E9F}" type="slidenum">
              <a:rPr lang="zh-CN" altLang="en-US" smtClean="0"/>
              <a:pPr/>
              <a:t>9</a:t>
            </a:fld>
            <a:endParaRPr lang="zh-CN" altLang="en-US" dirty="0"/>
          </a:p>
        </p:txBody>
      </p:sp>
    </p:spTree>
    <p:extLst>
      <p:ext uri="{BB962C8B-B14F-4D97-AF65-F5344CB8AC3E}">
        <p14:creationId xmlns:p14="http://schemas.microsoft.com/office/powerpoint/2010/main" val="3307627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AD13D-5687-1049-6176-0C4CB6C42D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052728-1EE4-FC22-10EE-829219A71A2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B3CFB7E-70DE-A5E1-A179-8264CC1B566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55CF374-7782-82AF-5A42-A7BE9437B6D6}"/>
              </a:ext>
            </a:extLst>
          </p:cNvPr>
          <p:cNvSpPr>
            <a:spLocks noGrp="1"/>
          </p:cNvSpPr>
          <p:nvPr>
            <p:ph type="sldNum" sz="quarter" idx="5"/>
          </p:nvPr>
        </p:nvSpPr>
        <p:spPr/>
        <p:txBody>
          <a:bodyPr/>
          <a:lstStyle/>
          <a:p>
            <a:fld id="{5849F42C-2DAE-424C-A4B8-3140182C3E9F}" type="slidenum">
              <a:rPr lang="zh-CN" altLang="en-US" smtClean="0"/>
              <a:pPr/>
              <a:t>10</a:t>
            </a:fld>
            <a:endParaRPr lang="zh-CN" altLang="en-US" dirty="0"/>
          </a:p>
        </p:txBody>
      </p:sp>
    </p:spTree>
    <p:extLst>
      <p:ext uri="{BB962C8B-B14F-4D97-AF65-F5344CB8AC3E}">
        <p14:creationId xmlns:p14="http://schemas.microsoft.com/office/powerpoint/2010/main" val="2904941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986AE-74C8-046D-63DE-26C21FC4B7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930F14-D0DA-D1AF-A2CC-9ED84258554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F381E12-84E3-E8C3-0E3B-D67DEFC48F2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3376712-4E2E-D36F-A1E0-455499F275AC}"/>
              </a:ext>
            </a:extLst>
          </p:cNvPr>
          <p:cNvSpPr>
            <a:spLocks noGrp="1"/>
          </p:cNvSpPr>
          <p:nvPr>
            <p:ph type="sldNum" sz="quarter" idx="5"/>
          </p:nvPr>
        </p:nvSpPr>
        <p:spPr/>
        <p:txBody>
          <a:bodyPr/>
          <a:lstStyle/>
          <a:p>
            <a:fld id="{5849F42C-2DAE-424C-A4B8-3140182C3E9F}" type="slidenum">
              <a:rPr lang="zh-CN" altLang="en-US" smtClean="0"/>
              <a:pPr/>
              <a:t>11</a:t>
            </a:fld>
            <a:endParaRPr lang="zh-CN" altLang="en-US" dirty="0"/>
          </a:p>
        </p:txBody>
      </p:sp>
    </p:spTree>
    <p:extLst>
      <p:ext uri="{BB962C8B-B14F-4D97-AF65-F5344CB8AC3E}">
        <p14:creationId xmlns:p14="http://schemas.microsoft.com/office/powerpoint/2010/main" val="4123309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12</a:t>
            </a:fld>
            <a:endParaRPr lang="zh-CN" altLang="en-US" dirty="0"/>
          </a:p>
        </p:txBody>
      </p:sp>
    </p:spTree>
    <p:extLst>
      <p:ext uri="{BB962C8B-B14F-4D97-AF65-F5344CB8AC3E}">
        <p14:creationId xmlns:p14="http://schemas.microsoft.com/office/powerpoint/2010/main" val="313090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97CBB-3F4C-5132-2678-EB7779214E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DFD749-28FF-3CDA-B05C-E8159A84309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F875C21-6A48-EF3E-ED96-EBC07D4C229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F325D22-465B-25FA-D8C7-E9CF7D299842}"/>
              </a:ext>
            </a:extLst>
          </p:cNvPr>
          <p:cNvSpPr>
            <a:spLocks noGrp="1"/>
          </p:cNvSpPr>
          <p:nvPr>
            <p:ph type="sldNum" sz="quarter" idx="5"/>
          </p:nvPr>
        </p:nvSpPr>
        <p:spPr/>
        <p:txBody>
          <a:bodyPr/>
          <a:lstStyle/>
          <a:p>
            <a:fld id="{5849F42C-2DAE-424C-A4B8-3140182C3E9F}" type="slidenum">
              <a:rPr lang="zh-CN" altLang="en-US" smtClean="0"/>
              <a:pPr/>
              <a:t>13</a:t>
            </a:fld>
            <a:endParaRPr lang="zh-CN" altLang="en-US" dirty="0"/>
          </a:p>
        </p:txBody>
      </p:sp>
    </p:spTree>
    <p:extLst>
      <p:ext uri="{BB962C8B-B14F-4D97-AF65-F5344CB8AC3E}">
        <p14:creationId xmlns:p14="http://schemas.microsoft.com/office/powerpoint/2010/main" val="3751982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4C147-2640-C9C9-D042-3750641E65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5FA1CF-D29C-D0D6-B046-36B328AAD8A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63D660B-89EC-5B62-4156-1505884862C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AC24FE7-99E8-B965-7915-DAAF473149CD}"/>
              </a:ext>
            </a:extLst>
          </p:cNvPr>
          <p:cNvSpPr>
            <a:spLocks noGrp="1"/>
          </p:cNvSpPr>
          <p:nvPr>
            <p:ph type="sldNum" sz="quarter" idx="5"/>
          </p:nvPr>
        </p:nvSpPr>
        <p:spPr/>
        <p:txBody>
          <a:bodyPr/>
          <a:lstStyle/>
          <a:p>
            <a:fld id="{5849F42C-2DAE-424C-A4B8-3140182C3E9F}" type="slidenum">
              <a:rPr lang="zh-CN" altLang="en-US" smtClean="0"/>
              <a:pPr/>
              <a:t>14</a:t>
            </a:fld>
            <a:endParaRPr lang="zh-CN" altLang="en-US" dirty="0"/>
          </a:p>
        </p:txBody>
      </p:sp>
    </p:spTree>
    <p:extLst>
      <p:ext uri="{BB962C8B-B14F-4D97-AF65-F5344CB8AC3E}">
        <p14:creationId xmlns:p14="http://schemas.microsoft.com/office/powerpoint/2010/main" val="189487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FB911-066A-7B66-9A34-892C095C08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282B5D-AC38-716A-C732-AC4717FA8B8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0928CC0-1127-C87D-3C2F-7C1385D7F7E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9EF7017-7A2E-BBE1-0EB3-C7B9C409C08A}"/>
              </a:ext>
            </a:extLst>
          </p:cNvPr>
          <p:cNvSpPr>
            <a:spLocks noGrp="1"/>
          </p:cNvSpPr>
          <p:nvPr>
            <p:ph type="sldNum" sz="quarter" idx="5"/>
          </p:nvPr>
        </p:nvSpPr>
        <p:spPr/>
        <p:txBody>
          <a:bodyPr/>
          <a:lstStyle/>
          <a:p>
            <a:fld id="{5849F42C-2DAE-424C-A4B8-3140182C3E9F}" type="slidenum">
              <a:rPr lang="zh-CN" altLang="en-US" smtClean="0"/>
              <a:pPr/>
              <a:t>15</a:t>
            </a:fld>
            <a:endParaRPr lang="zh-CN" altLang="en-US" dirty="0"/>
          </a:p>
        </p:txBody>
      </p:sp>
    </p:spTree>
    <p:extLst>
      <p:ext uri="{BB962C8B-B14F-4D97-AF65-F5344CB8AC3E}">
        <p14:creationId xmlns:p14="http://schemas.microsoft.com/office/powerpoint/2010/main" val="1799730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EE401-BA93-CA85-871E-D1B347EB7D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5DEBF6-9218-E8EF-D49B-D140A8BDE72B}"/>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D8A7CB7-A4F5-82CC-C071-536E1482446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F096573-1CDA-09CC-166F-C7821CDFD6C6}"/>
              </a:ext>
            </a:extLst>
          </p:cNvPr>
          <p:cNvSpPr>
            <a:spLocks noGrp="1"/>
          </p:cNvSpPr>
          <p:nvPr>
            <p:ph type="sldNum" sz="quarter" idx="5"/>
          </p:nvPr>
        </p:nvSpPr>
        <p:spPr/>
        <p:txBody>
          <a:bodyPr/>
          <a:lstStyle/>
          <a:p>
            <a:fld id="{5849F42C-2DAE-424C-A4B8-3140182C3E9F}" type="slidenum">
              <a:rPr lang="zh-CN" altLang="en-US" smtClean="0"/>
              <a:pPr/>
              <a:t>16</a:t>
            </a:fld>
            <a:endParaRPr lang="zh-CN" altLang="en-US" dirty="0"/>
          </a:p>
        </p:txBody>
      </p:sp>
    </p:spTree>
    <p:extLst>
      <p:ext uri="{BB962C8B-B14F-4D97-AF65-F5344CB8AC3E}">
        <p14:creationId xmlns:p14="http://schemas.microsoft.com/office/powerpoint/2010/main" val="1534365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17</a:t>
            </a:fld>
            <a:endParaRPr lang="zh-CN" altLang="en-US" dirty="0"/>
          </a:p>
        </p:txBody>
      </p:sp>
    </p:spTree>
    <p:extLst>
      <p:ext uri="{BB962C8B-B14F-4D97-AF65-F5344CB8AC3E}">
        <p14:creationId xmlns:p14="http://schemas.microsoft.com/office/powerpoint/2010/main" val="125497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slideMaster" Target="../slideMasters/slideMaster1.xml"/><Relationship Id="rId4" Type="http://schemas.openxmlformats.org/officeDocument/2006/relationships/tags" Target="../tags/tag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440061" y="1060529"/>
            <a:ext cx="8640366" cy="2256061"/>
          </a:xfrm>
        </p:spPr>
        <p:txBody>
          <a:bodyPr anchor="b"/>
          <a:lstStyle>
            <a:lvl1pPr algn="ctr">
              <a:defRPr sz="5669"/>
            </a:lvl1pPr>
          </a:lstStyle>
          <a:p>
            <a:r>
              <a:rPr lang="zh-CN" altLang="en-US"/>
              <a:t>单击此处编辑母版标题样式</a:t>
            </a:r>
            <a:endParaRPr lang="en-US" dirty="0"/>
          </a:p>
        </p:txBody>
      </p:sp>
      <p:sp>
        <p:nvSpPr>
          <p:cNvPr id="3" name="Subtitle 2"/>
          <p:cNvSpPr>
            <a:spLocks noGrp="1"/>
          </p:cNvSpPr>
          <p:nvPr>
            <p:ph type="subTitle" idx="1"/>
          </p:nvPr>
        </p:nvSpPr>
        <p:spPr>
          <a:xfrm>
            <a:off x="1440061" y="3403592"/>
            <a:ext cx="8640366" cy="1564542"/>
          </a:xfrm>
        </p:spPr>
        <p:txBody>
          <a:bodyPr/>
          <a:lstStyle>
            <a:lvl1pPr marL="0" indent="0" algn="ctr">
              <a:buNone/>
              <a:defRPr sz="2268"/>
            </a:lvl1pPr>
            <a:lvl2pPr marL="432008" indent="0" algn="ctr">
              <a:buNone/>
              <a:defRPr sz="1890"/>
            </a:lvl2pPr>
            <a:lvl3pPr marL="864017" indent="0" algn="ctr">
              <a:buNone/>
              <a:defRPr sz="1701"/>
            </a:lvl3pPr>
            <a:lvl4pPr marL="1296025" indent="0" algn="ctr">
              <a:buNone/>
              <a:defRPr sz="1512"/>
            </a:lvl4pPr>
            <a:lvl5pPr marL="1728033" indent="0" algn="ctr">
              <a:buNone/>
              <a:defRPr sz="1512"/>
            </a:lvl5pPr>
            <a:lvl6pPr marL="2160041" indent="0" algn="ctr">
              <a:buNone/>
              <a:defRPr sz="1512"/>
            </a:lvl6pPr>
            <a:lvl7pPr marL="2592050" indent="0" algn="ctr">
              <a:buNone/>
              <a:defRPr sz="1512"/>
            </a:lvl7pPr>
            <a:lvl8pPr marL="3024058" indent="0" algn="ctr">
              <a:buNone/>
              <a:defRPr sz="1512"/>
            </a:lvl8pPr>
            <a:lvl9pPr marL="3456066" indent="0" algn="ctr">
              <a:buNone/>
              <a:defRPr sz="1512"/>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60FBDFE-C587-4B4C-A407-44438C67B59E}" type="datetimeFigureOut">
              <a:rPr lang="zh-CN" altLang="en-US" smtClean="0"/>
              <a:t>2025/12/28</a:t>
            </a:fld>
            <a:endParaRPr lang="zh-CN" altLang="en-US"/>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338725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0FBDFE-C587-4B4C-A407-44438C67B59E}" type="datetimeFigureOut">
              <a:rPr lang="zh-CN" altLang="en-US" smtClean="0"/>
              <a:t>2025/12/28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723331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86033" y="1615545"/>
            <a:ext cx="9936421" cy="2695572"/>
          </a:xfrm>
        </p:spPr>
        <p:txBody>
          <a:bodyPr anchor="b"/>
          <a:lstStyle>
            <a:lvl1pPr>
              <a:defRPr sz="5669"/>
            </a:lvl1pPr>
          </a:lstStyle>
          <a:p>
            <a:r>
              <a:rPr lang="zh-CN" altLang="en-US"/>
              <a:t>单击此处编辑母版标题样式</a:t>
            </a:r>
            <a:endParaRPr lang="en-US" dirty="0"/>
          </a:p>
        </p:txBody>
      </p:sp>
      <p:sp>
        <p:nvSpPr>
          <p:cNvPr id="3" name="Text Placeholder 2"/>
          <p:cNvSpPr>
            <a:spLocks noGrp="1"/>
          </p:cNvSpPr>
          <p:nvPr>
            <p:ph type="body" idx="1"/>
          </p:nvPr>
        </p:nvSpPr>
        <p:spPr>
          <a:xfrm>
            <a:off x="786033" y="4336618"/>
            <a:ext cx="9936421" cy="1417538"/>
          </a:xfrm>
        </p:spPr>
        <p:txBody>
          <a:bodyPr/>
          <a:lstStyle>
            <a:lvl1pPr marL="0" indent="0">
              <a:buNone/>
              <a:defRPr sz="2268">
                <a:solidFill>
                  <a:schemeClr val="tx1">
                    <a:tint val="75000"/>
                  </a:schemeClr>
                </a:solidFill>
              </a:defRPr>
            </a:lvl1pPr>
            <a:lvl2pPr marL="432008" indent="0">
              <a:buNone/>
              <a:defRPr sz="1890">
                <a:solidFill>
                  <a:schemeClr val="tx1">
                    <a:tint val="75000"/>
                  </a:schemeClr>
                </a:solidFill>
              </a:defRPr>
            </a:lvl2pPr>
            <a:lvl3pPr marL="864017" indent="0">
              <a:buNone/>
              <a:defRPr sz="1701">
                <a:solidFill>
                  <a:schemeClr val="tx1">
                    <a:tint val="75000"/>
                  </a:schemeClr>
                </a:solidFill>
              </a:defRPr>
            </a:lvl3pPr>
            <a:lvl4pPr marL="1296025" indent="0">
              <a:buNone/>
              <a:defRPr sz="1512">
                <a:solidFill>
                  <a:schemeClr val="tx1">
                    <a:tint val="75000"/>
                  </a:schemeClr>
                </a:solidFill>
              </a:defRPr>
            </a:lvl4pPr>
            <a:lvl5pPr marL="1728033" indent="0">
              <a:buNone/>
              <a:defRPr sz="1512">
                <a:solidFill>
                  <a:schemeClr val="tx1">
                    <a:tint val="75000"/>
                  </a:schemeClr>
                </a:solidFill>
              </a:defRPr>
            </a:lvl5pPr>
            <a:lvl6pPr marL="2160041" indent="0">
              <a:buNone/>
              <a:defRPr sz="1512">
                <a:solidFill>
                  <a:schemeClr val="tx1">
                    <a:tint val="75000"/>
                  </a:schemeClr>
                </a:solidFill>
              </a:defRPr>
            </a:lvl6pPr>
            <a:lvl7pPr marL="2592050" indent="0">
              <a:buNone/>
              <a:defRPr sz="1512">
                <a:solidFill>
                  <a:schemeClr val="tx1">
                    <a:tint val="75000"/>
                  </a:schemeClr>
                </a:solidFill>
              </a:defRPr>
            </a:lvl7pPr>
            <a:lvl8pPr marL="3024058" indent="0">
              <a:buNone/>
              <a:defRPr sz="1512">
                <a:solidFill>
                  <a:schemeClr val="tx1">
                    <a:tint val="75000"/>
                  </a:schemeClr>
                </a:solidFill>
              </a:defRPr>
            </a:lvl8pPr>
            <a:lvl9pPr marL="3456066" indent="0">
              <a:buNone/>
              <a:defRPr sz="1512">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60FBDFE-C587-4B4C-A407-44438C67B59E}" type="datetimeFigureOut">
              <a:rPr lang="zh-CN" altLang="en-US" smtClean="0"/>
              <a:t>2025/12/28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467777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792034" y="1725046"/>
            <a:ext cx="4896207" cy="41116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832247" y="1725046"/>
            <a:ext cx="4896207" cy="41116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760FBDFE-C587-4B4C-A407-44438C67B59E}" type="datetimeFigureOut">
              <a:rPr lang="zh-CN" altLang="en-US" smtClean="0"/>
              <a:t>2025/12/28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634161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793534" y="345010"/>
            <a:ext cx="9936421" cy="1252534"/>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793535" y="1588543"/>
            <a:ext cx="4873706" cy="778521"/>
          </a:xfrm>
        </p:spPr>
        <p:txBody>
          <a:bodyPr anchor="b"/>
          <a:lstStyle>
            <a:lvl1pPr marL="0" indent="0">
              <a:buNone/>
              <a:defRPr sz="2268" b="1"/>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zh-CN" altLang="en-US"/>
              <a:t>单击此处编辑母版文本样式</a:t>
            </a:r>
          </a:p>
        </p:txBody>
      </p:sp>
      <p:sp>
        <p:nvSpPr>
          <p:cNvPr id="4" name="Content Placeholder 3"/>
          <p:cNvSpPr>
            <a:spLocks noGrp="1"/>
          </p:cNvSpPr>
          <p:nvPr>
            <p:ph sz="half" idx="2"/>
          </p:nvPr>
        </p:nvSpPr>
        <p:spPr>
          <a:xfrm>
            <a:off x="793535" y="2367064"/>
            <a:ext cx="4873706" cy="348159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832247" y="1588543"/>
            <a:ext cx="4897708" cy="778521"/>
          </a:xfrm>
        </p:spPr>
        <p:txBody>
          <a:bodyPr anchor="b"/>
          <a:lstStyle>
            <a:lvl1pPr marL="0" indent="0">
              <a:buNone/>
              <a:defRPr sz="2268" b="1"/>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zh-CN" altLang="en-US"/>
              <a:t>单击此处编辑母版文本样式</a:t>
            </a:r>
          </a:p>
        </p:txBody>
      </p:sp>
      <p:sp>
        <p:nvSpPr>
          <p:cNvPr id="6" name="Content Placeholder 5"/>
          <p:cNvSpPr>
            <a:spLocks noGrp="1"/>
          </p:cNvSpPr>
          <p:nvPr>
            <p:ph sz="quarter" idx="4"/>
          </p:nvPr>
        </p:nvSpPr>
        <p:spPr>
          <a:xfrm>
            <a:off x="5832247" y="2367064"/>
            <a:ext cx="4897708" cy="348159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60FBDFE-C587-4B4C-A407-44438C67B59E}" type="datetimeFigureOut">
              <a:rPr lang="zh-CN" altLang="en-US" smtClean="0"/>
              <a:t>2025/12/28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10" name="矩形 9">
            <a:extLst>
              <a:ext uri="{FF2B5EF4-FFF2-40B4-BE49-F238E27FC236}">
                <a16:creationId xmlns:a16="http://schemas.microsoft.com/office/drawing/2014/main" id="{304F3D0D-A112-4DDB-B51E-D8B91A23EB71}"/>
              </a:ext>
            </a:extLst>
          </p:cNvPr>
          <p:cNvSpPr/>
          <p:nvPr userDrawn="1"/>
        </p:nvSpPr>
        <p:spPr>
          <a:xfrm>
            <a:off x="7608995" y="3956552"/>
            <a:ext cx="732443" cy="246221"/>
          </a:xfrm>
          <a:prstGeom prst="rect">
            <a:avLst/>
          </a:prstGeom>
        </p:spPr>
        <p:txBody>
          <a:bodyPr wrap="square">
            <a:spAutoFit/>
          </a:bodyPr>
          <a:lstStyle/>
          <a:p>
            <a:r>
              <a:rPr lang="en-US" altLang="zh-CN" sz="100" dirty="0">
                <a:solidFill>
                  <a:schemeClr val="accent5">
                    <a:lumMod val="50000"/>
                  </a:schemeClr>
                </a:solidFill>
                <a:latin typeface="Calibri"/>
                <a:ea typeface="宋体"/>
              </a:rPr>
              <a:t>PPT</a:t>
            </a:r>
            <a:r>
              <a:rPr lang="zh-CN" altLang="en-US" sz="100" dirty="0">
                <a:solidFill>
                  <a:schemeClr val="accent5">
                    <a:lumMod val="50000"/>
                  </a:schemeClr>
                </a:solidFill>
                <a:latin typeface="Calibri"/>
                <a:ea typeface="宋体"/>
              </a:rPr>
              <a:t>模板下载：</a:t>
            </a:r>
            <a:r>
              <a:rPr lang="en-US" altLang="zh-CN" sz="100" dirty="0">
                <a:solidFill>
                  <a:schemeClr val="accent5">
                    <a:lumMod val="50000"/>
                  </a:schemeClr>
                </a:solidFill>
                <a:latin typeface="Calibri"/>
                <a:ea typeface="宋体"/>
              </a:rPr>
              <a:t>www.1ppt.com/moban/     </a:t>
            </a:r>
            <a:r>
              <a:rPr lang="zh-CN" altLang="en-US" sz="100" dirty="0">
                <a:solidFill>
                  <a:schemeClr val="accent5">
                    <a:lumMod val="50000"/>
                  </a:schemeClr>
                </a:solidFill>
                <a:latin typeface="Calibri"/>
                <a:ea typeface="宋体"/>
              </a:rPr>
              <a:t>行业</a:t>
            </a:r>
            <a:r>
              <a:rPr lang="en-US" altLang="zh-CN" sz="100" dirty="0">
                <a:solidFill>
                  <a:schemeClr val="accent5">
                    <a:lumMod val="50000"/>
                  </a:schemeClr>
                </a:solidFill>
                <a:latin typeface="Calibri"/>
                <a:ea typeface="宋体"/>
              </a:rPr>
              <a:t>PPT</a:t>
            </a:r>
            <a:r>
              <a:rPr lang="zh-CN" altLang="en-US" sz="100" dirty="0">
                <a:solidFill>
                  <a:schemeClr val="accent5">
                    <a:lumMod val="50000"/>
                  </a:schemeClr>
                </a:solidFill>
                <a:latin typeface="Calibri"/>
                <a:ea typeface="宋体"/>
              </a:rPr>
              <a:t>模板：</a:t>
            </a:r>
            <a:r>
              <a:rPr lang="en-US" altLang="zh-CN" sz="100" dirty="0">
                <a:solidFill>
                  <a:schemeClr val="accent5">
                    <a:lumMod val="50000"/>
                  </a:schemeClr>
                </a:solidFill>
                <a:latin typeface="Calibri"/>
                <a:ea typeface="宋体"/>
              </a:rPr>
              <a:t>www.1ppt.com/hangye/ </a:t>
            </a:r>
          </a:p>
          <a:p>
            <a:r>
              <a:rPr lang="zh-CN" altLang="en-US" sz="100" dirty="0">
                <a:solidFill>
                  <a:schemeClr val="accent5">
                    <a:lumMod val="50000"/>
                  </a:schemeClr>
                </a:solidFill>
                <a:latin typeface="Calibri"/>
                <a:ea typeface="宋体"/>
              </a:rPr>
              <a:t>节日</a:t>
            </a:r>
            <a:r>
              <a:rPr lang="en-US" altLang="zh-CN" sz="100" dirty="0">
                <a:solidFill>
                  <a:schemeClr val="accent5">
                    <a:lumMod val="50000"/>
                  </a:schemeClr>
                </a:solidFill>
                <a:latin typeface="Calibri"/>
                <a:ea typeface="宋体"/>
              </a:rPr>
              <a:t>PPT</a:t>
            </a:r>
            <a:r>
              <a:rPr lang="zh-CN" altLang="en-US" sz="100" dirty="0">
                <a:solidFill>
                  <a:schemeClr val="accent5">
                    <a:lumMod val="50000"/>
                  </a:schemeClr>
                </a:solidFill>
                <a:latin typeface="Calibri"/>
                <a:ea typeface="宋体"/>
              </a:rPr>
              <a:t>模板：</a:t>
            </a:r>
            <a:r>
              <a:rPr lang="en-US" altLang="zh-CN" sz="100" dirty="0">
                <a:solidFill>
                  <a:schemeClr val="accent5">
                    <a:lumMod val="50000"/>
                  </a:schemeClr>
                </a:solidFill>
                <a:latin typeface="Calibri"/>
                <a:ea typeface="宋体"/>
              </a:rPr>
              <a:t>www.1ppt.com/jieri/           PPT</a:t>
            </a:r>
            <a:r>
              <a:rPr lang="zh-CN" altLang="en-US" sz="100" dirty="0">
                <a:solidFill>
                  <a:schemeClr val="accent5">
                    <a:lumMod val="50000"/>
                  </a:schemeClr>
                </a:solidFill>
                <a:latin typeface="Calibri"/>
                <a:ea typeface="宋体"/>
              </a:rPr>
              <a:t>素材下载：</a:t>
            </a:r>
            <a:r>
              <a:rPr lang="en-US" altLang="zh-CN" sz="100" dirty="0">
                <a:solidFill>
                  <a:schemeClr val="accent5">
                    <a:lumMod val="50000"/>
                  </a:schemeClr>
                </a:solidFill>
                <a:latin typeface="Calibri"/>
                <a:ea typeface="宋体"/>
              </a:rPr>
              <a:t>www.1ppt.com/sucai/</a:t>
            </a:r>
          </a:p>
          <a:p>
            <a:r>
              <a:rPr lang="en-US" altLang="zh-CN" sz="100" dirty="0">
                <a:solidFill>
                  <a:schemeClr val="accent5">
                    <a:lumMod val="50000"/>
                  </a:schemeClr>
                </a:solidFill>
                <a:latin typeface="Calibri"/>
                <a:ea typeface="宋体"/>
              </a:rPr>
              <a:t>PPT</a:t>
            </a:r>
            <a:r>
              <a:rPr lang="zh-CN" altLang="en-US" sz="100" dirty="0">
                <a:solidFill>
                  <a:schemeClr val="accent5">
                    <a:lumMod val="50000"/>
                  </a:schemeClr>
                </a:solidFill>
                <a:latin typeface="Calibri"/>
                <a:ea typeface="宋体"/>
              </a:rPr>
              <a:t>背景图片：</a:t>
            </a:r>
            <a:r>
              <a:rPr lang="en-US" altLang="zh-CN" sz="100" dirty="0">
                <a:solidFill>
                  <a:schemeClr val="accent5">
                    <a:lumMod val="50000"/>
                  </a:schemeClr>
                </a:solidFill>
                <a:latin typeface="Calibri"/>
                <a:ea typeface="宋体"/>
              </a:rPr>
              <a:t>www.1ppt.com/beijing/      PPT</a:t>
            </a:r>
            <a:r>
              <a:rPr lang="zh-CN" altLang="en-US" sz="100" dirty="0">
                <a:solidFill>
                  <a:schemeClr val="accent5">
                    <a:lumMod val="50000"/>
                  </a:schemeClr>
                </a:solidFill>
                <a:latin typeface="Calibri"/>
                <a:ea typeface="宋体"/>
              </a:rPr>
              <a:t>图表下载：</a:t>
            </a:r>
            <a:r>
              <a:rPr lang="en-US" altLang="zh-CN" sz="100" dirty="0">
                <a:solidFill>
                  <a:schemeClr val="accent5">
                    <a:lumMod val="50000"/>
                  </a:schemeClr>
                </a:solidFill>
                <a:latin typeface="Calibri"/>
                <a:ea typeface="宋体"/>
              </a:rPr>
              <a:t>www.1ppt.com/tubiao/      </a:t>
            </a:r>
          </a:p>
          <a:p>
            <a:r>
              <a:rPr lang="zh-CN" altLang="en-US" sz="100" dirty="0">
                <a:solidFill>
                  <a:schemeClr val="accent5">
                    <a:lumMod val="50000"/>
                  </a:schemeClr>
                </a:solidFill>
                <a:latin typeface="Calibri"/>
                <a:ea typeface="宋体"/>
              </a:rPr>
              <a:t>优秀</a:t>
            </a:r>
            <a:r>
              <a:rPr lang="en-US" altLang="zh-CN" sz="100" dirty="0">
                <a:solidFill>
                  <a:schemeClr val="accent5">
                    <a:lumMod val="50000"/>
                  </a:schemeClr>
                </a:solidFill>
                <a:latin typeface="Calibri"/>
                <a:ea typeface="宋体"/>
              </a:rPr>
              <a:t>PPT</a:t>
            </a:r>
            <a:r>
              <a:rPr lang="zh-CN" altLang="en-US" sz="100" dirty="0">
                <a:solidFill>
                  <a:schemeClr val="accent5">
                    <a:lumMod val="50000"/>
                  </a:schemeClr>
                </a:solidFill>
                <a:latin typeface="Calibri"/>
                <a:ea typeface="宋体"/>
              </a:rPr>
              <a:t>下载：</a:t>
            </a:r>
            <a:r>
              <a:rPr lang="en-US" altLang="zh-CN" sz="100" dirty="0">
                <a:solidFill>
                  <a:schemeClr val="accent5">
                    <a:lumMod val="50000"/>
                  </a:schemeClr>
                </a:solidFill>
                <a:latin typeface="Calibri"/>
                <a:ea typeface="宋体"/>
              </a:rPr>
              <a:t>www.1ppt.com/xiazai/        PPT</a:t>
            </a:r>
            <a:r>
              <a:rPr lang="zh-CN" altLang="en-US" sz="100" dirty="0">
                <a:solidFill>
                  <a:schemeClr val="accent5">
                    <a:lumMod val="50000"/>
                  </a:schemeClr>
                </a:solidFill>
                <a:latin typeface="Calibri"/>
                <a:ea typeface="宋体"/>
              </a:rPr>
              <a:t>教程： </a:t>
            </a:r>
            <a:r>
              <a:rPr lang="en-US" altLang="zh-CN" sz="100" dirty="0">
                <a:solidFill>
                  <a:schemeClr val="accent5">
                    <a:lumMod val="50000"/>
                  </a:schemeClr>
                </a:solidFill>
                <a:latin typeface="Calibri"/>
                <a:ea typeface="宋体"/>
              </a:rPr>
              <a:t>www.1ppt.com/powerpoint/      </a:t>
            </a:r>
          </a:p>
          <a:p>
            <a:r>
              <a:rPr lang="en-US" altLang="zh-CN" sz="100" dirty="0">
                <a:solidFill>
                  <a:schemeClr val="accent5">
                    <a:lumMod val="50000"/>
                  </a:schemeClr>
                </a:solidFill>
                <a:latin typeface="Calibri"/>
                <a:ea typeface="宋体"/>
              </a:rPr>
              <a:t>Word</a:t>
            </a:r>
            <a:r>
              <a:rPr lang="zh-CN" altLang="en-US" sz="100" dirty="0">
                <a:solidFill>
                  <a:schemeClr val="accent5">
                    <a:lumMod val="50000"/>
                  </a:schemeClr>
                </a:solidFill>
                <a:latin typeface="Calibri"/>
                <a:ea typeface="宋体"/>
              </a:rPr>
              <a:t>教程： </a:t>
            </a:r>
            <a:r>
              <a:rPr lang="en-US" altLang="zh-CN" sz="100" dirty="0">
                <a:solidFill>
                  <a:schemeClr val="accent5">
                    <a:lumMod val="50000"/>
                  </a:schemeClr>
                </a:solidFill>
                <a:latin typeface="Calibri"/>
                <a:ea typeface="宋体"/>
              </a:rPr>
              <a:t>www.1ppt.com/word/              Excel</a:t>
            </a:r>
            <a:r>
              <a:rPr lang="zh-CN" altLang="en-US" sz="100" dirty="0">
                <a:solidFill>
                  <a:schemeClr val="accent5">
                    <a:lumMod val="50000"/>
                  </a:schemeClr>
                </a:solidFill>
                <a:latin typeface="Calibri"/>
                <a:ea typeface="宋体"/>
              </a:rPr>
              <a:t>教程：</a:t>
            </a:r>
            <a:r>
              <a:rPr lang="en-US" altLang="zh-CN" sz="100" dirty="0">
                <a:solidFill>
                  <a:schemeClr val="accent5">
                    <a:lumMod val="50000"/>
                  </a:schemeClr>
                </a:solidFill>
                <a:latin typeface="Calibri"/>
                <a:ea typeface="宋体"/>
              </a:rPr>
              <a:t>www.1ppt.com/excel/  </a:t>
            </a:r>
          </a:p>
          <a:p>
            <a:r>
              <a:rPr lang="zh-CN" altLang="en-US" sz="100" dirty="0">
                <a:solidFill>
                  <a:schemeClr val="accent5">
                    <a:lumMod val="50000"/>
                  </a:schemeClr>
                </a:solidFill>
                <a:latin typeface="Calibri"/>
                <a:ea typeface="宋体"/>
              </a:rPr>
              <a:t>资料下载：</a:t>
            </a:r>
            <a:r>
              <a:rPr lang="en-US" altLang="zh-CN" sz="100" dirty="0">
                <a:solidFill>
                  <a:schemeClr val="accent5">
                    <a:lumMod val="50000"/>
                  </a:schemeClr>
                </a:solidFill>
                <a:latin typeface="Calibri"/>
                <a:ea typeface="宋体"/>
              </a:rPr>
              <a:t>www.1ppt.com/ziliao/                PPT</a:t>
            </a:r>
            <a:r>
              <a:rPr lang="zh-CN" altLang="en-US" sz="100" dirty="0">
                <a:solidFill>
                  <a:schemeClr val="accent5">
                    <a:lumMod val="50000"/>
                  </a:schemeClr>
                </a:solidFill>
                <a:latin typeface="Calibri"/>
                <a:ea typeface="宋体"/>
              </a:rPr>
              <a:t>课件下载：</a:t>
            </a:r>
            <a:r>
              <a:rPr lang="en-US" altLang="zh-CN" sz="100" dirty="0">
                <a:solidFill>
                  <a:schemeClr val="accent5">
                    <a:lumMod val="50000"/>
                  </a:schemeClr>
                </a:solidFill>
                <a:latin typeface="Calibri"/>
                <a:ea typeface="宋体"/>
              </a:rPr>
              <a:t>www.1ppt.com/kejian/ </a:t>
            </a:r>
          </a:p>
          <a:p>
            <a:r>
              <a:rPr lang="zh-CN" altLang="en-US" sz="100" dirty="0">
                <a:solidFill>
                  <a:schemeClr val="accent5">
                    <a:lumMod val="50000"/>
                  </a:schemeClr>
                </a:solidFill>
                <a:latin typeface="Calibri"/>
                <a:ea typeface="宋体"/>
              </a:rPr>
              <a:t>范文下载：</a:t>
            </a:r>
            <a:r>
              <a:rPr lang="en-US" altLang="zh-CN" sz="100" dirty="0">
                <a:solidFill>
                  <a:schemeClr val="accent5">
                    <a:lumMod val="50000"/>
                  </a:schemeClr>
                </a:solidFill>
                <a:latin typeface="Calibri"/>
                <a:ea typeface="宋体"/>
              </a:rPr>
              <a:t>www.1ppt.com/fanwen/             </a:t>
            </a:r>
            <a:r>
              <a:rPr lang="zh-CN" altLang="en-US" sz="100" dirty="0">
                <a:solidFill>
                  <a:schemeClr val="accent5">
                    <a:lumMod val="50000"/>
                  </a:schemeClr>
                </a:solidFill>
                <a:latin typeface="Calibri"/>
                <a:ea typeface="宋体"/>
              </a:rPr>
              <a:t>试卷下载：</a:t>
            </a:r>
            <a:r>
              <a:rPr lang="en-US" altLang="zh-CN" sz="100" dirty="0">
                <a:solidFill>
                  <a:schemeClr val="accent5">
                    <a:lumMod val="50000"/>
                  </a:schemeClr>
                </a:solidFill>
                <a:latin typeface="Calibri"/>
                <a:ea typeface="宋体"/>
              </a:rPr>
              <a:t>www.1ppt.com/shiti/  </a:t>
            </a:r>
          </a:p>
          <a:p>
            <a:r>
              <a:rPr lang="zh-CN" altLang="en-US" sz="100" dirty="0">
                <a:solidFill>
                  <a:schemeClr val="accent5">
                    <a:lumMod val="50000"/>
                  </a:schemeClr>
                </a:solidFill>
                <a:latin typeface="Calibri"/>
                <a:ea typeface="宋体"/>
              </a:rPr>
              <a:t>教案下载：</a:t>
            </a:r>
            <a:r>
              <a:rPr lang="en-US" altLang="zh-CN" sz="100" dirty="0">
                <a:solidFill>
                  <a:schemeClr val="accent5">
                    <a:lumMod val="50000"/>
                  </a:schemeClr>
                </a:solidFill>
                <a:latin typeface="Calibri"/>
                <a:ea typeface="宋体"/>
              </a:rPr>
              <a:t>www.1ppt.com/jiaoan/        </a:t>
            </a:r>
          </a:p>
          <a:p>
            <a:r>
              <a:rPr lang="zh-CN" altLang="en-US" sz="100" dirty="0">
                <a:solidFill>
                  <a:schemeClr val="accent5">
                    <a:lumMod val="50000"/>
                  </a:schemeClr>
                </a:solidFill>
                <a:latin typeface="Calibri"/>
                <a:ea typeface="宋体"/>
              </a:rPr>
              <a:t>字体下载：</a:t>
            </a:r>
            <a:r>
              <a:rPr lang="en-US" altLang="zh-CN" sz="100" dirty="0">
                <a:solidFill>
                  <a:schemeClr val="accent5">
                    <a:lumMod val="50000"/>
                  </a:schemeClr>
                </a:solidFill>
                <a:latin typeface="Calibri"/>
                <a:ea typeface="宋体"/>
              </a:rPr>
              <a:t>www.1ppt.com/ziti/</a:t>
            </a:r>
          </a:p>
          <a:p>
            <a:r>
              <a:rPr lang="en-US" altLang="zh-CN" sz="100" dirty="0">
                <a:solidFill>
                  <a:schemeClr val="accent5">
                    <a:lumMod val="50000"/>
                  </a:schemeClr>
                </a:solidFill>
                <a:latin typeface="Calibri"/>
                <a:ea typeface="宋体"/>
              </a:rPr>
              <a:t> </a:t>
            </a:r>
            <a:endParaRPr lang="zh-CN" altLang="en-US" sz="100" dirty="0">
              <a:solidFill>
                <a:schemeClr val="accent5">
                  <a:lumMod val="50000"/>
                </a:schemeClr>
              </a:solidFill>
              <a:latin typeface="Calibri"/>
              <a:ea typeface="宋体"/>
            </a:endParaRPr>
          </a:p>
        </p:txBody>
      </p:sp>
    </p:spTree>
    <p:extLst>
      <p:ext uri="{BB962C8B-B14F-4D97-AF65-F5344CB8AC3E}">
        <p14:creationId xmlns:p14="http://schemas.microsoft.com/office/powerpoint/2010/main" val="987869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60FBDFE-C587-4B4C-A407-44438C67B59E}" type="datetimeFigureOut">
              <a:rPr lang="zh-CN" altLang="en-US" smtClean="0"/>
              <a:t>2025/12/28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585912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zh-CN" altLang="en-US" smtClean="0"/>
              <a:t>2025/12/28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036232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793535" y="432012"/>
            <a:ext cx="3715657" cy="1512041"/>
          </a:xfrm>
        </p:spPr>
        <p:txBody>
          <a:bodyPr anchor="b"/>
          <a:lstStyle>
            <a:lvl1pPr>
              <a:defRPr sz="3024"/>
            </a:lvl1pPr>
          </a:lstStyle>
          <a:p>
            <a:r>
              <a:rPr lang="zh-CN" altLang="en-US"/>
              <a:t>单击此处编辑母版标题样式</a:t>
            </a:r>
            <a:endParaRPr lang="en-US" dirty="0"/>
          </a:p>
        </p:txBody>
      </p:sp>
      <p:sp>
        <p:nvSpPr>
          <p:cNvPr id="3" name="Content Placeholder 2"/>
          <p:cNvSpPr>
            <a:spLocks noGrp="1"/>
          </p:cNvSpPr>
          <p:nvPr>
            <p:ph idx="1"/>
          </p:nvPr>
        </p:nvSpPr>
        <p:spPr>
          <a:xfrm>
            <a:off x="4897708" y="933026"/>
            <a:ext cx="5832247" cy="4605124"/>
          </a:xfrm>
        </p:spPr>
        <p:txBody>
          <a:bodyPr/>
          <a:lstStyle>
            <a:lvl1pPr>
              <a:defRPr sz="3024"/>
            </a:lvl1pPr>
            <a:lvl2pPr>
              <a:defRPr sz="2646"/>
            </a:lvl2pPr>
            <a:lvl3pPr>
              <a:defRPr sz="2268"/>
            </a:lvl3pPr>
            <a:lvl4pPr>
              <a:defRPr sz="1890"/>
            </a:lvl4pPr>
            <a:lvl5pPr>
              <a:defRPr sz="1890"/>
            </a:lvl5pPr>
            <a:lvl6pPr>
              <a:defRPr sz="1890"/>
            </a:lvl6pPr>
            <a:lvl7pPr>
              <a:defRPr sz="1890"/>
            </a:lvl7pPr>
            <a:lvl8pPr>
              <a:defRPr sz="1890"/>
            </a:lvl8pPr>
            <a:lvl9pPr>
              <a:defRPr sz="189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793535" y="1944052"/>
            <a:ext cx="3715657" cy="3601598"/>
          </a:xfrm>
        </p:spPr>
        <p:txBody>
          <a:bodyPr/>
          <a:lstStyle>
            <a:lvl1pPr marL="0" indent="0">
              <a:buNone/>
              <a:defRPr sz="1512"/>
            </a:lvl1pPr>
            <a:lvl2pPr marL="432008" indent="0">
              <a:buNone/>
              <a:defRPr sz="1323"/>
            </a:lvl2pPr>
            <a:lvl3pPr marL="864017" indent="0">
              <a:buNone/>
              <a:defRPr sz="1134"/>
            </a:lvl3pPr>
            <a:lvl4pPr marL="1296025" indent="0">
              <a:buNone/>
              <a:defRPr sz="945"/>
            </a:lvl4pPr>
            <a:lvl5pPr marL="1728033" indent="0">
              <a:buNone/>
              <a:defRPr sz="945"/>
            </a:lvl5pPr>
            <a:lvl6pPr marL="2160041" indent="0">
              <a:buNone/>
              <a:defRPr sz="945"/>
            </a:lvl6pPr>
            <a:lvl7pPr marL="2592050" indent="0">
              <a:buNone/>
              <a:defRPr sz="945"/>
            </a:lvl7pPr>
            <a:lvl8pPr marL="3024058" indent="0">
              <a:buNone/>
              <a:defRPr sz="945"/>
            </a:lvl8pPr>
            <a:lvl9pPr marL="3456066" indent="0">
              <a:buNone/>
              <a:defRPr sz="94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60FBDFE-C587-4B4C-A407-44438C67B59E}" type="datetimeFigureOut">
              <a:rPr lang="zh-CN" altLang="en-US" smtClean="0"/>
              <a:pPr/>
              <a:t>2025/12/28</a:t>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pPr/>
              <a:t>‹#›</a:t>
            </a:fld>
            <a:endParaRPr lang="zh-CN" altLang="en-US" dirty="0"/>
          </a:p>
        </p:txBody>
      </p:sp>
    </p:spTree>
    <p:extLst>
      <p:ext uri="{BB962C8B-B14F-4D97-AF65-F5344CB8AC3E}">
        <p14:creationId xmlns:p14="http://schemas.microsoft.com/office/powerpoint/2010/main" val="3520703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793535" y="432012"/>
            <a:ext cx="3715657" cy="1512041"/>
          </a:xfrm>
        </p:spPr>
        <p:txBody>
          <a:bodyPr anchor="b"/>
          <a:lstStyle>
            <a:lvl1pPr>
              <a:defRPr sz="3024"/>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897708" y="933026"/>
            <a:ext cx="5832247" cy="4605124"/>
          </a:xfrm>
        </p:spPr>
        <p:txBody>
          <a:bodyPr anchor="t"/>
          <a:lstStyle>
            <a:lvl1pPr marL="0" indent="0">
              <a:buNone/>
              <a:defRPr sz="3024"/>
            </a:lvl1pPr>
            <a:lvl2pPr marL="432008" indent="0">
              <a:buNone/>
              <a:defRPr sz="2646"/>
            </a:lvl2pPr>
            <a:lvl3pPr marL="864017" indent="0">
              <a:buNone/>
              <a:defRPr sz="2268"/>
            </a:lvl3pPr>
            <a:lvl4pPr marL="1296025" indent="0">
              <a:buNone/>
              <a:defRPr sz="1890"/>
            </a:lvl4pPr>
            <a:lvl5pPr marL="1728033" indent="0">
              <a:buNone/>
              <a:defRPr sz="1890"/>
            </a:lvl5pPr>
            <a:lvl6pPr marL="2160041" indent="0">
              <a:buNone/>
              <a:defRPr sz="1890"/>
            </a:lvl6pPr>
            <a:lvl7pPr marL="2592050" indent="0">
              <a:buNone/>
              <a:defRPr sz="1890"/>
            </a:lvl7pPr>
            <a:lvl8pPr marL="3024058" indent="0">
              <a:buNone/>
              <a:defRPr sz="1890"/>
            </a:lvl8pPr>
            <a:lvl9pPr marL="3456066" indent="0">
              <a:buNone/>
              <a:defRPr sz="1890"/>
            </a:lvl9pPr>
          </a:lstStyle>
          <a:p>
            <a:r>
              <a:rPr lang="zh-CN" altLang="en-US"/>
              <a:t>单击图标添加图片</a:t>
            </a:r>
            <a:endParaRPr lang="en-US" dirty="0"/>
          </a:p>
        </p:txBody>
      </p:sp>
      <p:sp>
        <p:nvSpPr>
          <p:cNvPr id="4" name="Text Placeholder 3"/>
          <p:cNvSpPr>
            <a:spLocks noGrp="1"/>
          </p:cNvSpPr>
          <p:nvPr>
            <p:ph type="body" sz="half" idx="2"/>
          </p:nvPr>
        </p:nvSpPr>
        <p:spPr>
          <a:xfrm>
            <a:off x="793535" y="1944052"/>
            <a:ext cx="3715657" cy="3601598"/>
          </a:xfrm>
        </p:spPr>
        <p:txBody>
          <a:bodyPr/>
          <a:lstStyle>
            <a:lvl1pPr marL="0" indent="0">
              <a:buNone/>
              <a:defRPr sz="1512"/>
            </a:lvl1pPr>
            <a:lvl2pPr marL="432008" indent="0">
              <a:buNone/>
              <a:defRPr sz="1323"/>
            </a:lvl2pPr>
            <a:lvl3pPr marL="864017" indent="0">
              <a:buNone/>
              <a:defRPr sz="1134"/>
            </a:lvl3pPr>
            <a:lvl4pPr marL="1296025" indent="0">
              <a:buNone/>
              <a:defRPr sz="945"/>
            </a:lvl4pPr>
            <a:lvl5pPr marL="1728033" indent="0">
              <a:buNone/>
              <a:defRPr sz="945"/>
            </a:lvl5pPr>
            <a:lvl6pPr marL="2160041" indent="0">
              <a:buNone/>
              <a:defRPr sz="945"/>
            </a:lvl6pPr>
            <a:lvl7pPr marL="2592050" indent="0">
              <a:buNone/>
              <a:defRPr sz="945"/>
            </a:lvl7pPr>
            <a:lvl8pPr marL="3024058" indent="0">
              <a:buNone/>
              <a:defRPr sz="945"/>
            </a:lvl8pPr>
            <a:lvl9pPr marL="3456066" indent="0">
              <a:buNone/>
              <a:defRPr sz="94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EFD9D74-47D9-4702-A33C-335B63B48DBF}" type="datetimeFigureOut">
              <a:rPr lang="zh-CN" altLang="en-US" smtClean="0"/>
              <a:t>2025/12/28</a:t>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FABC47A4-756D-490B-A52F-7D9E2C9FC05F}" type="slidenum">
              <a:rPr lang="zh-CN" altLang="en-US" smtClean="0"/>
              <a:t>‹#›</a:t>
            </a:fld>
            <a:endParaRPr lang="zh-CN" altLang="en-US"/>
          </a:p>
        </p:txBody>
      </p:sp>
    </p:spTree>
    <p:extLst>
      <p:ext uri="{BB962C8B-B14F-4D97-AF65-F5344CB8AC3E}">
        <p14:creationId xmlns:p14="http://schemas.microsoft.com/office/powerpoint/2010/main" val="4093749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0FBDFE-C587-4B4C-A407-44438C67B59E}" type="datetimeFigureOut">
              <a:rPr lang="zh-CN" altLang="en-US" smtClean="0"/>
              <a:pPr/>
              <a:t>2025/12/28</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pPr/>
              <a:t>‹#›</a:t>
            </a:fld>
            <a:endParaRPr lang="zh-CN" altLang="en-US" dirty="0"/>
          </a:p>
        </p:txBody>
      </p:sp>
    </p:spTree>
    <p:extLst>
      <p:ext uri="{BB962C8B-B14F-4D97-AF65-F5344CB8AC3E}">
        <p14:creationId xmlns:p14="http://schemas.microsoft.com/office/powerpoint/2010/main" val="3555765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244349" y="345009"/>
            <a:ext cx="2484105" cy="549164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792033" y="345009"/>
            <a:ext cx="7308310" cy="549164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0FBDFE-C587-4B4C-A407-44438C67B59E}" type="datetimeFigureOut">
              <a:rPr lang="zh-CN" altLang="en-US" smtClean="0"/>
              <a:t>2025/12/28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230409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33033" y="1224600"/>
            <a:ext cx="4992251" cy="4762333"/>
          </a:xfrm>
        </p:spPr>
        <p:txBody>
          <a:bodyPr vert="horz" lIns="101600" tIns="0" rIns="82550" bIns="0" rtlCol="0">
            <a:noAutofit/>
          </a:bodyPr>
          <a:lstStyle>
            <a:lvl1pPr marL="0" marR="0" lvl="0" indent="0" algn="l" defTabSz="864017" rtl="0" eaLnBrk="1" fontAlgn="auto" latinLnBrk="0" hangingPunct="1">
              <a:lnSpc>
                <a:spcPct val="130000"/>
              </a:lnSpc>
              <a:spcBef>
                <a:spcPts val="0"/>
              </a:spcBef>
              <a:spcAft>
                <a:spcPts val="945"/>
              </a:spcAft>
              <a:buFont typeface="Arial" panose="020B0604020202020204" pitchFamily="34" charset="0"/>
              <a:buNone/>
              <a:defRPr kumimoji="0" lang="zh-CN" altLang="en-US" sz="1512" b="0" i="0" u="none" strike="noStrike" kern="1200" cap="none" spc="142" normalizeH="0" baseline="0" noProof="1" dirty="0">
                <a:solidFill>
                  <a:schemeClr val="tx1">
                    <a:lumMod val="75000"/>
                    <a:lumOff val="25000"/>
                  </a:schemeClr>
                </a:solidFill>
                <a:uFillTx/>
                <a:latin typeface="+mn-lt"/>
                <a:ea typeface="字魂59号-创粗黑" panose="00000500000000000000" pitchFamily="2" charset="-122"/>
                <a:cs typeface="+mn-cs"/>
                <a:sym typeface="+mn-ea"/>
              </a:defRPr>
            </a:lvl1pPr>
            <a:lvl2pPr marL="648012" marR="0" lvl="1" indent="-216004" algn="l" defTabSz="864017" rtl="0" eaLnBrk="1" fontAlgn="auto" latinLnBrk="0" hangingPunct="1">
              <a:lnSpc>
                <a:spcPct val="130000"/>
              </a:lnSpc>
              <a:spcBef>
                <a:spcPts val="0"/>
              </a:spcBef>
              <a:spcAft>
                <a:spcPts val="945"/>
              </a:spcAft>
              <a:buFont typeface="Arial" panose="020B0604020202020204" pitchFamily="34" charset="0"/>
              <a:buChar char="•"/>
              <a:tabLst>
                <a:tab pos="1521029" algn="l"/>
              </a:tabLst>
              <a:defRPr kumimoji="0" lang="zh-CN" altLang="en-US" sz="1512" b="0" i="0" u="none" strike="noStrike" kern="1200" cap="none" spc="142" normalizeH="0" baseline="0" noProof="1" dirty="0">
                <a:solidFill>
                  <a:schemeClr val="tx1"/>
                </a:solidFill>
                <a:uFillTx/>
                <a:latin typeface="+mn-lt"/>
                <a:ea typeface="+mn-ea"/>
                <a:cs typeface="+mn-cs"/>
                <a:sym typeface="+mn-ea"/>
              </a:defRPr>
            </a:lvl2pPr>
            <a:lvl3pPr marL="1080021" marR="0" lvl="2" indent="-216004" algn="l" defTabSz="864017" rtl="0" eaLnBrk="1" fontAlgn="auto" latinLnBrk="0" hangingPunct="1">
              <a:lnSpc>
                <a:spcPct val="130000"/>
              </a:lnSpc>
              <a:spcBef>
                <a:spcPts val="0"/>
              </a:spcBef>
              <a:spcAft>
                <a:spcPts val="945"/>
              </a:spcAft>
              <a:buFont typeface="Arial" panose="020B0604020202020204" pitchFamily="34" charset="0"/>
              <a:buChar char="•"/>
              <a:defRPr kumimoji="0" lang="zh-CN" altLang="en-US" sz="1512" b="0" i="0" u="none" strike="noStrike" kern="1200" cap="none" spc="142" normalizeH="0" baseline="0" noProof="1" dirty="0">
                <a:solidFill>
                  <a:schemeClr val="tx1"/>
                </a:solidFill>
                <a:uFillTx/>
                <a:latin typeface="+mn-lt"/>
                <a:ea typeface="+mn-ea"/>
                <a:cs typeface="+mn-cs"/>
                <a:sym typeface="+mn-ea"/>
              </a:defRPr>
            </a:lvl3pPr>
            <a:lvl4pPr marL="1512029" marR="0" lvl="3" indent="-216004" algn="l" defTabSz="864017" rtl="0" eaLnBrk="1" fontAlgn="auto" latinLnBrk="0" hangingPunct="1">
              <a:lnSpc>
                <a:spcPct val="130000"/>
              </a:lnSpc>
              <a:spcBef>
                <a:spcPts val="0"/>
              </a:spcBef>
              <a:spcAft>
                <a:spcPts val="945"/>
              </a:spcAft>
              <a:buFont typeface="Arial" panose="020B0604020202020204" pitchFamily="34" charset="0"/>
              <a:buChar char="•"/>
              <a:defRPr kumimoji="0" lang="zh-CN" altLang="en-US" sz="1512" b="0" i="0" u="none" strike="noStrike" kern="1200" cap="none" spc="142" normalizeH="0" baseline="0" noProof="1" dirty="0">
                <a:solidFill>
                  <a:schemeClr val="tx1"/>
                </a:solidFill>
                <a:uFillTx/>
                <a:latin typeface="+mn-lt"/>
                <a:ea typeface="+mn-ea"/>
                <a:cs typeface="+mn-cs"/>
                <a:sym typeface="+mn-ea"/>
              </a:defRPr>
            </a:lvl4pPr>
            <a:lvl5pPr marL="1944037" marR="0" lvl="4" indent="-216004" algn="l" defTabSz="864017" rtl="0" eaLnBrk="1" fontAlgn="auto" latinLnBrk="0" hangingPunct="1">
              <a:lnSpc>
                <a:spcPct val="130000"/>
              </a:lnSpc>
              <a:spcBef>
                <a:spcPts val="0"/>
              </a:spcBef>
              <a:spcAft>
                <a:spcPts val="945"/>
              </a:spcAft>
              <a:buFont typeface="Arial" panose="020B0604020202020204" pitchFamily="34" charset="0"/>
              <a:buChar char="•"/>
              <a:defRPr kumimoji="0" lang="zh-CN" altLang="en-US" sz="1512" b="0" i="0" u="none" strike="noStrike" kern="1200" cap="none" spc="142"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5895297" y="1224600"/>
            <a:ext cx="4992251" cy="4762333"/>
          </a:xfrm>
        </p:spPr>
        <p:txBody>
          <a:bodyPr vert="horz" lIns="101600" tIns="0" rIns="82550" bIns="0" rtlCol="0">
            <a:normAutofit/>
          </a:bodyPr>
          <a:lstStyle>
            <a:lvl1pPr marL="216004" marR="0" lvl="0" indent="-216004" algn="l" defTabSz="864017" rtl="0" eaLnBrk="1" fontAlgn="auto" latinLnBrk="0" hangingPunct="1">
              <a:lnSpc>
                <a:spcPct val="130000"/>
              </a:lnSpc>
              <a:spcBef>
                <a:spcPts val="0"/>
              </a:spcBef>
              <a:spcAft>
                <a:spcPts val="945"/>
              </a:spcAft>
              <a:buFont typeface="Arial" panose="020B0604020202020204" pitchFamily="34" charset="0"/>
              <a:buChar char="•"/>
              <a:defRPr kumimoji="0" lang="zh-CN" altLang="en-US" sz="1512" b="0" i="0" u="none" strike="noStrike" kern="1200" cap="none" spc="142" normalizeH="0" baseline="0" noProof="1" dirty="0">
                <a:solidFill>
                  <a:schemeClr val="tx1">
                    <a:lumMod val="75000"/>
                    <a:lumOff val="25000"/>
                  </a:schemeClr>
                </a:solidFill>
                <a:uFillTx/>
                <a:latin typeface="+mn-lt"/>
                <a:ea typeface="字魂59号-创粗黑" panose="00000500000000000000" pitchFamily="2" charset="-122"/>
                <a:cs typeface="+mn-cs"/>
                <a:sym typeface="+mn-ea"/>
              </a:defRPr>
            </a:lvl1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2025/12/28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2025/12/28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33033" y="900032"/>
            <a:ext cx="10254517" cy="476233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2025/12/28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32987" y="2445686"/>
            <a:ext cx="10254517" cy="849630"/>
          </a:xfrm>
        </p:spPr>
        <p:txBody>
          <a:bodyPr vert="horz" lIns="101600" tIns="38100" rIns="25400" bIns="38100" rtlCol="0" anchor="t" anchorCtr="0">
            <a:noAutofit/>
          </a:bodyPr>
          <a:lstStyle>
            <a:lvl1pPr marL="0" marR="0" algn="ctr" defTabSz="864017" rtl="0" eaLnBrk="1" fontAlgn="auto" latinLnBrk="0" hangingPunct="1">
              <a:lnSpc>
                <a:spcPct val="100000"/>
              </a:lnSpc>
              <a:buNone/>
              <a:defRPr kumimoji="0" lang="zh-CN" altLang="en-US" sz="5102" b="0" i="0" u="none" strike="noStrike" kern="1200" cap="none" spc="567" normalizeH="0" baseline="0" noProof="1" dirty="0">
                <a:solidFill>
                  <a:schemeClr val="tx1"/>
                </a:solidFill>
                <a:effectLst>
                  <a:outerShdw blurRad="38100" dist="38100" dir="2700000" algn="tl">
                    <a:srgbClr val="000000">
                      <a:alpha val="43137"/>
                    </a:srgbClr>
                  </a:outerShdw>
                </a:effectLst>
                <a:uFillTx/>
                <a:latin typeface="+mj-lt"/>
                <a:ea typeface="字魂59号-创粗黑" panose="00000500000000000000" pitchFamily="2" charset="-122"/>
                <a:cs typeface="+mj-cs"/>
                <a:sym typeface="+mn-ea"/>
              </a:defRPr>
            </a:lvl1pPr>
          </a:lstStyle>
          <a:p>
            <a:pPr lvl="0"/>
            <a:r>
              <a:rPr dirty="0">
                <a:sym typeface="+mn-ea"/>
              </a:rPr>
              <a:t>单击此处编辑标题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1">
                    <a:tint val="75000"/>
                  </a:schemeClr>
                </a:solidFill>
              </a:defRPr>
            </a:lvl1pPr>
          </a:lstStyle>
          <a:p>
            <a:fld id="{760FBDFE-C587-4B4C-A407-44438C67B59E}" type="datetimeFigureOut">
              <a:rPr lang="zh-CN" altLang="en-US" smtClean="0"/>
              <a:pPr/>
              <a:t>2025/12/28</a:t>
            </a:fld>
            <a:endParaRPr lang="zh-CN" altLang="en-US" dirty="0"/>
          </a:p>
        </p:txBody>
      </p:sp>
      <p:sp>
        <p:nvSpPr>
          <p:cNvPr id="5" name="Footer Placeholder 4"/>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1">
                    <a:tint val="75000"/>
                  </a:schemeClr>
                </a:solidFill>
              </a:defRPr>
            </a:lvl1pPr>
          </a:lstStyle>
          <a:p>
            <a:endParaRPr lang="zh-CN" altLang="en-US" dirty="0"/>
          </a:p>
        </p:txBody>
      </p:sp>
      <p:sp>
        <p:nvSpPr>
          <p:cNvPr id="6" name="Slide Number Placeholder 5"/>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1">
                    <a:tint val="75000"/>
                  </a:schemeClr>
                </a:solidFill>
              </a:defRPr>
            </a:lvl1pPr>
          </a:lstStyle>
          <a:p>
            <a:fld id="{49AE70B2-8BF9-45C0-BB95-33D1B9D3A854}" type="slidenum">
              <a:rPr lang="zh-CN" altLang="en-US" smtClean="0"/>
              <a:pPr/>
              <a:t>‹#›</a:t>
            </a:fld>
            <a:endParaRPr lang="zh-CN" altLang="en-US" dirty="0"/>
          </a:p>
        </p:txBody>
      </p:sp>
    </p:spTree>
    <p:extLst>
      <p:ext uri="{BB962C8B-B14F-4D97-AF65-F5344CB8AC3E}">
        <p14:creationId xmlns:p14="http://schemas.microsoft.com/office/powerpoint/2010/main" val="25544779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6" r:id="rId12"/>
    <p:sldLayoutId id="2147483658" r:id="rId13"/>
    <p:sldLayoutId id="2147483659" r:id="rId14"/>
  </p:sldLayoutIdLst>
  <p:txStyles>
    <p:titleStyle>
      <a:lvl1pPr algn="l" defTabSz="864017" rtl="0" eaLnBrk="1" latinLnBrk="0" hangingPunct="1">
        <a:lnSpc>
          <a:spcPct val="90000"/>
        </a:lnSpc>
        <a:spcBef>
          <a:spcPct val="0"/>
        </a:spcBef>
        <a:buNone/>
        <a:defRPr sz="4158" kern="1200">
          <a:solidFill>
            <a:schemeClr val="tx1"/>
          </a:solidFill>
          <a:latin typeface="+mj-lt"/>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mn-lt"/>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mn-lt"/>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mn-lt"/>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3.xml"/><Relationship Id="rId5" Type="http://schemas.openxmlformats.org/officeDocument/2006/relationships/image" Target="../media/image7.emf"/><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4.xml"/><Relationship Id="rId5" Type="http://schemas.openxmlformats.org/officeDocument/2006/relationships/image" Target="../media/image8.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notesSlide" Target="../notesSlides/notesSlide10.xml"/><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slideLayout" Target="../slideLayouts/slideLayout2.xml"/><Relationship Id="rId16" Type="http://schemas.openxmlformats.org/officeDocument/2006/relationships/image" Target="../media/image20.png"/><Relationship Id="rId1" Type="http://schemas.openxmlformats.org/officeDocument/2006/relationships/tags" Target="../tags/tag25.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6.png"/><Relationship Id="rId9" Type="http://schemas.openxmlformats.org/officeDocument/2006/relationships/image" Target="../media/image13.png"/><Relationship Id="rId1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6.xml"/><Relationship Id="rId5" Type="http://schemas.openxmlformats.org/officeDocument/2006/relationships/image" Target="../media/image24.jpe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notesSlide" Target="../notesSlides/notesSlide12.xml"/><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slideLayout" Target="../slideLayouts/slideLayout2.xml"/><Relationship Id="rId16" Type="http://schemas.openxmlformats.org/officeDocument/2006/relationships/image" Target="../media/image35.png"/><Relationship Id="rId1" Type="http://schemas.openxmlformats.org/officeDocument/2006/relationships/tags" Target="../tags/tag2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6.png"/><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4.png"/><Relationship Id="rId9" Type="http://schemas.openxmlformats.org/officeDocument/2006/relationships/image" Target="../media/image28.png"/><Relationship Id="rId1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9.xml"/><Relationship Id="rId5" Type="http://schemas.openxmlformats.org/officeDocument/2006/relationships/image" Target="../media/image38.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7" name="图片 6" descr="27"/>
          <p:cNvPicPr>
            <a:picLocks noChangeAspect="1"/>
          </p:cNvPicPr>
          <p:nvPr/>
        </p:nvPicPr>
        <p:blipFill>
          <a:blip r:embed="rId5"/>
          <a:stretch>
            <a:fillRect/>
          </a:stretch>
        </p:blipFill>
        <p:spPr>
          <a:xfrm>
            <a:off x="-109114" y="4462321"/>
            <a:ext cx="9975269" cy="2015454"/>
          </a:xfrm>
          <a:prstGeom prst="rect">
            <a:avLst/>
          </a:prstGeom>
        </p:spPr>
      </p:pic>
      <p:pic>
        <p:nvPicPr>
          <p:cNvPr id="8" name="图片 7" descr="27"/>
          <p:cNvPicPr>
            <a:picLocks noChangeAspect="1"/>
          </p:cNvPicPr>
          <p:nvPr/>
        </p:nvPicPr>
        <p:blipFill>
          <a:blip r:embed="rId5"/>
          <a:stretch>
            <a:fillRect/>
          </a:stretch>
        </p:blipFill>
        <p:spPr>
          <a:xfrm rot="10800000">
            <a:off x="1841370" y="28440"/>
            <a:ext cx="9975269" cy="2015454"/>
          </a:xfrm>
          <a:prstGeom prst="rect">
            <a:avLst/>
          </a:prstGeom>
        </p:spPr>
      </p:pic>
      <p:sp>
        <p:nvSpPr>
          <p:cNvPr id="24" name="矩形 259">
            <a:extLst>
              <a:ext uri="{FF2B5EF4-FFF2-40B4-BE49-F238E27FC236}">
                <a16:creationId xmlns:a16="http://schemas.microsoft.com/office/drawing/2014/main" id="{B6B2F44D-3DEE-46D7-B6B5-84FE9310E8DA}"/>
              </a:ext>
            </a:extLst>
          </p:cNvPr>
          <p:cNvSpPr>
            <a:spLocks noChangeArrowheads="1"/>
          </p:cNvSpPr>
          <p:nvPr/>
        </p:nvSpPr>
        <p:spPr bwMode="auto">
          <a:xfrm>
            <a:off x="439396" y="2140122"/>
            <a:ext cx="107504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4800" b="1" dirty="0">
                <a:solidFill>
                  <a:srgbClr val="1EE2F4"/>
                </a:solidFill>
                <a:ea typeface="字魂59号-创粗黑" panose="00000500000000000000" pitchFamily="2" charset="-122"/>
              </a:rPr>
              <a:t>基于对比学习的网络延迟预测方法研究</a:t>
            </a:r>
          </a:p>
        </p:txBody>
      </p:sp>
      <p:sp>
        <p:nvSpPr>
          <p:cNvPr id="26" name="文本框 19">
            <a:extLst>
              <a:ext uri="{FF2B5EF4-FFF2-40B4-BE49-F238E27FC236}">
                <a16:creationId xmlns:a16="http://schemas.microsoft.com/office/drawing/2014/main" id="{9D09408F-7BBE-4686-A7F6-B82E35DAD938}"/>
              </a:ext>
            </a:extLst>
          </p:cNvPr>
          <p:cNvSpPr txBox="1"/>
          <p:nvPr/>
        </p:nvSpPr>
        <p:spPr bwMode="auto">
          <a:xfrm>
            <a:off x="1127207" y="4240199"/>
            <a:ext cx="9374837" cy="1135054"/>
          </a:xfrm>
          <a:prstGeom prst="rect">
            <a:avLst/>
          </a:prstGeom>
          <a:noFill/>
        </p:spPr>
        <p:txBody>
          <a:bodyPr wrap="square">
            <a:spAutoFit/>
          </a:bodyPr>
          <a:lstStyle/>
          <a:p>
            <a:pPr algn="ctr" eaLnBrk="1" hangingPunct="1">
              <a:lnSpc>
                <a:spcPct val="150000"/>
              </a:lnSpc>
            </a:pPr>
            <a:r>
              <a:rPr lang="zh-CN" altLang="en-US" sz="2400" dirty="0">
                <a:solidFill>
                  <a:schemeClr val="bg1"/>
                </a:solidFill>
                <a:latin typeface="微软雅黑" pitchFamily="34" charset="-122"/>
                <a:ea typeface="微软雅黑" pitchFamily="34" charset="-122"/>
              </a:rPr>
              <a:t>  汇报人：王文慧                  指导老师：冯光升</a:t>
            </a:r>
            <a:endParaRPr lang="en-US" altLang="zh-CN" sz="2400" dirty="0">
              <a:solidFill>
                <a:schemeClr val="bg1"/>
              </a:solidFill>
              <a:latin typeface="微软雅黑" pitchFamily="34" charset="-122"/>
              <a:ea typeface="微软雅黑" pitchFamily="34" charset="-122"/>
            </a:endParaRPr>
          </a:p>
          <a:p>
            <a:pPr algn="ctr" eaLnBrk="1" hangingPunct="1">
              <a:lnSpc>
                <a:spcPct val="150000"/>
              </a:lnSpc>
            </a:pPr>
            <a:r>
              <a:rPr lang="en-US" altLang="zh-CN" sz="2400" dirty="0">
                <a:solidFill>
                  <a:schemeClr val="bg1"/>
                </a:solidFill>
                <a:latin typeface="微软雅黑" pitchFamily="34" charset="-122"/>
                <a:ea typeface="微软雅黑" pitchFamily="34" charset="-122"/>
              </a:rPr>
              <a:t>2025</a:t>
            </a:r>
            <a:r>
              <a:rPr lang="zh-CN" altLang="en-US" sz="2400" dirty="0">
                <a:solidFill>
                  <a:schemeClr val="bg1"/>
                </a:solidFill>
                <a:latin typeface="微软雅黑" pitchFamily="34" charset="-122"/>
                <a:ea typeface="微软雅黑" pitchFamily="34" charset="-122"/>
              </a:rPr>
              <a:t>年</a:t>
            </a:r>
            <a:r>
              <a:rPr lang="en-US" altLang="zh-CN" sz="2400" dirty="0">
                <a:solidFill>
                  <a:schemeClr val="bg1"/>
                </a:solidFill>
                <a:latin typeface="微软雅黑" pitchFamily="34" charset="-122"/>
                <a:ea typeface="微软雅黑" pitchFamily="34" charset="-122"/>
              </a:rPr>
              <a:t>12</a:t>
            </a:r>
            <a:r>
              <a:rPr lang="zh-CN" altLang="en-US" sz="2400" dirty="0">
                <a:solidFill>
                  <a:schemeClr val="bg1"/>
                </a:solidFill>
                <a:latin typeface="微软雅黑" pitchFamily="34" charset="-122"/>
                <a:ea typeface="微软雅黑" pitchFamily="34" charset="-122"/>
              </a:rPr>
              <a:t>月</a:t>
            </a:r>
            <a:r>
              <a:rPr lang="en-US" altLang="zh-CN" sz="2400" dirty="0">
                <a:solidFill>
                  <a:schemeClr val="bg1"/>
                </a:solidFill>
                <a:latin typeface="微软雅黑" pitchFamily="34" charset="-122"/>
                <a:ea typeface="微软雅黑" pitchFamily="34" charset="-122"/>
              </a:rPr>
              <a:t>29</a:t>
            </a:r>
            <a:r>
              <a:rPr lang="zh-CN" altLang="en-US" sz="2400" dirty="0">
                <a:solidFill>
                  <a:schemeClr val="bg1"/>
                </a:solidFill>
                <a:latin typeface="微软雅黑" pitchFamily="34" charset="-122"/>
                <a:ea typeface="微软雅黑" pitchFamily="34" charset="-122"/>
              </a:rPr>
              <a:t>日 </a:t>
            </a:r>
          </a:p>
        </p:txBody>
      </p:sp>
      <p:sp>
        <p:nvSpPr>
          <p:cNvPr id="28" name="矩形 259">
            <a:extLst>
              <a:ext uri="{FF2B5EF4-FFF2-40B4-BE49-F238E27FC236}">
                <a16:creationId xmlns:a16="http://schemas.microsoft.com/office/drawing/2014/main" id="{8D09E89A-1817-4A9A-A201-D1A774FDE31D}"/>
              </a:ext>
            </a:extLst>
          </p:cNvPr>
          <p:cNvSpPr>
            <a:spLocks noChangeArrowheads="1"/>
          </p:cNvSpPr>
          <p:nvPr/>
        </p:nvSpPr>
        <p:spPr bwMode="auto">
          <a:xfrm>
            <a:off x="1841370" y="3158634"/>
            <a:ext cx="77289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eaLnBrk="1" hangingPunct="1">
              <a:buNone/>
            </a:pPr>
            <a:r>
              <a:rPr lang="zh-CN" altLang="en-US" sz="2400" dirty="0">
                <a:solidFill>
                  <a:srgbClr val="1EE2F4"/>
                </a:solidFill>
                <a:ea typeface="字魂59号-创粗黑" panose="00000500000000000000" pitchFamily="2" charset="-122"/>
              </a:rPr>
              <a:t>开题报告</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5"/>
          <p:cNvPicPr>
            <a:picLocks noChangeAspect="1"/>
          </p:cNvPicPr>
          <p:nvPr/>
        </p:nvPicPr>
        <p:blipFill>
          <a:blip r:embed="rId4"/>
          <a:stretch>
            <a:fillRect/>
          </a:stretch>
        </p:blipFill>
        <p:spPr>
          <a:xfrm>
            <a:off x="-27512" y="4561323"/>
            <a:ext cx="11576113" cy="1953653"/>
          </a:xfrm>
          <a:prstGeom prst="rect">
            <a:avLst/>
          </a:prstGeom>
        </p:spPr>
      </p:pic>
      <p:pic>
        <p:nvPicPr>
          <p:cNvPr id="5" name="图片 4" descr="15"/>
          <p:cNvPicPr>
            <a:picLocks noChangeAspect="1"/>
          </p:cNvPicPr>
          <p:nvPr/>
        </p:nvPicPr>
        <p:blipFill>
          <a:blip r:embed="rId4"/>
          <a:stretch>
            <a:fillRect/>
          </a:stretch>
        </p:blipFill>
        <p:spPr>
          <a:xfrm rot="10800000">
            <a:off x="-27512" y="1799"/>
            <a:ext cx="11576113" cy="1953653"/>
          </a:xfrm>
          <a:prstGeom prst="rect">
            <a:avLst/>
          </a:prstGeom>
        </p:spPr>
      </p:pic>
      <p:sp>
        <p:nvSpPr>
          <p:cNvPr id="6" name="文本框 5"/>
          <p:cNvSpPr txBox="1"/>
          <p:nvPr/>
        </p:nvSpPr>
        <p:spPr>
          <a:xfrm>
            <a:off x="4557824" y="1741849"/>
            <a:ext cx="2156458" cy="557717"/>
          </a:xfrm>
          <a:prstGeom prst="rect">
            <a:avLst/>
          </a:prstGeom>
          <a:noFill/>
        </p:spPr>
        <p:txBody>
          <a:bodyPr wrap="square" rtlCol="0">
            <a:spAutoFit/>
          </a:bodyPr>
          <a:lstStyle/>
          <a:p>
            <a:pPr algn="dist"/>
            <a:r>
              <a:rPr lang="zh-CN" altLang="en-US" sz="3024" b="1" dirty="0">
                <a:solidFill>
                  <a:srgbClr val="1EE2F4"/>
                </a:solidFill>
                <a:latin typeface="字魂59号-创粗黑" panose="00000500000000000000" pitchFamily="2" charset="-122"/>
                <a:ea typeface="字魂59号-创粗黑" panose="00000500000000000000" pitchFamily="2" charset="-122"/>
              </a:rPr>
              <a:t>目录</a:t>
            </a:r>
          </a:p>
        </p:txBody>
      </p:sp>
      <p:sp>
        <p:nvSpPr>
          <p:cNvPr id="3" name="Content Placeholder 2">
            <a:extLst>
              <a:ext uri="{FF2B5EF4-FFF2-40B4-BE49-F238E27FC236}">
                <a16:creationId xmlns:a16="http://schemas.microsoft.com/office/drawing/2014/main" id="{19151396-C2DA-C452-A1FC-9CD1D2250D31}"/>
              </a:ext>
            </a:extLst>
          </p:cNvPr>
          <p:cNvSpPr>
            <a:spLocks noGrp="1"/>
          </p:cNvSpPr>
          <p:nvPr>
            <p:ph idx="1"/>
          </p:nvPr>
        </p:nvSpPr>
        <p:spPr>
          <a:xfrm>
            <a:off x="4085772" y="2644765"/>
            <a:ext cx="4122057" cy="2086261"/>
          </a:xfrm>
        </p:spPr>
        <p:txBody>
          <a:bodyPr>
            <a:normAutofit fontScale="92500" lnSpcReduction="10000"/>
          </a:bodyPr>
          <a:lstStyle/>
          <a:p>
            <a:pPr marL="0" indent="0">
              <a:buNone/>
            </a:pPr>
            <a:r>
              <a:rPr lang="en-US" dirty="0">
                <a:solidFill>
                  <a:schemeClr val="bg1"/>
                </a:solidFill>
              </a:rPr>
              <a:t>0</a:t>
            </a:r>
            <a:r>
              <a:rPr dirty="0">
                <a:solidFill>
                  <a:schemeClr val="bg1"/>
                </a:solidFill>
              </a:rPr>
              <a:t>1.</a:t>
            </a:r>
            <a:r>
              <a:rPr lang="en-US" dirty="0">
                <a:solidFill>
                  <a:schemeClr val="bg1"/>
                </a:solidFill>
              </a:rPr>
              <a:t> </a:t>
            </a:r>
            <a:r>
              <a:rPr lang="zh-CN" altLang="en-US" dirty="0">
                <a:solidFill>
                  <a:schemeClr val="bg1"/>
                </a:solidFill>
              </a:rPr>
              <a:t>课题背景目的及意义</a:t>
            </a:r>
            <a:endParaRPr dirty="0">
              <a:solidFill>
                <a:schemeClr val="bg1"/>
              </a:solidFill>
            </a:endParaRPr>
          </a:p>
          <a:p>
            <a:pPr marL="0" indent="0">
              <a:buNone/>
            </a:pPr>
            <a:r>
              <a:rPr lang="en-US" dirty="0">
                <a:solidFill>
                  <a:schemeClr val="bg1"/>
                </a:solidFill>
              </a:rPr>
              <a:t>0</a:t>
            </a:r>
            <a:r>
              <a:rPr dirty="0">
                <a:solidFill>
                  <a:schemeClr val="bg1"/>
                </a:solidFill>
              </a:rPr>
              <a:t>2. </a:t>
            </a:r>
            <a:r>
              <a:rPr lang="zh-CN" altLang="en-US" dirty="0">
                <a:solidFill>
                  <a:schemeClr val="bg1"/>
                </a:solidFill>
              </a:rPr>
              <a:t>国内外研究现状</a:t>
            </a:r>
            <a:endParaRPr dirty="0">
              <a:solidFill>
                <a:schemeClr val="bg1"/>
              </a:solidFill>
            </a:endParaRPr>
          </a:p>
          <a:p>
            <a:pPr marL="0" indent="0">
              <a:buNone/>
            </a:pPr>
            <a:r>
              <a:rPr lang="en-US" dirty="0">
                <a:solidFill>
                  <a:schemeClr val="bg1"/>
                </a:solidFill>
              </a:rPr>
              <a:t>0</a:t>
            </a:r>
            <a:r>
              <a:rPr dirty="0">
                <a:solidFill>
                  <a:schemeClr val="bg1"/>
                </a:solidFill>
              </a:rPr>
              <a:t>3. </a:t>
            </a:r>
            <a:r>
              <a:rPr lang="zh-CN" altLang="en-US" dirty="0">
                <a:solidFill>
                  <a:schemeClr val="bg1"/>
                </a:solidFill>
              </a:rPr>
              <a:t>研究内容与研究方案</a:t>
            </a:r>
            <a:endParaRPr dirty="0">
              <a:solidFill>
                <a:schemeClr val="bg1"/>
              </a:solidFill>
            </a:endParaRPr>
          </a:p>
          <a:p>
            <a:pPr marL="0" indent="0">
              <a:buNone/>
            </a:pPr>
            <a:r>
              <a:rPr lang="en-US" dirty="0">
                <a:solidFill>
                  <a:schemeClr val="bg1"/>
                </a:solidFill>
              </a:rPr>
              <a:t>0</a:t>
            </a:r>
            <a:r>
              <a:rPr dirty="0">
                <a:solidFill>
                  <a:schemeClr val="bg1"/>
                </a:solidFill>
              </a:rPr>
              <a:t>4. </a:t>
            </a:r>
            <a:r>
              <a:rPr lang="zh-CN" altLang="en-US" dirty="0">
                <a:solidFill>
                  <a:schemeClr val="bg1"/>
                </a:solidFill>
              </a:rPr>
              <a:t>实验方案设计</a:t>
            </a:r>
            <a:endParaRPr lang="en-US" altLang="zh-CN" dirty="0">
              <a:solidFill>
                <a:schemeClr val="bg1"/>
              </a:solidFill>
            </a:endParaRPr>
          </a:p>
          <a:p>
            <a:pPr marL="0" indent="0">
              <a:buNone/>
            </a:pPr>
            <a:r>
              <a:rPr lang="en-US" altLang="zh-CN" dirty="0">
                <a:solidFill>
                  <a:schemeClr val="bg1"/>
                </a:solidFill>
              </a:rPr>
              <a:t>05. </a:t>
            </a:r>
            <a:r>
              <a:rPr lang="zh-CN" altLang="en-US" dirty="0">
                <a:solidFill>
                  <a:schemeClr val="bg1"/>
                </a:solidFill>
              </a:rPr>
              <a:t>预期成果</a:t>
            </a:r>
          </a:p>
          <a:p>
            <a:pPr marL="0" indent="0">
              <a:buNone/>
            </a:pPr>
            <a:endParaRPr dirty="0">
              <a:solidFill>
                <a:schemeClr val="bg1"/>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058224" y="2754676"/>
            <a:ext cx="5191007" cy="1255728"/>
          </a:xfrm>
          <a:prstGeom prst="rect">
            <a:avLst/>
          </a:prstGeom>
          <a:noFill/>
        </p:spPr>
        <p:txBody>
          <a:bodyPr wrap="square" rtlCol="0">
            <a:spAutoFit/>
          </a:bodyPr>
          <a:lstStyle/>
          <a:p>
            <a:pPr algn="l"/>
            <a:r>
              <a:rPr lang="en-US" altLang="zh-CN" sz="3402" dirty="0">
                <a:solidFill>
                  <a:schemeClr val="bg1"/>
                </a:solidFill>
                <a:latin typeface="字魂59号-创粗黑" panose="00000500000000000000" pitchFamily="2" charset="-122"/>
                <a:ea typeface="字魂59号-创粗黑" panose="00000500000000000000" pitchFamily="2" charset="-122"/>
              </a:rPr>
              <a:t>01.</a:t>
            </a:r>
            <a:endParaRPr lang="en-US" altLang="zh-CN" sz="4158" dirty="0">
              <a:solidFill>
                <a:schemeClr val="bg1"/>
              </a:solidFill>
              <a:latin typeface="字魂59号-创粗黑" panose="00000500000000000000" pitchFamily="2" charset="-122"/>
              <a:ea typeface="字魂59号-创粗黑" panose="00000500000000000000" pitchFamily="2" charset="-122"/>
            </a:endParaRPr>
          </a:p>
          <a:p>
            <a:r>
              <a:rPr lang="zh-CN" altLang="en-US" sz="4158" b="1" dirty="0">
                <a:solidFill>
                  <a:srgbClr val="1EE2F4"/>
                </a:solidFill>
                <a:latin typeface="字魂59号-创粗黑" panose="00000500000000000000" pitchFamily="2" charset="-122"/>
                <a:ea typeface="字魂59号-创粗黑" panose="00000500000000000000" pitchFamily="2" charset="-122"/>
              </a:rPr>
              <a:t>课题背景目的及意义</a:t>
            </a:r>
            <a:endParaRPr lang="en-US" altLang="zh-CN" sz="4158" b="1" dirty="0">
              <a:solidFill>
                <a:srgbClr val="1EE2F4"/>
              </a:solidFill>
              <a:latin typeface="字魂59号-创粗黑" panose="00000500000000000000" pitchFamily="2" charset="-122"/>
              <a:ea typeface="字魂59号-创粗黑" panose="00000500000000000000" pitchFamily="2" charset="-122"/>
            </a:endParaRPr>
          </a:p>
        </p:txBody>
      </p:sp>
      <p:pic>
        <p:nvPicPr>
          <p:cNvPr id="9" name="图片 8" descr="09">
            <a:extLst>
              <a:ext uri="{FF2B5EF4-FFF2-40B4-BE49-F238E27FC236}">
                <a16:creationId xmlns:a16="http://schemas.microsoft.com/office/drawing/2014/main" id="{698FF988-1A87-4515-A784-25BEA18F148E}"/>
              </a:ext>
            </a:extLst>
          </p:cNvPr>
          <p:cNvPicPr>
            <a:picLocks noChangeAspect="1"/>
          </p:cNvPicPr>
          <p:nvPr/>
        </p:nvPicPr>
        <p:blipFill>
          <a:blip r:embed="rId4"/>
          <a:stretch>
            <a:fillRect/>
          </a:stretch>
        </p:blipFill>
        <p:spPr>
          <a:xfrm flipH="1" flipV="1">
            <a:off x="19289" y="1379437"/>
            <a:ext cx="6117765" cy="5086937"/>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7712" y="-5400"/>
            <a:ext cx="9869066" cy="2197259"/>
            <a:chOff x="-13" y="-9"/>
            <a:chExt cx="16448" cy="3662"/>
          </a:xfrm>
        </p:grpSpPr>
        <p:grpSp>
          <p:nvGrpSpPr>
            <p:cNvPr id="6" name="组合 5"/>
            <p:cNvGrpSpPr/>
            <p:nvPr/>
          </p:nvGrpSpPr>
          <p:grpSpPr>
            <a:xfrm>
              <a:off x="1712" y="1132"/>
              <a:ext cx="14723" cy="1404"/>
              <a:chOff x="2444" y="1069"/>
              <a:chExt cx="14723" cy="1404"/>
            </a:xfrm>
          </p:grpSpPr>
          <p:sp>
            <p:nvSpPr>
              <p:cNvPr id="15" name="文本框 14"/>
              <p:cNvSpPr txBox="1"/>
              <p:nvPr/>
            </p:nvSpPr>
            <p:spPr>
              <a:xfrm>
                <a:off x="2444" y="1069"/>
                <a:ext cx="14713" cy="1077"/>
              </a:xfrm>
              <a:prstGeom prst="rect">
                <a:avLst/>
              </a:prstGeom>
              <a:noFill/>
            </p:spPr>
            <p:txBody>
              <a:bodyPr wrap="square" rtlCol="0">
                <a:spAutoFit/>
              </a:bodyPr>
              <a:lstStyle/>
              <a:p>
                <a:r>
                  <a:rPr lang="en-US" altLang="zh-CN" sz="3600" b="1" dirty="0">
                    <a:solidFill>
                      <a:srgbClr val="1EE2F4"/>
                    </a:solidFill>
                    <a:latin typeface="字魂59号-创粗黑" panose="00000500000000000000" pitchFamily="2" charset="-122"/>
                    <a:ea typeface="字魂59号-创粗黑" panose="00000500000000000000" pitchFamily="2" charset="-122"/>
                  </a:rPr>
                  <a:t>1.</a:t>
                </a:r>
                <a:r>
                  <a:rPr lang="zh-CN" altLang="en-US" sz="3600" b="1" dirty="0">
                    <a:solidFill>
                      <a:srgbClr val="1EE2F4"/>
                    </a:solidFill>
                    <a:latin typeface="字魂59号-创粗黑" panose="00000500000000000000" pitchFamily="2" charset="-122"/>
                    <a:ea typeface="字魂59号-创粗黑" panose="00000500000000000000" pitchFamily="2" charset="-122"/>
                  </a:rPr>
                  <a:t>课题背景目的及意义</a:t>
                </a:r>
              </a:p>
            </p:txBody>
          </p:sp>
          <p:sp>
            <p:nvSpPr>
              <p:cNvPr id="10" name="文本框 9"/>
              <p:cNvSpPr txBox="1"/>
              <p:nvPr/>
            </p:nvSpPr>
            <p:spPr>
              <a:xfrm>
                <a:off x="2454" y="1980"/>
                <a:ext cx="14713" cy="493"/>
              </a:xfrm>
              <a:prstGeom prst="rect">
                <a:avLst/>
              </a:prstGeom>
              <a:noFill/>
            </p:spPr>
            <p:txBody>
              <a:bodyPr wrap="square" rtlCol="0">
                <a:spAutoFit/>
              </a:bodyPr>
              <a:lstStyle/>
              <a:p>
                <a:pPr algn="l"/>
                <a:r>
                  <a:rPr lang="zh-CN" altLang="en-US" sz="1323" dirty="0">
                    <a:solidFill>
                      <a:srgbClr val="1EE2F4"/>
                    </a:solidFill>
                    <a:latin typeface="字魂59号-创粗黑" panose="00000500000000000000" pitchFamily="2" charset="-122"/>
                    <a:ea typeface="字魂59号-创粗黑" panose="00000500000000000000" pitchFamily="2" charset="-122"/>
                  </a:rPr>
                  <a:t>网络架构的“黑盒化”演进与细粒度感知需求</a:t>
                </a:r>
              </a:p>
            </p:txBody>
          </p:sp>
        </p:grpSp>
        <p:pic>
          <p:nvPicPr>
            <p:cNvPr id="5" name="图片 4" descr="10"/>
            <p:cNvPicPr>
              <a:picLocks noChangeAspect="1"/>
            </p:cNvPicPr>
            <p:nvPr/>
          </p:nvPicPr>
          <p:blipFill>
            <a:blip r:embed="rId4"/>
            <a:stretch>
              <a:fillRect/>
            </a:stretch>
          </p:blipFill>
          <p:spPr>
            <a:xfrm rot="16200000" flipV="1">
              <a:off x="-856" y="834"/>
              <a:ext cx="3662" cy="1975"/>
            </a:xfrm>
            <a:prstGeom prst="rect">
              <a:avLst/>
            </a:prstGeom>
          </p:spPr>
        </p:pic>
      </p:grpSp>
      <p:pic>
        <p:nvPicPr>
          <p:cNvPr id="8" name="图片 7" descr="10"/>
          <p:cNvPicPr>
            <a:picLocks noChangeAspect="1"/>
          </p:cNvPicPr>
          <p:nvPr/>
        </p:nvPicPr>
        <p:blipFill>
          <a:blip r:embed="rId4"/>
          <a:stretch>
            <a:fillRect/>
          </a:stretch>
        </p:blipFill>
        <p:spPr>
          <a:xfrm flipH="1">
            <a:off x="0" y="2515268"/>
            <a:ext cx="7352599" cy="3964907"/>
          </a:xfrm>
          <a:prstGeom prst="rect">
            <a:avLst/>
          </a:prstGeom>
        </p:spPr>
      </p:pic>
      <p:sp>
        <p:nvSpPr>
          <p:cNvPr id="2" name="文本框 1">
            <a:extLst>
              <a:ext uri="{FF2B5EF4-FFF2-40B4-BE49-F238E27FC236}">
                <a16:creationId xmlns:a16="http://schemas.microsoft.com/office/drawing/2014/main" id="{678397B0-1206-2C3F-8EDB-31D5F2EF6316}"/>
              </a:ext>
            </a:extLst>
          </p:cNvPr>
          <p:cNvSpPr txBox="1"/>
          <p:nvPr/>
        </p:nvSpPr>
        <p:spPr>
          <a:xfrm>
            <a:off x="1027316" y="1583816"/>
            <a:ext cx="9604225" cy="2308324"/>
          </a:xfrm>
          <a:prstGeom prst="rect">
            <a:avLst/>
          </a:prstGeom>
          <a:noFill/>
        </p:spPr>
        <p:txBody>
          <a:bodyPr wrap="square" rtlCol="0">
            <a:spAutoFit/>
          </a:bodyPr>
          <a:lstStyle/>
          <a:p>
            <a:r>
              <a:rPr lang="en-US" altLang="zh-CN" dirty="0">
                <a:solidFill>
                  <a:schemeClr val="bg1"/>
                </a:solidFill>
              </a:rPr>
              <a:t>	</a:t>
            </a:r>
            <a:r>
              <a:rPr lang="zh-CN" altLang="en-US" dirty="0">
                <a:solidFill>
                  <a:schemeClr val="bg1"/>
                </a:solidFill>
              </a:rPr>
              <a:t>随着互联网规模的指数级扩张与业务形态的实时化演进，跨区域链路的传输质量已成为决定云服务、视频会议及在线游戏等关键业务稳定性的核心要素。然而，现代互联网正经历着深刻的结构性变革，给网络测量带来了前所未有的挑战。一方面，</a:t>
            </a:r>
            <a:r>
              <a:rPr lang="en-US" altLang="zh-CN" dirty="0">
                <a:solidFill>
                  <a:schemeClr val="bg1"/>
                </a:solidFill>
              </a:rPr>
              <a:t>HTTPS</a:t>
            </a:r>
            <a:r>
              <a:rPr lang="zh-CN" altLang="en-US" dirty="0">
                <a:solidFill>
                  <a:schemeClr val="bg1"/>
                </a:solidFill>
              </a:rPr>
              <a:t>、</a:t>
            </a:r>
            <a:r>
              <a:rPr lang="en-US" altLang="zh-CN" dirty="0">
                <a:solidFill>
                  <a:schemeClr val="bg1"/>
                </a:solidFill>
              </a:rPr>
              <a:t>QUIC</a:t>
            </a:r>
            <a:r>
              <a:rPr lang="zh-CN" altLang="en-US" dirty="0">
                <a:solidFill>
                  <a:schemeClr val="bg1"/>
                </a:solidFill>
              </a:rPr>
              <a:t>及</a:t>
            </a:r>
            <a:r>
              <a:rPr lang="en-US" altLang="zh-CN" dirty="0">
                <a:solidFill>
                  <a:schemeClr val="bg1"/>
                </a:solidFill>
              </a:rPr>
              <a:t>DoH</a:t>
            </a:r>
            <a:r>
              <a:rPr lang="zh-CN" altLang="en-US" dirty="0">
                <a:solidFill>
                  <a:schemeClr val="bg1"/>
                </a:solidFill>
              </a:rPr>
              <a:t>等加密协议的广泛部署，使得传统基于载荷内容分析的被动测量手段逐渐失效，网络内部的拥塞状态与路径特征越来越难以从流量表象中直接推断。另一方面，随着</a:t>
            </a:r>
            <a:r>
              <a:rPr lang="en-US" altLang="zh-CN" dirty="0">
                <a:solidFill>
                  <a:schemeClr val="bg1"/>
                </a:solidFill>
              </a:rPr>
              <a:t>SDN</a:t>
            </a:r>
            <a:r>
              <a:rPr lang="zh-CN" altLang="en-US" dirty="0">
                <a:solidFill>
                  <a:schemeClr val="bg1"/>
                </a:solidFill>
              </a:rPr>
              <a:t>路由策略、</a:t>
            </a:r>
            <a:r>
              <a:rPr lang="en-US" altLang="zh-CN" dirty="0">
                <a:solidFill>
                  <a:schemeClr val="bg1"/>
                </a:solidFill>
              </a:rPr>
              <a:t>CDN</a:t>
            </a:r>
            <a:r>
              <a:rPr lang="zh-CN" altLang="en-US" dirty="0">
                <a:solidFill>
                  <a:schemeClr val="bg1"/>
                </a:solidFill>
              </a:rPr>
              <a:t>边缘调度及</a:t>
            </a:r>
            <a:r>
              <a:rPr lang="en-US" altLang="zh-CN" dirty="0">
                <a:solidFill>
                  <a:schemeClr val="bg1"/>
                </a:solidFill>
              </a:rPr>
              <a:t>Anycast</a:t>
            </a:r>
            <a:r>
              <a:rPr lang="zh-CN" altLang="en-US" dirty="0">
                <a:solidFill>
                  <a:schemeClr val="bg1"/>
                </a:solidFill>
              </a:rPr>
              <a:t>负载均衡技术的普及，网络路径呈现出高度的动态化特征，不同时间段甚至同一业务流内部均可能出现隐性的路由漂移与路径突发跳变。这种由网络架构演进带来的不确定性，导致延迟波动、轻度拥塞及右尾分布扩张等现象频发，极大地增加了网络性能预测的难度。</a:t>
            </a:r>
          </a:p>
        </p:txBody>
      </p:sp>
      <p:sp>
        <p:nvSpPr>
          <p:cNvPr id="9" name="文本框 8">
            <a:extLst>
              <a:ext uri="{FF2B5EF4-FFF2-40B4-BE49-F238E27FC236}">
                <a16:creationId xmlns:a16="http://schemas.microsoft.com/office/drawing/2014/main" id="{044E206A-8362-9469-A642-5DAB5D67A98A}"/>
              </a:ext>
            </a:extLst>
          </p:cNvPr>
          <p:cNvSpPr txBox="1"/>
          <p:nvPr/>
        </p:nvSpPr>
        <p:spPr>
          <a:xfrm>
            <a:off x="1062317" y="3892140"/>
            <a:ext cx="9637811" cy="2031325"/>
          </a:xfrm>
          <a:prstGeom prst="rect">
            <a:avLst/>
          </a:prstGeom>
          <a:noFill/>
        </p:spPr>
        <p:txBody>
          <a:bodyPr wrap="square" rtlCol="0">
            <a:spAutoFit/>
          </a:bodyPr>
          <a:lstStyle/>
          <a:p>
            <a:r>
              <a:rPr lang="en-US" altLang="zh-CN" sz="1600" dirty="0">
                <a:solidFill>
                  <a:schemeClr val="bg1"/>
                </a:solidFill>
              </a:rPr>
              <a:t>	</a:t>
            </a:r>
            <a:r>
              <a:rPr lang="zh-CN" altLang="en-US" dirty="0">
                <a:solidFill>
                  <a:schemeClr val="bg1"/>
                </a:solidFill>
              </a:rPr>
              <a:t>基于此背景，本课题提出构建一套“数据自适应表征</a:t>
            </a:r>
            <a:r>
              <a:rPr lang="en-US" altLang="zh-CN" dirty="0">
                <a:solidFill>
                  <a:schemeClr val="bg1"/>
                </a:solidFill>
              </a:rPr>
              <a:t>—</a:t>
            </a:r>
            <a:r>
              <a:rPr lang="zh-CN" altLang="en-US" dirty="0">
                <a:solidFill>
                  <a:schemeClr val="bg1"/>
                </a:solidFill>
              </a:rPr>
              <a:t>状态细粒度预测”的深度学习测量体系，具有重要的理论价值和现实意义。在特征提取层面，针对标签稀缺与特征解耦难题，本研究引入时空多视图对比学习范式，利用自监督学习算法在无标签数据中自动提取鲁棒的状态表征，解决传统方法在数据私有、特征不可复现等方面的限制。在预测建模层面，针对均值模型丢失细节的痛点，本研究构建基于微结构分布感知的</a:t>
            </a:r>
            <a:r>
              <a:rPr lang="en-US" altLang="zh-CN" dirty="0">
                <a:solidFill>
                  <a:schemeClr val="bg1"/>
                </a:solidFill>
              </a:rPr>
              <a:t>PMF-Net</a:t>
            </a:r>
            <a:r>
              <a:rPr lang="zh-CN" altLang="en-US" dirty="0">
                <a:solidFill>
                  <a:schemeClr val="bg1"/>
                </a:solidFill>
              </a:rPr>
              <a:t>预测模型，通过引入更细粒度的概率质量函数映射，结合适合长时序建模的</a:t>
            </a:r>
            <a:r>
              <a:rPr lang="en-US" altLang="zh-CN" dirty="0">
                <a:solidFill>
                  <a:schemeClr val="bg1"/>
                </a:solidFill>
              </a:rPr>
              <a:t>TCN</a:t>
            </a:r>
            <a:r>
              <a:rPr lang="zh-CN" altLang="en-US" dirty="0">
                <a:solidFill>
                  <a:schemeClr val="bg1"/>
                </a:solidFill>
              </a:rPr>
              <a:t>架构，实现对拥塞趋势、路径变化及链路状态演化规律的联合预测。</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B0CB-3EA1-B07E-1A02-FE8F85183DC4}"/>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980CC23B-8620-F87E-D9D4-522481925E19}"/>
              </a:ext>
            </a:extLst>
          </p:cNvPr>
          <p:cNvSpPr txBox="1"/>
          <p:nvPr/>
        </p:nvSpPr>
        <p:spPr>
          <a:xfrm>
            <a:off x="5058224" y="2754676"/>
            <a:ext cx="5437498" cy="1255728"/>
          </a:xfrm>
          <a:prstGeom prst="rect">
            <a:avLst/>
          </a:prstGeom>
          <a:noFill/>
        </p:spPr>
        <p:txBody>
          <a:bodyPr wrap="square" rtlCol="0">
            <a:spAutoFit/>
          </a:bodyPr>
          <a:lstStyle/>
          <a:p>
            <a:pPr algn="l"/>
            <a:r>
              <a:rPr lang="en-US" altLang="zh-CN" sz="3402" dirty="0">
                <a:solidFill>
                  <a:schemeClr val="bg1"/>
                </a:solidFill>
                <a:latin typeface="字魂59号-创粗黑" panose="00000500000000000000" pitchFamily="2" charset="-122"/>
                <a:ea typeface="字魂59号-创粗黑" panose="00000500000000000000" pitchFamily="2" charset="-122"/>
              </a:rPr>
              <a:t>02.</a:t>
            </a:r>
            <a:endParaRPr lang="en-US" altLang="zh-CN" sz="4158" dirty="0">
              <a:solidFill>
                <a:schemeClr val="bg1"/>
              </a:solidFill>
              <a:latin typeface="字魂59号-创粗黑" panose="00000500000000000000" pitchFamily="2" charset="-122"/>
              <a:ea typeface="字魂59号-创粗黑" panose="00000500000000000000" pitchFamily="2" charset="-122"/>
            </a:endParaRPr>
          </a:p>
          <a:p>
            <a:r>
              <a:rPr lang="zh-CN" altLang="en-US" sz="4158" b="1" dirty="0">
                <a:solidFill>
                  <a:srgbClr val="1EE2F4"/>
                </a:solidFill>
                <a:latin typeface="字魂59号-创粗黑" panose="00000500000000000000" pitchFamily="2" charset="-122"/>
                <a:ea typeface="字魂59号-创粗黑" panose="00000500000000000000" pitchFamily="2" charset="-122"/>
              </a:rPr>
              <a:t>国内外研究现状</a:t>
            </a:r>
            <a:endParaRPr lang="en-US" altLang="zh-CN" sz="4158" b="1" dirty="0">
              <a:solidFill>
                <a:srgbClr val="1EE2F4"/>
              </a:solidFill>
              <a:latin typeface="字魂59号-创粗黑" panose="00000500000000000000" pitchFamily="2" charset="-122"/>
              <a:ea typeface="字魂59号-创粗黑" panose="00000500000000000000" pitchFamily="2" charset="-122"/>
            </a:endParaRPr>
          </a:p>
        </p:txBody>
      </p:sp>
      <p:pic>
        <p:nvPicPr>
          <p:cNvPr id="9" name="图片 8" descr="09">
            <a:extLst>
              <a:ext uri="{FF2B5EF4-FFF2-40B4-BE49-F238E27FC236}">
                <a16:creationId xmlns:a16="http://schemas.microsoft.com/office/drawing/2014/main" id="{A2598002-03EB-AAE6-8FE0-71F43517219E}"/>
              </a:ext>
            </a:extLst>
          </p:cNvPr>
          <p:cNvPicPr>
            <a:picLocks noChangeAspect="1"/>
          </p:cNvPicPr>
          <p:nvPr/>
        </p:nvPicPr>
        <p:blipFill>
          <a:blip r:embed="rId4"/>
          <a:stretch>
            <a:fillRect/>
          </a:stretch>
        </p:blipFill>
        <p:spPr>
          <a:xfrm flipH="1" flipV="1">
            <a:off x="19289" y="1379437"/>
            <a:ext cx="6117765" cy="5086937"/>
          </a:xfrm>
          <a:prstGeom prst="rect">
            <a:avLst/>
          </a:prstGeom>
        </p:spPr>
      </p:pic>
    </p:spTree>
    <p:custDataLst>
      <p:tags r:id="rId1"/>
    </p:custDataLst>
    <p:extLst>
      <p:ext uri="{BB962C8B-B14F-4D97-AF65-F5344CB8AC3E}">
        <p14:creationId xmlns:p14="http://schemas.microsoft.com/office/powerpoint/2010/main" val="3445026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EA54B-A44F-DB94-F4DA-A2FE9C10AC2F}"/>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9CB07D9C-F4A2-53D3-42B4-872135C898BE}"/>
              </a:ext>
            </a:extLst>
          </p:cNvPr>
          <p:cNvGrpSpPr/>
          <p:nvPr/>
        </p:nvGrpSpPr>
        <p:grpSpPr>
          <a:xfrm>
            <a:off x="-7712" y="-5400"/>
            <a:ext cx="9863066" cy="2197259"/>
            <a:chOff x="-13" y="-9"/>
            <a:chExt cx="16438" cy="3662"/>
          </a:xfrm>
        </p:grpSpPr>
        <p:grpSp>
          <p:nvGrpSpPr>
            <p:cNvPr id="6" name="组合 5">
              <a:extLst>
                <a:ext uri="{FF2B5EF4-FFF2-40B4-BE49-F238E27FC236}">
                  <a16:creationId xmlns:a16="http://schemas.microsoft.com/office/drawing/2014/main" id="{E2687876-CBD6-3981-EB87-F9E0F10BC00B}"/>
                </a:ext>
              </a:extLst>
            </p:cNvPr>
            <p:cNvGrpSpPr/>
            <p:nvPr/>
          </p:nvGrpSpPr>
          <p:grpSpPr>
            <a:xfrm>
              <a:off x="1712" y="1132"/>
              <a:ext cx="14713" cy="1391"/>
              <a:chOff x="2444" y="1069"/>
              <a:chExt cx="14713" cy="1391"/>
            </a:xfrm>
          </p:grpSpPr>
          <p:sp>
            <p:nvSpPr>
              <p:cNvPr id="15" name="文本框 14">
                <a:extLst>
                  <a:ext uri="{FF2B5EF4-FFF2-40B4-BE49-F238E27FC236}">
                    <a16:creationId xmlns:a16="http://schemas.microsoft.com/office/drawing/2014/main" id="{33A31CF2-ABD8-1EA2-51C3-F5E9CF1793CC}"/>
                  </a:ext>
                </a:extLst>
              </p:cNvPr>
              <p:cNvSpPr txBox="1"/>
              <p:nvPr/>
            </p:nvSpPr>
            <p:spPr>
              <a:xfrm>
                <a:off x="2444" y="1069"/>
                <a:ext cx="14713" cy="1077"/>
              </a:xfrm>
              <a:prstGeom prst="rect">
                <a:avLst/>
              </a:prstGeom>
              <a:noFill/>
            </p:spPr>
            <p:txBody>
              <a:bodyPr wrap="square" rtlCol="0">
                <a:spAutoFit/>
              </a:bodyPr>
              <a:lstStyle/>
              <a:p>
                <a:r>
                  <a:rPr lang="en-US" altLang="zh-CN" sz="3600" b="1" dirty="0">
                    <a:solidFill>
                      <a:srgbClr val="1EE2F4"/>
                    </a:solidFill>
                    <a:latin typeface="字魂59号-创粗黑" panose="00000500000000000000" pitchFamily="2" charset="-122"/>
                    <a:ea typeface="字魂59号-创粗黑" panose="00000500000000000000" pitchFamily="2" charset="-122"/>
                  </a:rPr>
                  <a:t>2.</a:t>
                </a:r>
                <a:r>
                  <a:rPr lang="zh-CN" altLang="en-US" sz="3600" b="1" dirty="0">
                    <a:solidFill>
                      <a:srgbClr val="1EE2F4"/>
                    </a:solidFill>
                    <a:latin typeface="字魂59号-创粗黑" panose="00000500000000000000" pitchFamily="2" charset="-122"/>
                    <a:ea typeface="字魂59号-创粗黑" panose="00000500000000000000" pitchFamily="2" charset="-122"/>
                  </a:rPr>
                  <a:t>国内外研究现状</a:t>
                </a:r>
                <a:endParaRPr lang="en-US" altLang="zh-CN" sz="3600" b="1" dirty="0">
                  <a:solidFill>
                    <a:srgbClr val="1EE2F4"/>
                  </a:solidFill>
                  <a:latin typeface="字魂59号-创粗黑" panose="00000500000000000000" pitchFamily="2" charset="-122"/>
                  <a:ea typeface="字魂59号-创粗黑" panose="00000500000000000000" pitchFamily="2" charset="-122"/>
                </a:endParaRPr>
              </a:p>
            </p:txBody>
          </p:sp>
          <p:sp>
            <p:nvSpPr>
              <p:cNvPr id="10" name="文本框 9">
                <a:extLst>
                  <a:ext uri="{FF2B5EF4-FFF2-40B4-BE49-F238E27FC236}">
                    <a16:creationId xmlns:a16="http://schemas.microsoft.com/office/drawing/2014/main" id="{8DFFF9C3-007C-1EF1-87C9-60BBF772DA98}"/>
                  </a:ext>
                </a:extLst>
              </p:cNvPr>
              <p:cNvSpPr txBox="1"/>
              <p:nvPr/>
            </p:nvSpPr>
            <p:spPr>
              <a:xfrm>
                <a:off x="2444" y="1967"/>
                <a:ext cx="14713" cy="493"/>
              </a:xfrm>
              <a:prstGeom prst="rect">
                <a:avLst/>
              </a:prstGeom>
              <a:noFill/>
            </p:spPr>
            <p:txBody>
              <a:bodyPr wrap="square" rtlCol="0">
                <a:spAutoFit/>
              </a:bodyPr>
              <a:lstStyle/>
              <a:p>
                <a:pPr algn="l"/>
                <a:r>
                  <a:rPr lang="zh-CN" altLang="en-US" sz="1323" dirty="0">
                    <a:solidFill>
                      <a:srgbClr val="1EE2F4"/>
                    </a:solidFill>
                    <a:latin typeface="字魂59号-创粗黑" panose="00000500000000000000" pitchFamily="2" charset="-122"/>
                    <a:ea typeface="字魂59号-创粗黑" panose="00000500000000000000" pitchFamily="2" charset="-122"/>
                  </a:rPr>
                  <a:t>基于时空多视图对比学习与细粒度分布预测 </a:t>
                </a:r>
                <a:r>
                  <a:rPr lang="en-US" altLang="zh-CN" sz="1323" dirty="0">
                    <a:solidFill>
                      <a:srgbClr val="1EE2F4"/>
                    </a:solidFill>
                    <a:latin typeface="字魂59号-创粗黑" panose="00000500000000000000" pitchFamily="2" charset="-122"/>
                    <a:ea typeface="字魂59号-创粗黑" panose="00000500000000000000" pitchFamily="2" charset="-122"/>
                  </a:rPr>
                  <a:t>(PMF-Net) </a:t>
                </a:r>
                <a:r>
                  <a:rPr lang="zh-CN" altLang="en-US" sz="1323" dirty="0">
                    <a:solidFill>
                      <a:srgbClr val="1EE2F4"/>
                    </a:solidFill>
                    <a:latin typeface="字魂59号-创粗黑" panose="00000500000000000000" pitchFamily="2" charset="-122"/>
                    <a:ea typeface="字魂59号-创粗黑" panose="00000500000000000000" pitchFamily="2" charset="-122"/>
                  </a:rPr>
                  <a:t>的深度测量体系</a:t>
                </a:r>
              </a:p>
            </p:txBody>
          </p:sp>
        </p:grpSp>
        <p:pic>
          <p:nvPicPr>
            <p:cNvPr id="5" name="图片 4" descr="10">
              <a:extLst>
                <a:ext uri="{FF2B5EF4-FFF2-40B4-BE49-F238E27FC236}">
                  <a16:creationId xmlns:a16="http://schemas.microsoft.com/office/drawing/2014/main" id="{ECA251E1-577D-FA49-1C0B-6A53C61151FB}"/>
                </a:ext>
              </a:extLst>
            </p:cNvPr>
            <p:cNvPicPr>
              <a:picLocks noChangeAspect="1"/>
            </p:cNvPicPr>
            <p:nvPr/>
          </p:nvPicPr>
          <p:blipFill>
            <a:blip r:embed="rId4"/>
            <a:stretch>
              <a:fillRect/>
            </a:stretch>
          </p:blipFill>
          <p:spPr>
            <a:xfrm rot="16200000" flipV="1">
              <a:off x="-856" y="834"/>
              <a:ext cx="3662" cy="1975"/>
            </a:xfrm>
            <a:prstGeom prst="rect">
              <a:avLst/>
            </a:prstGeom>
          </p:spPr>
        </p:pic>
      </p:grpSp>
      <p:pic>
        <p:nvPicPr>
          <p:cNvPr id="8" name="图片 7" descr="10">
            <a:extLst>
              <a:ext uri="{FF2B5EF4-FFF2-40B4-BE49-F238E27FC236}">
                <a16:creationId xmlns:a16="http://schemas.microsoft.com/office/drawing/2014/main" id="{F869D24D-1F4C-DF9C-E2B1-D3D5D6E3B9F3}"/>
              </a:ext>
            </a:extLst>
          </p:cNvPr>
          <p:cNvPicPr>
            <a:picLocks noChangeAspect="1"/>
          </p:cNvPicPr>
          <p:nvPr/>
        </p:nvPicPr>
        <p:blipFill>
          <a:blip r:embed="rId4"/>
          <a:stretch>
            <a:fillRect/>
          </a:stretch>
        </p:blipFill>
        <p:spPr>
          <a:xfrm flipH="1">
            <a:off x="-7112" y="2548268"/>
            <a:ext cx="7352599" cy="3964907"/>
          </a:xfrm>
          <a:prstGeom prst="rect">
            <a:avLst/>
          </a:prstGeom>
        </p:spPr>
      </p:pic>
      <p:sp>
        <p:nvSpPr>
          <p:cNvPr id="26" name="矩形: 圆角 25">
            <a:extLst>
              <a:ext uri="{FF2B5EF4-FFF2-40B4-BE49-F238E27FC236}">
                <a16:creationId xmlns:a16="http://schemas.microsoft.com/office/drawing/2014/main" id="{0D50C1A2-16D7-6656-38DD-C7757F7F36C0}"/>
              </a:ext>
            </a:extLst>
          </p:cNvPr>
          <p:cNvSpPr/>
          <p:nvPr/>
        </p:nvSpPr>
        <p:spPr>
          <a:xfrm>
            <a:off x="1251104" y="1964960"/>
            <a:ext cx="4436568" cy="583308"/>
          </a:xfrm>
          <a:prstGeom prst="roundRect">
            <a:avLst/>
          </a:prstGeom>
          <a:solidFill>
            <a:srgbClr val="2476B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t>输入端的困境</a:t>
            </a:r>
            <a:r>
              <a:rPr lang="en-US" altLang="zh-CN" dirty="0"/>
              <a:t>——</a:t>
            </a:r>
            <a:r>
              <a:rPr lang="zh-CN" altLang="en-US" dirty="0"/>
              <a:t>依赖人工统计特征</a:t>
            </a:r>
          </a:p>
        </p:txBody>
      </p:sp>
      <p:sp>
        <p:nvSpPr>
          <p:cNvPr id="27" name="矩形: 圆角 26">
            <a:extLst>
              <a:ext uri="{FF2B5EF4-FFF2-40B4-BE49-F238E27FC236}">
                <a16:creationId xmlns:a16="http://schemas.microsoft.com/office/drawing/2014/main" id="{7E8204E4-4A01-9DF8-E658-71AA3985C3E1}"/>
              </a:ext>
            </a:extLst>
          </p:cNvPr>
          <p:cNvSpPr/>
          <p:nvPr/>
        </p:nvSpPr>
        <p:spPr>
          <a:xfrm>
            <a:off x="6016273" y="1964960"/>
            <a:ext cx="4560873" cy="583308"/>
          </a:xfrm>
          <a:prstGeom prst="roundRect">
            <a:avLst/>
          </a:prstGeom>
          <a:solidFill>
            <a:srgbClr val="2476B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t>输出端的困境</a:t>
            </a:r>
            <a:r>
              <a:rPr lang="en-US" altLang="zh-CN" dirty="0"/>
              <a:t>——</a:t>
            </a:r>
            <a:r>
              <a:rPr lang="zh-CN" altLang="en-US" dirty="0"/>
              <a:t>直接套用通用时序模型</a:t>
            </a:r>
          </a:p>
        </p:txBody>
      </p:sp>
      <p:sp>
        <p:nvSpPr>
          <p:cNvPr id="36" name="文本框 35">
            <a:extLst>
              <a:ext uri="{FF2B5EF4-FFF2-40B4-BE49-F238E27FC236}">
                <a16:creationId xmlns:a16="http://schemas.microsoft.com/office/drawing/2014/main" id="{DF038D45-5CC7-4BD7-71D1-5962210CB305}"/>
              </a:ext>
            </a:extLst>
          </p:cNvPr>
          <p:cNvSpPr txBox="1"/>
          <p:nvPr/>
        </p:nvSpPr>
        <p:spPr>
          <a:xfrm>
            <a:off x="6016273" y="2739377"/>
            <a:ext cx="4584484" cy="1631216"/>
          </a:xfrm>
          <a:prstGeom prst="rect">
            <a:avLst/>
          </a:prstGeom>
          <a:noFill/>
        </p:spPr>
        <p:txBody>
          <a:bodyPr wrap="square" rtlCol="0">
            <a:spAutoFit/>
          </a:bodyPr>
          <a:lstStyle/>
          <a:p>
            <a:r>
              <a:rPr lang="zh-CN" altLang="en-US" sz="1600" b="1" dirty="0">
                <a:solidFill>
                  <a:schemeClr val="bg1"/>
                </a:solidFill>
              </a:rPr>
              <a:t>现状：均值回归范式 </a:t>
            </a:r>
            <a:endParaRPr lang="en-US" altLang="zh-CN" sz="1600" b="1" dirty="0">
              <a:solidFill>
                <a:schemeClr val="bg1"/>
              </a:solidFill>
            </a:endParaRPr>
          </a:p>
          <a:p>
            <a:r>
              <a:rPr lang="en-US" altLang="zh-CN" sz="1400" dirty="0">
                <a:solidFill>
                  <a:schemeClr val="bg1"/>
                </a:solidFill>
              </a:rPr>
              <a:t>“</a:t>
            </a:r>
            <a:r>
              <a:rPr lang="zh-CN" altLang="en-US" sz="1400" dirty="0">
                <a:solidFill>
                  <a:schemeClr val="bg1"/>
                </a:solidFill>
              </a:rPr>
              <a:t>以 </a:t>
            </a:r>
            <a:r>
              <a:rPr lang="en-US" altLang="zh-CN" sz="1400" dirty="0">
                <a:solidFill>
                  <a:schemeClr val="bg1"/>
                </a:solidFill>
              </a:rPr>
              <a:t>LSTM</a:t>
            </a:r>
            <a:r>
              <a:rPr lang="zh-CN" altLang="en-US" sz="1400" dirty="0">
                <a:solidFill>
                  <a:schemeClr val="bg1"/>
                </a:solidFill>
              </a:rPr>
              <a:t>、</a:t>
            </a:r>
            <a:r>
              <a:rPr lang="en-US" altLang="zh-CN" sz="1400" dirty="0">
                <a:solidFill>
                  <a:schemeClr val="bg1"/>
                </a:solidFill>
              </a:rPr>
              <a:t>DeepAR </a:t>
            </a:r>
            <a:r>
              <a:rPr lang="zh-CN" altLang="en-US" sz="1400" dirty="0">
                <a:solidFill>
                  <a:schemeClr val="bg1"/>
                </a:solidFill>
              </a:rPr>
              <a:t>为代表的主流模型，普遍采用 </a:t>
            </a:r>
            <a:r>
              <a:rPr lang="en-US" altLang="zh-CN" sz="1400" dirty="0">
                <a:solidFill>
                  <a:schemeClr val="bg1"/>
                </a:solidFill>
              </a:rPr>
              <a:t>MSE </a:t>
            </a:r>
            <a:r>
              <a:rPr lang="zh-CN" altLang="en-US" sz="1400" dirty="0">
                <a:solidFill>
                  <a:schemeClr val="bg1"/>
                </a:solidFill>
              </a:rPr>
              <a:t>作为损失函数。如果说输入端的统计特征是对数据的‘显性压缩’，那么 </a:t>
            </a:r>
            <a:r>
              <a:rPr lang="en-US" altLang="zh-CN" sz="1400" dirty="0">
                <a:solidFill>
                  <a:schemeClr val="bg1"/>
                </a:solidFill>
              </a:rPr>
              <a:t>MSE </a:t>
            </a:r>
            <a:r>
              <a:rPr lang="zh-CN" altLang="en-US" sz="1400" dirty="0">
                <a:solidFill>
                  <a:schemeClr val="bg1"/>
                </a:solidFill>
              </a:rPr>
              <a:t>机制则是模型训练过程中的‘隐性平滑’。</a:t>
            </a:r>
            <a:endParaRPr lang="en-US" altLang="zh-CN" sz="1400" dirty="0">
              <a:solidFill>
                <a:schemeClr val="bg1"/>
              </a:solidFill>
            </a:endParaRPr>
          </a:p>
          <a:p>
            <a:r>
              <a:rPr lang="en-US" altLang="zh-CN" sz="1400" dirty="0">
                <a:solidFill>
                  <a:schemeClr val="bg1"/>
                </a:solidFill>
              </a:rPr>
              <a:t>MSE </a:t>
            </a:r>
            <a:r>
              <a:rPr lang="zh-CN" altLang="en-US" sz="1400" dirty="0">
                <a:solidFill>
                  <a:schemeClr val="bg1"/>
                </a:solidFill>
              </a:rPr>
              <a:t>的数学特性迫使模型拟合数据的条件期望（均值）以最小化整体惩罚，这导致模型在面对高频抖动时，会自动忽略‘尖峰’而选择输出‘安全’的平均趋势。”</a:t>
            </a:r>
          </a:p>
        </p:txBody>
      </p:sp>
      <p:sp>
        <p:nvSpPr>
          <p:cNvPr id="38" name="文本框 37">
            <a:extLst>
              <a:ext uri="{FF2B5EF4-FFF2-40B4-BE49-F238E27FC236}">
                <a16:creationId xmlns:a16="http://schemas.microsoft.com/office/drawing/2014/main" id="{21390865-F2A0-077C-3022-64CFD1F26735}"/>
              </a:ext>
            </a:extLst>
          </p:cNvPr>
          <p:cNvSpPr txBox="1"/>
          <p:nvPr/>
        </p:nvSpPr>
        <p:spPr>
          <a:xfrm>
            <a:off x="6016273" y="4366288"/>
            <a:ext cx="4537262" cy="1200329"/>
          </a:xfrm>
          <a:prstGeom prst="rect">
            <a:avLst/>
          </a:prstGeom>
          <a:noFill/>
        </p:spPr>
        <p:txBody>
          <a:bodyPr wrap="square" rtlCol="0">
            <a:spAutoFit/>
          </a:bodyPr>
          <a:lstStyle/>
          <a:p>
            <a:r>
              <a:rPr lang="zh-CN" altLang="en-US" sz="1600" b="1" dirty="0">
                <a:solidFill>
                  <a:schemeClr val="bg1"/>
                </a:solidFill>
              </a:rPr>
              <a:t>后果：分布形态丢失 </a:t>
            </a:r>
            <a:endParaRPr lang="en-US" altLang="zh-CN" sz="1600" b="1" dirty="0">
              <a:solidFill>
                <a:schemeClr val="bg1"/>
              </a:solidFill>
            </a:endParaRPr>
          </a:p>
          <a:p>
            <a:r>
              <a:rPr lang="zh-CN" altLang="en-US" sz="1400" dirty="0">
                <a:solidFill>
                  <a:schemeClr val="bg1"/>
                </a:solidFill>
              </a:rPr>
              <a:t>这种‘输入端压缩 </a:t>
            </a:r>
            <a:r>
              <a:rPr lang="en-US" altLang="zh-CN" sz="1400" dirty="0">
                <a:solidFill>
                  <a:schemeClr val="bg1"/>
                </a:solidFill>
              </a:rPr>
              <a:t>+ </a:t>
            </a:r>
            <a:r>
              <a:rPr lang="zh-CN" altLang="en-US" sz="1400" dirty="0">
                <a:solidFill>
                  <a:schemeClr val="bg1"/>
                </a:solidFill>
              </a:rPr>
              <a:t>输出端平滑’的双重机制，导致真正的网络故障</a:t>
            </a:r>
            <a:r>
              <a:rPr lang="en-US" altLang="zh-CN" sz="1400" dirty="0">
                <a:solidFill>
                  <a:schemeClr val="bg1"/>
                </a:solidFill>
              </a:rPr>
              <a:t>——</a:t>
            </a:r>
            <a:r>
              <a:rPr lang="zh-CN" altLang="en-US" sz="1400" dirty="0">
                <a:solidFill>
                  <a:schemeClr val="bg1"/>
                </a:solidFill>
              </a:rPr>
              <a:t>即位于概率分布尾部的微突发拥塞</a:t>
            </a:r>
            <a:r>
              <a:rPr lang="en-US" altLang="zh-CN" sz="1400" dirty="0">
                <a:solidFill>
                  <a:schemeClr val="bg1"/>
                </a:solidFill>
              </a:rPr>
              <a:t>——</a:t>
            </a:r>
            <a:r>
              <a:rPr lang="zh-CN" altLang="en-US" sz="1400" dirty="0">
                <a:solidFill>
                  <a:schemeClr val="bg1"/>
                </a:solidFill>
              </a:rPr>
              <a:t>被彻底过滤。模型最终只能预测出‘平稳的网络状态’，而对真正导致业务受损的‘长尾异常’丧失了感知能力。</a:t>
            </a:r>
          </a:p>
        </p:txBody>
      </p:sp>
      <p:sp>
        <p:nvSpPr>
          <p:cNvPr id="2" name="文本框 1">
            <a:extLst>
              <a:ext uri="{FF2B5EF4-FFF2-40B4-BE49-F238E27FC236}">
                <a16:creationId xmlns:a16="http://schemas.microsoft.com/office/drawing/2014/main" id="{DB6F0C3D-2119-AB4D-00AC-BB24BDB72DC3}"/>
              </a:ext>
            </a:extLst>
          </p:cNvPr>
          <p:cNvSpPr txBox="1"/>
          <p:nvPr/>
        </p:nvSpPr>
        <p:spPr>
          <a:xfrm>
            <a:off x="1251104" y="2739377"/>
            <a:ext cx="4584484" cy="1631216"/>
          </a:xfrm>
          <a:prstGeom prst="rect">
            <a:avLst/>
          </a:prstGeom>
          <a:noFill/>
        </p:spPr>
        <p:txBody>
          <a:bodyPr wrap="square" rtlCol="0">
            <a:spAutoFit/>
          </a:bodyPr>
          <a:lstStyle/>
          <a:p>
            <a:r>
              <a:rPr lang="zh-CN" altLang="en-US" sz="1600" b="1" dirty="0">
                <a:solidFill>
                  <a:schemeClr val="bg1"/>
                </a:solidFill>
              </a:rPr>
              <a:t>现状：人工统计特征范式</a:t>
            </a:r>
            <a:endParaRPr lang="en-US" altLang="zh-CN" sz="1600" b="1" dirty="0">
              <a:solidFill>
                <a:schemeClr val="bg1"/>
              </a:solidFill>
            </a:endParaRPr>
          </a:p>
          <a:p>
            <a:r>
              <a:rPr lang="zh-CN" altLang="en-US" sz="1400" dirty="0">
                <a:solidFill>
                  <a:schemeClr val="bg1"/>
                </a:solidFill>
              </a:rPr>
              <a:t>“以 </a:t>
            </a:r>
            <a:r>
              <a:rPr lang="en-US" altLang="zh-CN" sz="1400" dirty="0">
                <a:solidFill>
                  <a:schemeClr val="bg1"/>
                </a:solidFill>
              </a:rPr>
              <a:t>RIPE Atlas </a:t>
            </a:r>
            <a:r>
              <a:rPr lang="zh-CN" altLang="en-US" sz="1400" dirty="0">
                <a:solidFill>
                  <a:schemeClr val="bg1"/>
                </a:solidFill>
              </a:rPr>
              <a:t>和 </a:t>
            </a:r>
            <a:r>
              <a:rPr lang="en-US" altLang="zh-CN" sz="1400" dirty="0">
                <a:solidFill>
                  <a:schemeClr val="bg1"/>
                </a:solidFill>
              </a:rPr>
              <a:t>CAIDA </a:t>
            </a:r>
            <a:r>
              <a:rPr lang="zh-CN" altLang="en-US" sz="1400" dirty="0">
                <a:solidFill>
                  <a:schemeClr val="bg1"/>
                </a:solidFill>
              </a:rPr>
              <a:t>为代表的传统测量体系，主要依赖均值、方差及丢包率等人工定义的浅层统计量。这种处理方式本质上是对高维、非线性的网络时序数据进行了一种‘显性有损压缩’。它强制将复杂的时变波形坍缩为单一标量，忽略了数据内部蕴含的深层时序依赖与拓扑结构关联。”</a:t>
            </a:r>
          </a:p>
        </p:txBody>
      </p:sp>
      <p:sp>
        <p:nvSpPr>
          <p:cNvPr id="3" name="文本框 2">
            <a:extLst>
              <a:ext uri="{FF2B5EF4-FFF2-40B4-BE49-F238E27FC236}">
                <a16:creationId xmlns:a16="http://schemas.microsoft.com/office/drawing/2014/main" id="{65029897-59DE-B0C9-4310-3BD2E3DB5AAA}"/>
              </a:ext>
            </a:extLst>
          </p:cNvPr>
          <p:cNvSpPr txBox="1"/>
          <p:nvPr/>
        </p:nvSpPr>
        <p:spPr>
          <a:xfrm>
            <a:off x="1251104" y="4366288"/>
            <a:ext cx="4537262" cy="1415772"/>
          </a:xfrm>
          <a:prstGeom prst="rect">
            <a:avLst/>
          </a:prstGeom>
          <a:noFill/>
        </p:spPr>
        <p:txBody>
          <a:bodyPr wrap="square" rtlCol="0">
            <a:spAutoFit/>
          </a:bodyPr>
          <a:lstStyle/>
          <a:p>
            <a:r>
              <a:rPr lang="zh-CN" altLang="en-US" sz="1600" b="1" dirty="0">
                <a:solidFill>
                  <a:schemeClr val="bg1"/>
                </a:solidFill>
              </a:rPr>
              <a:t>后果：微观细节丢失与根因混淆</a:t>
            </a:r>
            <a:endParaRPr lang="en-US" altLang="zh-CN" sz="1600" b="1" dirty="0">
              <a:solidFill>
                <a:schemeClr val="bg1"/>
              </a:solidFill>
            </a:endParaRPr>
          </a:p>
          <a:p>
            <a:r>
              <a:rPr lang="zh-CN" altLang="en-US" sz="1400" dirty="0">
                <a:solidFill>
                  <a:schemeClr val="bg1"/>
                </a:solidFill>
              </a:rPr>
              <a:t>“这种‘压缩’导致关键的微观波形特征被彻底抹除。例如，‘周期性的拥塞震荡’与‘突发性的路由跳变’虽物理机制不同，却可能表现出完全相同的统计均值。由于缺乏对原始状态的完整表征，下游任务无法有效解耦这两类故障根因，导致模型在面对复杂网络异常时陷入‘诊断盲区’。”</a:t>
            </a:r>
          </a:p>
        </p:txBody>
      </p:sp>
    </p:spTree>
    <p:custDataLst>
      <p:tags r:id="rId1"/>
    </p:custDataLst>
    <p:extLst>
      <p:ext uri="{BB962C8B-B14F-4D97-AF65-F5344CB8AC3E}">
        <p14:creationId xmlns:p14="http://schemas.microsoft.com/office/powerpoint/2010/main" val="3870392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A0FC0-C8F1-0148-70D3-0CCBE77E7F73}"/>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D3E35C4B-7734-4CCC-058A-0450B8832E29}"/>
              </a:ext>
            </a:extLst>
          </p:cNvPr>
          <p:cNvSpPr txBox="1"/>
          <p:nvPr/>
        </p:nvSpPr>
        <p:spPr>
          <a:xfrm>
            <a:off x="5058224" y="2754676"/>
            <a:ext cx="5295451" cy="1255728"/>
          </a:xfrm>
          <a:prstGeom prst="rect">
            <a:avLst/>
          </a:prstGeom>
          <a:noFill/>
        </p:spPr>
        <p:txBody>
          <a:bodyPr wrap="square" rtlCol="0">
            <a:spAutoFit/>
          </a:bodyPr>
          <a:lstStyle/>
          <a:p>
            <a:pPr algn="l"/>
            <a:r>
              <a:rPr lang="en-US" altLang="zh-CN" sz="3402" dirty="0">
                <a:solidFill>
                  <a:schemeClr val="bg1"/>
                </a:solidFill>
                <a:latin typeface="字魂59号-创粗黑" panose="00000500000000000000" pitchFamily="2" charset="-122"/>
                <a:ea typeface="字魂59号-创粗黑" panose="00000500000000000000" pitchFamily="2" charset="-122"/>
              </a:rPr>
              <a:t>03.</a:t>
            </a:r>
            <a:endParaRPr lang="en-US" altLang="zh-CN" sz="4158" dirty="0">
              <a:solidFill>
                <a:schemeClr val="bg1"/>
              </a:solidFill>
              <a:latin typeface="字魂59号-创粗黑" panose="00000500000000000000" pitchFamily="2" charset="-122"/>
              <a:ea typeface="字魂59号-创粗黑" panose="00000500000000000000" pitchFamily="2" charset="-122"/>
            </a:endParaRPr>
          </a:p>
          <a:p>
            <a:r>
              <a:rPr lang="zh-CN" altLang="en-US" sz="4158" b="1" dirty="0">
                <a:solidFill>
                  <a:srgbClr val="1EE2F4"/>
                </a:solidFill>
                <a:latin typeface="字魂59号-创粗黑" panose="00000500000000000000" pitchFamily="2" charset="-122"/>
                <a:ea typeface="字魂59号-创粗黑" panose="00000500000000000000" pitchFamily="2" charset="-122"/>
              </a:rPr>
              <a:t>研究内容与研究方案</a:t>
            </a:r>
            <a:endParaRPr lang="en-US" altLang="zh-CN" sz="4158" b="1" dirty="0">
              <a:solidFill>
                <a:srgbClr val="1EE2F4"/>
              </a:solidFill>
              <a:latin typeface="字魂59号-创粗黑" panose="00000500000000000000" pitchFamily="2" charset="-122"/>
              <a:ea typeface="字魂59号-创粗黑" panose="00000500000000000000" pitchFamily="2" charset="-122"/>
            </a:endParaRPr>
          </a:p>
        </p:txBody>
      </p:sp>
      <p:pic>
        <p:nvPicPr>
          <p:cNvPr id="9" name="图片 8" descr="09">
            <a:extLst>
              <a:ext uri="{FF2B5EF4-FFF2-40B4-BE49-F238E27FC236}">
                <a16:creationId xmlns:a16="http://schemas.microsoft.com/office/drawing/2014/main" id="{549F227A-C7DC-8D53-7220-E8DC31588839}"/>
              </a:ext>
            </a:extLst>
          </p:cNvPr>
          <p:cNvPicPr>
            <a:picLocks noChangeAspect="1"/>
          </p:cNvPicPr>
          <p:nvPr/>
        </p:nvPicPr>
        <p:blipFill>
          <a:blip r:embed="rId4"/>
          <a:stretch>
            <a:fillRect/>
          </a:stretch>
        </p:blipFill>
        <p:spPr>
          <a:xfrm flipH="1" flipV="1">
            <a:off x="19289" y="1379437"/>
            <a:ext cx="6117765" cy="5086937"/>
          </a:xfrm>
          <a:prstGeom prst="rect">
            <a:avLst/>
          </a:prstGeom>
        </p:spPr>
      </p:pic>
    </p:spTree>
    <p:custDataLst>
      <p:tags r:id="rId1"/>
    </p:custDataLst>
    <p:extLst>
      <p:ext uri="{BB962C8B-B14F-4D97-AF65-F5344CB8AC3E}">
        <p14:creationId xmlns:p14="http://schemas.microsoft.com/office/powerpoint/2010/main" val="232379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11DD5-57D2-2C48-DD5A-B271F6AEB900}"/>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1CE07F5A-C755-D223-DB38-9483A950F420}"/>
              </a:ext>
            </a:extLst>
          </p:cNvPr>
          <p:cNvGrpSpPr/>
          <p:nvPr/>
        </p:nvGrpSpPr>
        <p:grpSpPr>
          <a:xfrm>
            <a:off x="-7712" y="-5400"/>
            <a:ext cx="9863066" cy="2197259"/>
            <a:chOff x="-13" y="-9"/>
            <a:chExt cx="16438" cy="3662"/>
          </a:xfrm>
        </p:grpSpPr>
        <p:grpSp>
          <p:nvGrpSpPr>
            <p:cNvPr id="6" name="组合 5">
              <a:extLst>
                <a:ext uri="{FF2B5EF4-FFF2-40B4-BE49-F238E27FC236}">
                  <a16:creationId xmlns:a16="http://schemas.microsoft.com/office/drawing/2014/main" id="{64066749-E59C-22C6-E060-90C69A6805F2}"/>
                </a:ext>
              </a:extLst>
            </p:cNvPr>
            <p:cNvGrpSpPr/>
            <p:nvPr/>
          </p:nvGrpSpPr>
          <p:grpSpPr>
            <a:xfrm>
              <a:off x="1712" y="1132"/>
              <a:ext cx="14713" cy="2000"/>
              <a:chOff x="2444" y="1069"/>
              <a:chExt cx="14713" cy="2000"/>
            </a:xfrm>
          </p:grpSpPr>
          <p:sp>
            <p:nvSpPr>
              <p:cNvPr id="15" name="文本框 14">
                <a:extLst>
                  <a:ext uri="{FF2B5EF4-FFF2-40B4-BE49-F238E27FC236}">
                    <a16:creationId xmlns:a16="http://schemas.microsoft.com/office/drawing/2014/main" id="{34DE65A9-1E7D-94E9-D5C2-861A40A9CE1D}"/>
                  </a:ext>
                </a:extLst>
              </p:cNvPr>
              <p:cNvSpPr txBox="1"/>
              <p:nvPr/>
            </p:nvSpPr>
            <p:spPr>
              <a:xfrm>
                <a:off x="2444" y="1069"/>
                <a:ext cx="14713" cy="2000"/>
              </a:xfrm>
              <a:prstGeom prst="rect">
                <a:avLst/>
              </a:prstGeom>
              <a:noFill/>
            </p:spPr>
            <p:txBody>
              <a:bodyPr wrap="square" rtlCol="0">
                <a:spAutoFit/>
              </a:bodyPr>
              <a:lstStyle/>
              <a:p>
                <a:r>
                  <a:rPr lang="en-US" altLang="zh-CN" sz="3600" b="1" dirty="0">
                    <a:solidFill>
                      <a:srgbClr val="1EE2F4"/>
                    </a:solidFill>
                    <a:latin typeface="字魂59号-创粗黑" panose="00000500000000000000" pitchFamily="2" charset="-122"/>
                    <a:ea typeface="字魂59号-创粗黑" panose="00000500000000000000" pitchFamily="2" charset="-122"/>
                  </a:rPr>
                  <a:t>3.</a:t>
                </a:r>
                <a:r>
                  <a:rPr lang="zh-CN" altLang="en-US" sz="3600" b="1" dirty="0">
                    <a:solidFill>
                      <a:srgbClr val="1EE2F4"/>
                    </a:solidFill>
                    <a:latin typeface="字魂59号-创粗黑" panose="00000500000000000000" pitchFamily="2" charset="-122"/>
                    <a:ea typeface="字魂59号-创粗黑" panose="00000500000000000000" pitchFamily="2" charset="-122"/>
                  </a:rPr>
                  <a:t>研究内容与研究方案</a:t>
                </a:r>
              </a:p>
              <a:p>
                <a:endParaRPr lang="zh-CN" altLang="en-US" sz="3600" b="1" dirty="0">
                  <a:solidFill>
                    <a:srgbClr val="1EE2F4"/>
                  </a:solidFill>
                  <a:latin typeface="字魂59号-创粗黑" panose="00000500000000000000" pitchFamily="2" charset="-122"/>
                  <a:ea typeface="字魂59号-创粗黑" panose="00000500000000000000" pitchFamily="2" charset="-122"/>
                </a:endParaRPr>
              </a:p>
            </p:txBody>
          </p:sp>
          <p:sp>
            <p:nvSpPr>
              <p:cNvPr id="10" name="文本框 9">
                <a:extLst>
                  <a:ext uri="{FF2B5EF4-FFF2-40B4-BE49-F238E27FC236}">
                    <a16:creationId xmlns:a16="http://schemas.microsoft.com/office/drawing/2014/main" id="{F25A0C3E-53D9-D80A-8838-7A1A91F25217}"/>
                  </a:ext>
                </a:extLst>
              </p:cNvPr>
              <p:cNvSpPr txBox="1"/>
              <p:nvPr/>
            </p:nvSpPr>
            <p:spPr>
              <a:xfrm>
                <a:off x="2444" y="1967"/>
                <a:ext cx="14713" cy="493"/>
              </a:xfrm>
              <a:prstGeom prst="rect">
                <a:avLst/>
              </a:prstGeom>
              <a:noFill/>
            </p:spPr>
            <p:txBody>
              <a:bodyPr wrap="square" rtlCol="0">
                <a:spAutoFit/>
              </a:bodyPr>
              <a:lstStyle/>
              <a:p>
                <a:r>
                  <a:rPr lang="zh-CN" altLang="en-US" sz="1323" dirty="0">
                    <a:solidFill>
                      <a:srgbClr val="1EE2F4"/>
                    </a:solidFill>
                    <a:ea typeface="字魂59号-创粗黑" panose="00000500000000000000" pitchFamily="2" charset="-122"/>
                  </a:rPr>
                  <a:t>“自适应表征 </a:t>
                </a:r>
                <a:r>
                  <a:rPr lang="en-US" altLang="zh-CN" sz="1323" dirty="0">
                    <a:solidFill>
                      <a:srgbClr val="1EE2F4"/>
                    </a:solidFill>
                    <a:ea typeface="字魂59号-创粗黑" panose="00000500000000000000" pitchFamily="2" charset="-122"/>
                  </a:rPr>
                  <a:t>+ </a:t>
                </a:r>
                <a:r>
                  <a:rPr lang="zh-CN" altLang="en-US" sz="1323" dirty="0">
                    <a:solidFill>
                      <a:srgbClr val="1EE2F4"/>
                    </a:solidFill>
                    <a:ea typeface="字魂59号-创粗黑" panose="00000500000000000000" pitchFamily="2" charset="-122"/>
                  </a:rPr>
                  <a:t>分布感知”深度测量体系</a:t>
                </a:r>
              </a:p>
            </p:txBody>
          </p:sp>
        </p:grpSp>
        <p:pic>
          <p:nvPicPr>
            <p:cNvPr id="5" name="图片 4" descr="10">
              <a:extLst>
                <a:ext uri="{FF2B5EF4-FFF2-40B4-BE49-F238E27FC236}">
                  <a16:creationId xmlns:a16="http://schemas.microsoft.com/office/drawing/2014/main" id="{D0C2ABDF-1229-A616-4C81-146DAA370A06}"/>
                </a:ext>
              </a:extLst>
            </p:cNvPr>
            <p:cNvPicPr>
              <a:picLocks noChangeAspect="1"/>
            </p:cNvPicPr>
            <p:nvPr/>
          </p:nvPicPr>
          <p:blipFill>
            <a:blip r:embed="rId4"/>
            <a:stretch>
              <a:fillRect/>
            </a:stretch>
          </p:blipFill>
          <p:spPr>
            <a:xfrm rot="16200000" flipV="1">
              <a:off x="-856" y="834"/>
              <a:ext cx="3662" cy="1975"/>
            </a:xfrm>
            <a:prstGeom prst="rect">
              <a:avLst/>
            </a:prstGeom>
          </p:spPr>
        </p:pic>
      </p:grpSp>
      <p:pic>
        <p:nvPicPr>
          <p:cNvPr id="8" name="图片 7" descr="10">
            <a:extLst>
              <a:ext uri="{FF2B5EF4-FFF2-40B4-BE49-F238E27FC236}">
                <a16:creationId xmlns:a16="http://schemas.microsoft.com/office/drawing/2014/main" id="{EA0EA829-52D7-6F9C-E465-EB32393505A7}"/>
              </a:ext>
            </a:extLst>
          </p:cNvPr>
          <p:cNvPicPr>
            <a:picLocks noChangeAspect="1"/>
          </p:cNvPicPr>
          <p:nvPr/>
        </p:nvPicPr>
        <p:blipFill>
          <a:blip r:embed="rId4"/>
          <a:stretch>
            <a:fillRect/>
          </a:stretch>
        </p:blipFill>
        <p:spPr>
          <a:xfrm flipH="1">
            <a:off x="-7112" y="2548268"/>
            <a:ext cx="7352599" cy="3964907"/>
          </a:xfrm>
          <a:prstGeom prst="rect">
            <a:avLst/>
          </a:prstGeom>
        </p:spPr>
      </p:pic>
      <p:pic>
        <p:nvPicPr>
          <p:cNvPr id="12" name="图片 11">
            <a:extLst>
              <a:ext uri="{FF2B5EF4-FFF2-40B4-BE49-F238E27FC236}">
                <a16:creationId xmlns:a16="http://schemas.microsoft.com/office/drawing/2014/main" id="{A09207E6-1DC5-CB96-1BDE-3C0012775801}"/>
              </a:ext>
            </a:extLst>
          </p:cNvPr>
          <p:cNvPicPr>
            <a:picLocks noChangeAspect="1"/>
          </p:cNvPicPr>
          <p:nvPr/>
        </p:nvPicPr>
        <p:blipFill>
          <a:blip r:embed="rId5"/>
          <a:stretch>
            <a:fillRect/>
          </a:stretch>
        </p:blipFill>
        <p:spPr>
          <a:xfrm>
            <a:off x="1027316" y="2064654"/>
            <a:ext cx="6540287" cy="3562309"/>
          </a:xfrm>
          <a:prstGeom prst="rect">
            <a:avLst/>
          </a:prstGeom>
        </p:spPr>
      </p:pic>
      <p:sp>
        <p:nvSpPr>
          <p:cNvPr id="14" name="文本框 13">
            <a:extLst>
              <a:ext uri="{FF2B5EF4-FFF2-40B4-BE49-F238E27FC236}">
                <a16:creationId xmlns:a16="http://schemas.microsoft.com/office/drawing/2014/main" id="{AA1F90EC-A56B-2F88-D0F0-1DBA65EE0148}"/>
              </a:ext>
            </a:extLst>
          </p:cNvPr>
          <p:cNvSpPr txBox="1"/>
          <p:nvPr/>
        </p:nvSpPr>
        <p:spPr>
          <a:xfrm>
            <a:off x="7653033" y="2114203"/>
            <a:ext cx="3759319" cy="3077766"/>
          </a:xfrm>
          <a:prstGeom prst="rect">
            <a:avLst/>
          </a:prstGeom>
          <a:noFill/>
        </p:spPr>
        <p:txBody>
          <a:bodyPr wrap="square">
            <a:spAutoFit/>
          </a:bodyPr>
          <a:lstStyle/>
          <a:p>
            <a:r>
              <a:rPr lang="zh-CN" altLang="en-US" sz="1400" dirty="0">
                <a:solidFill>
                  <a:schemeClr val="bg1"/>
                </a:solidFill>
              </a:rPr>
              <a:t>针对网络测量中的核心痛点，我们提出了一套</a:t>
            </a:r>
            <a:endParaRPr lang="en-US" altLang="zh-CN" sz="1400" dirty="0">
              <a:solidFill>
                <a:schemeClr val="bg1"/>
              </a:solidFill>
            </a:endParaRPr>
          </a:p>
          <a:p>
            <a:r>
              <a:rPr lang="zh-CN" altLang="en-US" sz="1400" dirty="0">
                <a:solidFill>
                  <a:schemeClr val="bg1"/>
                </a:solidFill>
              </a:rPr>
              <a:t>‘自适应表征 </a:t>
            </a:r>
            <a:r>
              <a:rPr lang="en-US" altLang="zh-CN" sz="1400" dirty="0">
                <a:solidFill>
                  <a:schemeClr val="bg1"/>
                </a:solidFill>
              </a:rPr>
              <a:t>+ </a:t>
            </a:r>
            <a:r>
              <a:rPr lang="zh-CN" altLang="en-US" sz="1400" dirty="0">
                <a:solidFill>
                  <a:schemeClr val="bg1"/>
                </a:solidFill>
              </a:rPr>
              <a:t>分布感知’的级联解决方案。</a:t>
            </a:r>
            <a:endParaRPr lang="en-US" altLang="zh-CN" sz="1400" dirty="0">
              <a:solidFill>
                <a:schemeClr val="bg1"/>
              </a:solidFill>
            </a:endParaRPr>
          </a:p>
          <a:p>
            <a:endParaRPr lang="en-US" altLang="zh-CN" sz="1400" dirty="0">
              <a:solidFill>
                <a:schemeClr val="bg1"/>
              </a:solidFill>
            </a:endParaRPr>
          </a:p>
          <a:p>
            <a:r>
              <a:rPr lang="zh-CN" altLang="en-US" sz="1400" dirty="0">
                <a:solidFill>
                  <a:schemeClr val="bg1"/>
                </a:solidFill>
              </a:rPr>
              <a:t>首先，输入端革新通过时空对比学习算法，在无标签环境下自动剥离测量噪声，产出高可信度的状态嵌入向量；</a:t>
            </a:r>
            <a:endParaRPr lang="en-US" altLang="zh-CN" sz="1400" dirty="0">
              <a:solidFill>
                <a:schemeClr val="bg1"/>
              </a:solidFill>
            </a:endParaRPr>
          </a:p>
          <a:p>
            <a:endParaRPr lang="en-US" altLang="zh-CN" sz="4000" dirty="0">
              <a:solidFill>
                <a:schemeClr val="bg1"/>
              </a:solidFill>
            </a:endParaRPr>
          </a:p>
          <a:p>
            <a:r>
              <a:rPr lang="zh-CN" altLang="en-US" sz="1400" dirty="0">
                <a:solidFill>
                  <a:schemeClr val="bg1"/>
                </a:solidFill>
              </a:rPr>
              <a:t>随后，该向量通过级联传递机制，作为关键的全局上下文注入下游模型；最终，输出端革新利用 </a:t>
            </a:r>
            <a:r>
              <a:rPr lang="en-US" altLang="zh-CN" sz="1400" dirty="0">
                <a:solidFill>
                  <a:schemeClr val="bg1"/>
                </a:solidFill>
              </a:rPr>
              <a:t>PMF-Net </a:t>
            </a:r>
            <a:r>
              <a:rPr lang="zh-CN" altLang="en-US" sz="1400" dirty="0">
                <a:solidFill>
                  <a:schemeClr val="bg1"/>
                </a:solidFill>
              </a:rPr>
              <a:t>模型，结合历史分布与状态嵌入，突破均值回归限制，精准输出包含长尾特征的细粒度预测结果。</a:t>
            </a:r>
          </a:p>
        </p:txBody>
      </p:sp>
    </p:spTree>
    <p:custDataLst>
      <p:tags r:id="rId1"/>
    </p:custDataLst>
    <p:extLst>
      <p:ext uri="{BB962C8B-B14F-4D97-AF65-F5344CB8AC3E}">
        <p14:creationId xmlns:p14="http://schemas.microsoft.com/office/powerpoint/2010/main" val="1294228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2DA7-3DBC-3D8F-89F1-E7413A483C4C}"/>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F80ADDBB-C6F8-570B-093E-1FB8F1E92662}"/>
              </a:ext>
            </a:extLst>
          </p:cNvPr>
          <p:cNvGrpSpPr/>
          <p:nvPr/>
        </p:nvGrpSpPr>
        <p:grpSpPr>
          <a:xfrm>
            <a:off x="0" y="0"/>
            <a:ext cx="11103299" cy="2197259"/>
            <a:chOff x="-13" y="-9"/>
            <a:chExt cx="18505" cy="3662"/>
          </a:xfrm>
        </p:grpSpPr>
        <p:grpSp>
          <p:nvGrpSpPr>
            <p:cNvPr id="6" name="组合 5">
              <a:extLst>
                <a:ext uri="{FF2B5EF4-FFF2-40B4-BE49-F238E27FC236}">
                  <a16:creationId xmlns:a16="http://schemas.microsoft.com/office/drawing/2014/main" id="{D1D58E51-6000-437D-1F9F-A3850569CCC5}"/>
                </a:ext>
              </a:extLst>
            </p:cNvPr>
            <p:cNvGrpSpPr/>
            <p:nvPr/>
          </p:nvGrpSpPr>
          <p:grpSpPr>
            <a:xfrm>
              <a:off x="1712" y="1132"/>
              <a:ext cx="16780" cy="1666"/>
              <a:chOff x="2444" y="1069"/>
              <a:chExt cx="16780" cy="1666"/>
            </a:xfrm>
          </p:grpSpPr>
          <p:sp>
            <p:nvSpPr>
              <p:cNvPr id="15" name="文本框 14">
                <a:extLst>
                  <a:ext uri="{FF2B5EF4-FFF2-40B4-BE49-F238E27FC236}">
                    <a16:creationId xmlns:a16="http://schemas.microsoft.com/office/drawing/2014/main" id="{F5EF98A2-5E5A-24B8-D8A4-4347D289364F}"/>
                  </a:ext>
                </a:extLst>
              </p:cNvPr>
              <p:cNvSpPr txBox="1"/>
              <p:nvPr/>
            </p:nvSpPr>
            <p:spPr>
              <a:xfrm>
                <a:off x="2444" y="1069"/>
                <a:ext cx="16780" cy="1077"/>
              </a:xfrm>
              <a:prstGeom prst="rect">
                <a:avLst/>
              </a:prstGeom>
              <a:noFill/>
            </p:spPr>
            <p:txBody>
              <a:bodyPr wrap="square" rtlCol="0">
                <a:spAutoFit/>
              </a:bodyPr>
              <a:lstStyle/>
              <a:p>
                <a:r>
                  <a:rPr lang="zh-CN" altLang="en-US" sz="3600" b="1" dirty="0">
                    <a:solidFill>
                      <a:srgbClr val="1EE2F4"/>
                    </a:solidFill>
                    <a:latin typeface="字魂59号-创粗黑" panose="00000500000000000000" pitchFamily="2" charset="-122"/>
                    <a:ea typeface="字魂59号-创粗黑" panose="00000500000000000000" pitchFamily="2" charset="-122"/>
                  </a:rPr>
                  <a:t>创新点一：基于时空多视图对比学习的状态表征</a:t>
                </a:r>
                <a:endParaRPr lang="en-US" altLang="zh-CN" sz="3600" b="1" dirty="0">
                  <a:solidFill>
                    <a:srgbClr val="1EE2F4"/>
                  </a:solidFill>
                  <a:latin typeface="字魂59号-创粗黑" panose="00000500000000000000" pitchFamily="2" charset="-122"/>
                  <a:ea typeface="字魂59号-创粗黑" panose="00000500000000000000" pitchFamily="2" charset="-122"/>
                </a:endParaRPr>
              </a:p>
            </p:txBody>
          </p:sp>
          <p:sp>
            <p:nvSpPr>
              <p:cNvPr id="10" name="文本框 9">
                <a:extLst>
                  <a:ext uri="{FF2B5EF4-FFF2-40B4-BE49-F238E27FC236}">
                    <a16:creationId xmlns:a16="http://schemas.microsoft.com/office/drawing/2014/main" id="{E54485C1-486A-1636-0F9E-D7D3E0C9C1A4}"/>
                  </a:ext>
                </a:extLst>
              </p:cNvPr>
              <p:cNvSpPr txBox="1"/>
              <p:nvPr/>
            </p:nvSpPr>
            <p:spPr>
              <a:xfrm>
                <a:off x="9434" y="2242"/>
                <a:ext cx="2292" cy="493"/>
              </a:xfrm>
              <a:prstGeom prst="rect">
                <a:avLst/>
              </a:prstGeom>
              <a:noFill/>
            </p:spPr>
            <p:txBody>
              <a:bodyPr wrap="square" rtlCol="0">
                <a:spAutoFit/>
              </a:bodyPr>
              <a:lstStyle/>
              <a:p>
                <a:pPr algn="l"/>
                <a:r>
                  <a:rPr lang="zh-CN" altLang="en-US" sz="1323" dirty="0">
                    <a:solidFill>
                      <a:srgbClr val="1EE2F4"/>
                    </a:solidFill>
                    <a:latin typeface="字魂59号-创粗黑" panose="00000500000000000000" pitchFamily="2" charset="-122"/>
                    <a:ea typeface="字魂59号-创粗黑" panose="00000500000000000000" pitchFamily="2" charset="-122"/>
                  </a:rPr>
                  <a:t>整体逻辑架构图</a:t>
                </a:r>
              </a:p>
            </p:txBody>
          </p:sp>
        </p:grpSp>
        <p:pic>
          <p:nvPicPr>
            <p:cNvPr id="5" name="图片 4" descr="10">
              <a:extLst>
                <a:ext uri="{FF2B5EF4-FFF2-40B4-BE49-F238E27FC236}">
                  <a16:creationId xmlns:a16="http://schemas.microsoft.com/office/drawing/2014/main" id="{12F03C4B-D030-BC26-5D5B-D027EF3D3B03}"/>
                </a:ext>
              </a:extLst>
            </p:cNvPr>
            <p:cNvPicPr>
              <a:picLocks noChangeAspect="1"/>
            </p:cNvPicPr>
            <p:nvPr/>
          </p:nvPicPr>
          <p:blipFill>
            <a:blip r:embed="rId4"/>
            <a:stretch>
              <a:fillRect/>
            </a:stretch>
          </p:blipFill>
          <p:spPr>
            <a:xfrm rot="16200000" flipV="1">
              <a:off x="-856" y="834"/>
              <a:ext cx="3662" cy="1975"/>
            </a:xfrm>
            <a:prstGeom prst="rect">
              <a:avLst/>
            </a:prstGeom>
          </p:spPr>
        </p:pic>
      </p:grpSp>
      <p:pic>
        <p:nvPicPr>
          <p:cNvPr id="8" name="图片 7" descr="10">
            <a:extLst>
              <a:ext uri="{FF2B5EF4-FFF2-40B4-BE49-F238E27FC236}">
                <a16:creationId xmlns:a16="http://schemas.microsoft.com/office/drawing/2014/main" id="{21B4C8A0-4763-A75B-C16B-F8EAC83E945B}"/>
              </a:ext>
            </a:extLst>
          </p:cNvPr>
          <p:cNvPicPr>
            <a:picLocks noChangeAspect="1"/>
          </p:cNvPicPr>
          <p:nvPr/>
        </p:nvPicPr>
        <p:blipFill>
          <a:blip r:embed="rId4"/>
          <a:stretch>
            <a:fillRect/>
          </a:stretch>
        </p:blipFill>
        <p:spPr>
          <a:xfrm flipH="1">
            <a:off x="-7112" y="2548268"/>
            <a:ext cx="7352599" cy="3964907"/>
          </a:xfrm>
          <a:prstGeom prst="rect">
            <a:avLst/>
          </a:prstGeom>
        </p:spPr>
      </p:pic>
      <p:pic>
        <p:nvPicPr>
          <p:cNvPr id="65" name="图片 64">
            <a:extLst>
              <a:ext uri="{FF2B5EF4-FFF2-40B4-BE49-F238E27FC236}">
                <a16:creationId xmlns:a16="http://schemas.microsoft.com/office/drawing/2014/main" id="{F6B58F03-24B1-33D8-3EFC-18F10EC6DA46}"/>
              </a:ext>
            </a:extLst>
          </p:cNvPr>
          <p:cNvPicPr>
            <a:picLocks noChangeAspect="1"/>
          </p:cNvPicPr>
          <p:nvPr/>
        </p:nvPicPr>
        <p:blipFill>
          <a:blip r:embed="rId5"/>
          <a:stretch>
            <a:fillRect/>
          </a:stretch>
        </p:blipFill>
        <p:spPr>
          <a:xfrm>
            <a:off x="1432401" y="1850265"/>
            <a:ext cx="9061221" cy="4511974"/>
          </a:xfrm>
          <a:prstGeom prst="rect">
            <a:avLst/>
          </a:prstGeom>
        </p:spPr>
      </p:pic>
    </p:spTree>
    <p:custDataLst>
      <p:tags r:id="rId1"/>
    </p:custDataLst>
    <p:extLst>
      <p:ext uri="{BB962C8B-B14F-4D97-AF65-F5344CB8AC3E}">
        <p14:creationId xmlns:p14="http://schemas.microsoft.com/office/powerpoint/2010/main" val="1935376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3BB63-DA56-E87E-873A-E5B1CC3D0050}"/>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2FCFF37C-774A-C04E-07B3-71E7084B8797}"/>
              </a:ext>
            </a:extLst>
          </p:cNvPr>
          <p:cNvGrpSpPr/>
          <p:nvPr/>
        </p:nvGrpSpPr>
        <p:grpSpPr>
          <a:xfrm>
            <a:off x="0" y="0"/>
            <a:ext cx="11342706" cy="2197259"/>
            <a:chOff x="-13" y="-9"/>
            <a:chExt cx="18904" cy="3662"/>
          </a:xfrm>
        </p:grpSpPr>
        <p:grpSp>
          <p:nvGrpSpPr>
            <p:cNvPr id="6" name="组合 5">
              <a:extLst>
                <a:ext uri="{FF2B5EF4-FFF2-40B4-BE49-F238E27FC236}">
                  <a16:creationId xmlns:a16="http://schemas.microsoft.com/office/drawing/2014/main" id="{2FF1193E-5D23-131A-AAD4-A90EDABC3E21}"/>
                </a:ext>
              </a:extLst>
            </p:cNvPr>
            <p:cNvGrpSpPr/>
            <p:nvPr/>
          </p:nvGrpSpPr>
          <p:grpSpPr>
            <a:xfrm>
              <a:off x="1712" y="1132"/>
              <a:ext cx="17179" cy="1644"/>
              <a:chOff x="2444" y="1069"/>
              <a:chExt cx="17179" cy="1644"/>
            </a:xfrm>
          </p:grpSpPr>
          <p:sp>
            <p:nvSpPr>
              <p:cNvPr id="15" name="文本框 14">
                <a:extLst>
                  <a:ext uri="{FF2B5EF4-FFF2-40B4-BE49-F238E27FC236}">
                    <a16:creationId xmlns:a16="http://schemas.microsoft.com/office/drawing/2014/main" id="{BC4B14CB-982B-CBFF-0D26-56F438D68540}"/>
                  </a:ext>
                </a:extLst>
              </p:cNvPr>
              <p:cNvSpPr txBox="1"/>
              <p:nvPr/>
            </p:nvSpPr>
            <p:spPr>
              <a:xfrm>
                <a:off x="2444" y="1069"/>
                <a:ext cx="17179" cy="1077"/>
              </a:xfrm>
              <a:prstGeom prst="rect">
                <a:avLst/>
              </a:prstGeom>
              <a:noFill/>
            </p:spPr>
            <p:txBody>
              <a:bodyPr wrap="square" rtlCol="0">
                <a:spAutoFit/>
              </a:bodyPr>
              <a:lstStyle/>
              <a:p>
                <a:r>
                  <a:rPr lang="zh-CN" altLang="en-US" sz="3600" b="1" dirty="0">
                    <a:solidFill>
                      <a:srgbClr val="1EE2F4"/>
                    </a:solidFill>
                    <a:latin typeface="字魂59号-创粗黑" panose="00000500000000000000" pitchFamily="2" charset="-122"/>
                    <a:ea typeface="字魂59号-创粗黑" panose="00000500000000000000" pitchFamily="2" charset="-122"/>
                  </a:rPr>
                  <a:t>创新点一：基于时空多视图对比学习的状态表征</a:t>
                </a:r>
                <a:endParaRPr lang="en-US" altLang="zh-CN" sz="3600" b="1" dirty="0">
                  <a:solidFill>
                    <a:srgbClr val="1EE2F4"/>
                  </a:solidFill>
                  <a:latin typeface="字魂59号-创粗黑" panose="00000500000000000000" pitchFamily="2" charset="-122"/>
                  <a:ea typeface="字魂59号-创粗黑" panose="00000500000000000000" pitchFamily="2" charset="-122"/>
                </a:endParaRPr>
              </a:p>
            </p:txBody>
          </p:sp>
          <p:sp>
            <p:nvSpPr>
              <p:cNvPr id="10" name="文本框 9">
                <a:extLst>
                  <a:ext uri="{FF2B5EF4-FFF2-40B4-BE49-F238E27FC236}">
                    <a16:creationId xmlns:a16="http://schemas.microsoft.com/office/drawing/2014/main" id="{E2E202D2-AB45-0582-2139-0A94226EA746}"/>
                  </a:ext>
                </a:extLst>
              </p:cNvPr>
              <p:cNvSpPr txBox="1"/>
              <p:nvPr/>
            </p:nvSpPr>
            <p:spPr>
              <a:xfrm>
                <a:off x="4278" y="2220"/>
                <a:ext cx="3148" cy="493"/>
              </a:xfrm>
              <a:prstGeom prst="rect">
                <a:avLst/>
              </a:prstGeom>
              <a:noFill/>
            </p:spPr>
            <p:txBody>
              <a:bodyPr wrap="square" rtlCol="0">
                <a:spAutoFit/>
              </a:bodyPr>
              <a:lstStyle/>
              <a:p>
                <a:pPr algn="l"/>
                <a:r>
                  <a:rPr lang="zh-CN" altLang="en-US" sz="1323" dirty="0">
                    <a:solidFill>
                      <a:srgbClr val="1EE2F4"/>
                    </a:solidFill>
                    <a:latin typeface="字魂59号-创粗黑" panose="00000500000000000000" pitchFamily="2" charset="-122"/>
                    <a:ea typeface="字魂59号-创粗黑" panose="00000500000000000000" pitchFamily="2" charset="-122"/>
                  </a:rPr>
                  <a:t>技术实现流程</a:t>
                </a:r>
              </a:p>
            </p:txBody>
          </p:sp>
        </p:grpSp>
        <p:pic>
          <p:nvPicPr>
            <p:cNvPr id="5" name="图片 4" descr="10">
              <a:extLst>
                <a:ext uri="{FF2B5EF4-FFF2-40B4-BE49-F238E27FC236}">
                  <a16:creationId xmlns:a16="http://schemas.microsoft.com/office/drawing/2014/main" id="{7F5885B2-1D6C-462A-EE91-51EABA8712CA}"/>
                </a:ext>
              </a:extLst>
            </p:cNvPr>
            <p:cNvPicPr>
              <a:picLocks noChangeAspect="1"/>
            </p:cNvPicPr>
            <p:nvPr/>
          </p:nvPicPr>
          <p:blipFill>
            <a:blip r:embed="rId4"/>
            <a:stretch>
              <a:fillRect/>
            </a:stretch>
          </p:blipFill>
          <p:spPr>
            <a:xfrm rot="16200000" flipV="1">
              <a:off x="-856" y="834"/>
              <a:ext cx="3662" cy="1975"/>
            </a:xfrm>
            <a:prstGeom prst="rect">
              <a:avLst/>
            </a:prstGeom>
          </p:spPr>
        </p:pic>
      </p:grpSp>
      <p:pic>
        <p:nvPicPr>
          <p:cNvPr id="8" name="图片 7" descr="10">
            <a:extLst>
              <a:ext uri="{FF2B5EF4-FFF2-40B4-BE49-F238E27FC236}">
                <a16:creationId xmlns:a16="http://schemas.microsoft.com/office/drawing/2014/main" id="{7630C2C2-3E3F-4373-2704-2E8304BBCB29}"/>
              </a:ext>
            </a:extLst>
          </p:cNvPr>
          <p:cNvPicPr>
            <a:picLocks noChangeAspect="1"/>
          </p:cNvPicPr>
          <p:nvPr/>
        </p:nvPicPr>
        <p:blipFill>
          <a:blip r:embed="rId4"/>
          <a:stretch>
            <a:fillRect/>
          </a:stretch>
        </p:blipFill>
        <p:spPr>
          <a:xfrm flipH="1">
            <a:off x="-7112" y="2515268"/>
            <a:ext cx="7352599" cy="3964907"/>
          </a:xfrm>
          <a:prstGeom prst="rect">
            <a:avLst/>
          </a:prstGeom>
        </p:spPr>
      </p:pic>
      <p:sp>
        <p:nvSpPr>
          <p:cNvPr id="62" name="文本框 61">
            <a:extLst>
              <a:ext uri="{FF2B5EF4-FFF2-40B4-BE49-F238E27FC236}">
                <a16:creationId xmlns:a16="http://schemas.microsoft.com/office/drawing/2014/main" id="{9A752DA9-9398-0212-7089-6A62F8BC782D}"/>
              </a:ext>
            </a:extLst>
          </p:cNvPr>
          <p:cNvSpPr txBox="1"/>
          <p:nvPr/>
        </p:nvSpPr>
        <p:spPr>
          <a:xfrm>
            <a:off x="352564" y="1638708"/>
            <a:ext cx="5013132" cy="1466620"/>
          </a:xfrm>
          <a:prstGeom prst="rect">
            <a:avLst/>
          </a:prstGeom>
          <a:noFill/>
        </p:spPr>
        <p:txBody>
          <a:bodyPr wrap="square">
            <a:spAutoFit/>
          </a:bodyPr>
          <a:lstStyle/>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第一步：时空多视图增强，即为了构建自监督学习所需的“正样本对”，算法首先引入特定于网络测量的数据增强策略。</a:t>
            </a:r>
          </a:p>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时域增强：针对 ，定义增强算子 。通过随机掩码（</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Masking</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）模拟探测丢包，通过高斯抖动（</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Jittering</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）模拟物理层噪声。生成的时域视图 可表示为：</a:t>
            </a:r>
            <a:endPar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63" name="Rectangle 54">
            <a:extLst>
              <a:ext uri="{FF2B5EF4-FFF2-40B4-BE49-F238E27FC236}">
                <a16:creationId xmlns:a16="http://schemas.microsoft.com/office/drawing/2014/main" id="{CF2AA43C-CD30-0B9A-5B6C-7A55D18CE406}"/>
              </a:ext>
            </a:extLst>
          </p:cNvPr>
          <p:cNvSpPr>
            <a:spLocks noChangeArrowheads="1"/>
          </p:cNvSpPr>
          <p:nvPr/>
        </p:nvSpPr>
        <p:spPr bwMode="auto">
          <a:xfrm>
            <a:off x="-7112" y="-124125"/>
            <a:ext cx="115204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mc:Choice xmlns:a14="http://schemas.microsoft.com/office/drawing/2010/main" Requires="a14">
          <p:sp>
            <p:nvSpPr>
              <p:cNvPr id="70" name="文本框 69">
                <a:extLst>
                  <a:ext uri="{FF2B5EF4-FFF2-40B4-BE49-F238E27FC236}">
                    <a16:creationId xmlns:a16="http://schemas.microsoft.com/office/drawing/2014/main" id="{A428889C-4D40-FED5-B2F7-C8267B358DEA}"/>
                  </a:ext>
                </a:extLst>
              </p:cNvPr>
              <p:cNvSpPr txBox="1"/>
              <p:nvPr/>
            </p:nvSpPr>
            <p:spPr>
              <a:xfrm>
                <a:off x="736730" y="3072609"/>
                <a:ext cx="4571810" cy="3702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chemeClr val="bg1"/>
                              </a:solidFill>
                              <a:latin typeface="Cambria Math" panose="02040503050406030204" pitchFamily="18" charset="0"/>
                            </a:rPr>
                          </m:ctrlPr>
                        </m:sSubPr>
                        <m:e>
                          <m:acc>
                            <m:accPr>
                              <m:chr m:val="̃"/>
                              <m:ctrlPr>
                                <a:rPr lang="zh-CN" altLang="en-US" sz="1600" i="1">
                                  <a:solidFill>
                                    <a:schemeClr val="bg1"/>
                                  </a:solidFill>
                                  <a:latin typeface="Cambria Math" panose="02040503050406030204" pitchFamily="18" charset="0"/>
                                </a:rPr>
                              </m:ctrlPr>
                            </m:accPr>
                            <m:e>
                              <m:r>
                                <a:rPr lang="zh-CN" altLang="en-US" sz="1600" i="1">
                                  <a:solidFill>
                                    <a:schemeClr val="bg1"/>
                                  </a:solidFill>
                                  <a:latin typeface="Cambria Math" panose="02040503050406030204" pitchFamily="18" charset="0"/>
                                </a:rPr>
                                <m:t>𝑥</m:t>
                              </m:r>
                            </m:e>
                          </m:acc>
                        </m:e>
                        <m:sub>
                          <m:r>
                            <a:rPr lang="zh-CN" altLang="en-US" sz="1600" i="1">
                              <a:solidFill>
                                <a:schemeClr val="bg1"/>
                              </a:solidFill>
                              <a:latin typeface="Cambria Math" panose="02040503050406030204" pitchFamily="18" charset="0"/>
                            </a:rPr>
                            <m:t>𝑡</m:t>
                          </m:r>
                        </m:sub>
                      </m:sSub>
                      <m:r>
                        <a:rPr lang="zh-CN" altLang="en-US" sz="1600" i="0">
                          <a:solidFill>
                            <a:schemeClr val="bg1"/>
                          </a:solidFill>
                          <a:latin typeface="Cambria Math" panose="02040503050406030204" pitchFamily="18" charset="0"/>
                        </a:rPr>
                        <m:t>=</m:t>
                      </m:r>
                      <m:sSub>
                        <m:sSubPr>
                          <m:ctrlPr>
                            <a:rPr lang="zh-CN" altLang="en-US" sz="1600" i="1">
                              <a:solidFill>
                                <a:schemeClr val="bg1"/>
                              </a:solidFill>
                              <a:latin typeface="Cambria Math" panose="02040503050406030204" pitchFamily="18" charset="0"/>
                            </a:rPr>
                          </m:ctrlPr>
                        </m:sSubPr>
                        <m:e>
                          <m:r>
                            <a:rPr lang="zh-CN" altLang="en-US" sz="1600" i="0">
                              <a:solidFill>
                                <a:schemeClr val="bg1"/>
                              </a:solidFill>
                              <a:latin typeface="Cambria Math" panose="02040503050406030204" pitchFamily="18" charset="0"/>
                            </a:rPr>
                            <m:t>𝒯</m:t>
                          </m:r>
                        </m:e>
                        <m:sub>
                          <m:r>
                            <a:rPr lang="zh-CN" altLang="en-US" sz="1600" i="1">
                              <a:solidFill>
                                <a:schemeClr val="bg1"/>
                              </a:solidFill>
                              <a:latin typeface="Cambria Math" panose="02040503050406030204" pitchFamily="18" charset="0"/>
                            </a:rPr>
                            <m:t>𝑡𝑖𝑚𝑒</m:t>
                          </m:r>
                        </m:sub>
                      </m:sSub>
                      <m:d>
                        <m:dPr>
                          <m:ctrlPr>
                            <a:rPr lang="zh-CN" altLang="en-US" sz="1600" i="1">
                              <a:solidFill>
                                <a:schemeClr val="bg1"/>
                              </a:solidFill>
                              <a:latin typeface="Cambria Math" panose="02040503050406030204" pitchFamily="18" charset="0"/>
                            </a:rPr>
                          </m:ctrlPr>
                        </m:dPr>
                        <m:e>
                          <m:sSub>
                            <m:sSubPr>
                              <m:ctrlPr>
                                <a:rPr lang="zh-CN" altLang="en-US" sz="1600" i="1">
                                  <a:solidFill>
                                    <a:schemeClr val="bg1"/>
                                  </a:solidFill>
                                  <a:latin typeface="Cambria Math" panose="02040503050406030204" pitchFamily="18" charset="0"/>
                                </a:rPr>
                              </m:ctrlPr>
                            </m:sSubPr>
                            <m:e>
                              <m:r>
                                <a:rPr lang="zh-CN" altLang="en-US" sz="1600" i="1">
                                  <a:solidFill>
                                    <a:schemeClr val="bg1"/>
                                  </a:solidFill>
                                  <a:latin typeface="Cambria Math" panose="02040503050406030204" pitchFamily="18" charset="0"/>
                                </a:rPr>
                                <m:t>𝑋</m:t>
                              </m:r>
                            </m:e>
                            <m:sub>
                              <m:r>
                                <a:rPr lang="zh-CN" altLang="en-US" sz="1600" i="1">
                                  <a:solidFill>
                                    <a:schemeClr val="bg1"/>
                                  </a:solidFill>
                                  <a:latin typeface="Cambria Math" panose="02040503050406030204" pitchFamily="18" charset="0"/>
                                </a:rPr>
                                <m:t>𝑟𝑡𝑡</m:t>
                              </m:r>
                            </m:sub>
                          </m:sSub>
                        </m:e>
                      </m:d>
                      <m:r>
                        <a:rPr lang="zh-CN" altLang="en-US" sz="1600" i="0">
                          <a:solidFill>
                            <a:schemeClr val="bg1"/>
                          </a:solidFill>
                          <a:latin typeface="Cambria Math" panose="02040503050406030204" pitchFamily="18" charset="0"/>
                        </a:rPr>
                        <m:t>=</m:t>
                      </m:r>
                      <m:r>
                        <m:rPr>
                          <m:nor/>
                        </m:rPr>
                        <a:rPr lang="zh-CN" altLang="en-US" sz="1600" b="0" i="1">
                          <a:solidFill>
                            <a:schemeClr val="bg1"/>
                          </a:solidFill>
                          <a:latin typeface="Cambria Math" panose="02040503050406030204" pitchFamily="18" charset="0"/>
                        </a:rPr>
                        <m:t>Mask</m:t>
                      </m:r>
                      <m:d>
                        <m:dPr>
                          <m:sepChr m:val=","/>
                          <m:ctrlPr>
                            <a:rPr lang="zh-CN" altLang="en-US" sz="1600" b="0" i="1">
                              <a:solidFill>
                                <a:schemeClr val="bg1"/>
                              </a:solidFill>
                              <a:latin typeface="Cambria Math" panose="02040503050406030204" pitchFamily="18" charset="0"/>
                            </a:rPr>
                          </m:ctrlPr>
                        </m:dPr>
                        <m:e>
                          <m:sSub>
                            <m:sSubPr>
                              <m:ctrlPr>
                                <a:rPr lang="zh-CN" altLang="en-US" sz="1600" b="0" i="1">
                                  <a:solidFill>
                                    <a:schemeClr val="bg1"/>
                                  </a:solidFill>
                                  <a:latin typeface="Cambria Math" panose="02040503050406030204" pitchFamily="18" charset="0"/>
                                </a:rPr>
                              </m:ctrlPr>
                            </m:sSubPr>
                            <m:e>
                              <m:r>
                                <a:rPr lang="zh-CN" altLang="en-US" sz="1600" b="0" i="1">
                                  <a:solidFill>
                                    <a:schemeClr val="bg1"/>
                                  </a:solidFill>
                                  <a:latin typeface="Cambria Math" panose="02040503050406030204" pitchFamily="18" charset="0"/>
                                </a:rPr>
                                <m:t>𝑋</m:t>
                              </m:r>
                            </m:e>
                            <m:sub>
                              <m:r>
                                <a:rPr lang="zh-CN" altLang="en-US" sz="1600" b="0" i="1">
                                  <a:solidFill>
                                    <a:schemeClr val="bg1"/>
                                  </a:solidFill>
                                  <a:latin typeface="Cambria Math" panose="02040503050406030204" pitchFamily="18" charset="0"/>
                                </a:rPr>
                                <m:t>𝑟𝑡𝑡</m:t>
                              </m:r>
                            </m:sub>
                          </m:sSub>
                        </m:e>
                        <m:mo separator="true">,</m:mo>
                        <m:e>
                          <m:r>
                            <a:rPr lang="zh-CN" altLang="en-US" sz="1600" b="0" i="1">
                              <a:solidFill>
                                <a:schemeClr val="bg1"/>
                              </a:solidFill>
                              <a:latin typeface="Cambria Math" panose="02040503050406030204" pitchFamily="18" charset="0"/>
                            </a:rPr>
                            <m:t>𝑝</m:t>
                          </m:r>
                        </m:e>
                      </m:d>
                      <m:r>
                        <a:rPr lang="zh-CN" altLang="en-US" sz="1600" b="0" i="0">
                          <a:solidFill>
                            <a:schemeClr val="bg1"/>
                          </a:solidFill>
                          <a:latin typeface="Cambria Math" panose="02040503050406030204" pitchFamily="18" charset="0"/>
                        </a:rPr>
                        <m:t>+</m:t>
                      </m:r>
                      <m:r>
                        <a:rPr lang="zh-CN" altLang="en-US" sz="1600" b="0" i="0">
                          <a:solidFill>
                            <a:schemeClr val="bg1"/>
                          </a:solidFill>
                          <a:latin typeface="Cambria Math" panose="02040503050406030204" pitchFamily="18" charset="0"/>
                        </a:rPr>
                        <m:t>𝒩</m:t>
                      </m:r>
                      <m:d>
                        <m:dPr>
                          <m:sepChr m:val=","/>
                          <m:ctrlPr>
                            <a:rPr lang="zh-CN" altLang="en-US" sz="1600" b="0" i="1">
                              <a:solidFill>
                                <a:schemeClr val="bg1"/>
                              </a:solidFill>
                              <a:latin typeface="Cambria Math" panose="02040503050406030204" pitchFamily="18" charset="0"/>
                            </a:rPr>
                          </m:ctrlPr>
                        </m:dPr>
                        <m:e>
                          <m:r>
                            <a:rPr lang="zh-CN" altLang="en-US" sz="1600" b="0" i="0">
                              <a:solidFill>
                                <a:schemeClr val="bg1"/>
                              </a:solidFill>
                              <a:latin typeface="Cambria Math" panose="02040503050406030204" pitchFamily="18" charset="0"/>
                            </a:rPr>
                            <m:t>0</m:t>
                          </m:r>
                        </m:e>
                        <m:mo separator="true">,</m:mo>
                        <m:e>
                          <m:sSup>
                            <m:sSupPr>
                              <m:ctrlPr>
                                <a:rPr lang="zh-CN" altLang="en-US" sz="1600" b="0" i="1">
                                  <a:solidFill>
                                    <a:schemeClr val="bg1"/>
                                  </a:solidFill>
                                  <a:latin typeface="Cambria Math" panose="02040503050406030204" pitchFamily="18" charset="0"/>
                                </a:rPr>
                              </m:ctrlPr>
                            </m:sSupPr>
                            <m:e>
                              <m:r>
                                <a:rPr lang="zh-CN" altLang="en-US" sz="1600" b="0" i="1">
                                  <a:solidFill>
                                    <a:schemeClr val="bg1"/>
                                  </a:solidFill>
                                  <a:latin typeface="Cambria Math" panose="02040503050406030204" pitchFamily="18" charset="0"/>
                                </a:rPr>
                                <m:t>𝜎</m:t>
                              </m:r>
                            </m:e>
                            <m:sup>
                              <m:r>
                                <a:rPr lang="zh-CN" altLang="en-US" sz="1600" b="0" i="0">
                                  <a:solidFill>
                                    <a:schemeClr val="bg1"/>
                                  </a:solidFill>
                                  <a:latin typeface="Cambria Math" panose="02040503050406030204" pitchFamily="18" charset="0"/>
                                </a:rPr>
                                <m:t>2</m:t>
                              </m:r>
                            </m:sup>
                          </m:sSup>
                        </m:e>
                      </m:d>
                    </m:oMath>
                  </m:oMathPara>
                </a14:m>
                <a:endParaRPr lang="zh-CN" altLang="en-US" sz="1600" dirty="0"/>
              </a:p>
            </p:txBody>
          </p:sp>
        </mc:Choice>
        <mc:Fallback>
          <p:sp>
            <p:nvSpPr>
              <p:cNvPr id="70" name="文本框 69">
                <a:extLst>
                  <a:ext uri="{FF2B5EF4-FFF2-40B4-BE49-F238E27FC236}">
                    <a16:creationId xmlns:a16="http://schemas.microsoft.com/office/drawing/2014/main" id="{A428889C-4D40-FED5-B2F7-C8267B358DEA}"/>
                  </a:ext>
                </a:extLst>
              </p:cNvPr>
              <p:cNvSpPr txBox="1">
                <a:spLocks noRot="1" noChangeAspect="1" noMove="1" noResize="1" noEditPoints="1" noAdjustHandles="1" noChangeArrowheads="1" noChangeShapeType="1" noTextEdit="1"/>
              </p:cNvSpPr>
              <p:nvPr/>
            </p:nvSpPr>
            <p:spPr>
              <a:xfrm>
                <a:off x="736730" y="3072609"/>
                <a:ext cx="4571810" cy="370294"/>
              </a:xfrm>
              <a:prstGeom prst="rect">
                <a:avLst/>
              </a:prstGeom>
              <a:blipFill>
                <a:blip r:embed="rId5"/>
                <a:stretch>
                  <a:fillRect b="-1639"/>
                </a:stretch>
              </a:blipFill>
            </p:spPr>
            <p:txBody>
              <a:bodyPr/>
              <a:lstStyle/>
              <a:p>
                <a:r>
                  <a:rPr lang="zh-CN" altLang="en-US">
                    <a:noFill/>
                  </a:rPr>
                  <a:t> </a:t>
                </a:r>
              </a:p>
            </p:txBody>
          </p:sp>
        </mc:Fallback>
      </mc:AlternateContent>
      <p:sp>
        <p:nvSpPr>
          <p:cNvPr id="91" name="文本框 90">
            <a:extLst>
              <a:ext uri="{FF2B5EF4-FFF2-40B4-BE49-F238E27FC236}">
                <a16:creationId xmlns:a16="http://schemas.microsoft.com/office/drawing/2014/main" id="{5DC024A6-347A-6DED-74FB-6762EC15D749}"/>
              </a:ext>
            </a:extLst>
          </p:cNvPr>
          <p:cNvSpPr txBox="1"/>
          <p:nvPr/>
        </p:nvSpPr>
        <p:spPr>
          <a:xfrm>
            <a:off x="352564" y="4451290"/>
            <a:ext cx="5096483" cy="1184491"/>
          </a:xfrm>
          <a:prstGeom prst="rect">
            <a:avLst/>
          </a:prstGeom>
          <a:noFill/>
        </p:spPr>
        <p:txBody>
          <a:bodyPr wrap="square">
            <a:spAutoFit/>
          </a:bodyPr>
          <a:lstStyle/>
          <a:p>
            <a:pPr indent="304800" algn="l">
              <a:lnSpc>
                <a:spcPts val="2200"/>
              </a:lnSpc>
              <a:buNone/>
            </a:pPr>
            <a:r>
              <a:rPr lang="zh-CN" altLang="en-US" sz="1200" kern="100" dirty="0">
                <a:solidFill>
                  <a:schemeClr val="bg1"/>
                </a:solidFill>
                <a:latin typeface="Times New Roman" panose="02020603050405020304" pitchFamily="18" charset="0"/>
                <a:ea typeface="宋体" panose="02010600030101010101" pitchFamily="2" charset="-122"/>
              </a:rPr>
              <a:t>第二步：双流孪生</a:t>
            </a:r>
            <a:r>
              <a:rPr lang="en-US" altLang="zh-CN" sz="1200" kern="100" dirty="0">
                <a:solidFill>
                  <a:schemeClr val="bg1"/>
                </a:solidFill>
                <a:latin typeface="Times New Roman" panose="02020603050405020304" pitchFamily="18" charset="0"/>
                <a:ea typeface="宋体" panose="02010600030101010101" pitchFamily="2" charset="-122"/>
              </a:rPr>
              <a:t>Transformer</a:t>
            </a:r>
            <a:r>
              <a:rPr lang="zh-CN" altLang="en-US" sz="1200" kern="100" dirty="0">
                <a:solidFill>
                  <a:schemeClr val="bg1"/>
                </a:solidFill>
                <a:latin typeface="Times New Roman" panose="02020603050405020304" pitchFamily="18" charset="0"/>
                <a:ea typeface="宋体" panose="02010600030101010101" pitchFamily="2" charset="-122"/>
              </a:rPr>
              <a:t>编码为了捕捉长程依赖并映射异构数据，构建共享权重的双流编码器。采用</a:t>
            </a:r>
            <a:r>
              <a:rPr lang="en-US" altLang="zh-CN" sz="1200" kern="100" dirty="0">
                <a:solidFill>
                  <a:schemeClr val="bg1"/>
                </a:solidFill>
                <a:latin typeface="Times New Roman" panose="02020603050405020304" pitchFamily="18" charset="0"/>
                <a:ea typeface="宋体" panose="02010600030101010101" pitchFamily="2" charset="-122"/>
              </a:rPr>
              <a:t>Transformer Encoder</a:t>
            </a:r>
            <a:r>
              <a:rPr lang="zh-CN" altLang="en-US" sz="1200" kern="100" dirty="0">
                <a:solidFill>
                  <a:schemeClr val="bg1"/>
                </a:solidFill>
                <a:latin typeface="Times New Roman" panose="02020603050405020304" pitchFamily="18" charset="0"/>
                <a:ea typeface="宋体" panose="02010600030101010101" pitchFamily="2" charset="-122"/>
              </a:rPr>
              <a:t>作为骨干网络，利用多头自注意力机制并行处理增强后的视图。对于输入序列           ，第 层的计算过程如下：</a:t>
            </a:r>
            <a:endParaRPr lang="en-US" altLang="zh-CN" sz="1200" kern="100" dirty="0">
              <a:solidFill>
                <a:schemeClr val="bg1"/>
              </a:solidFill>
              <a:latin typeface="Times New Roman" panose="02020603050405020304"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93" name="文本框 92">
                <a:extLst>
                  <a:ext uri="{FF2B5EF4-FFF2-40B4-BE49-F238E27FC236}">
                    <a16:creationId xmlns:a16="http://schemas.microsoft.com/office/drawing/2014/main" id="{FC528A66-EE15-59EE-83A1-085415B21F21}"/>
                  </a:ext>
                </a:extLst>
              </p:cNvPr>
              <p:cNvSpPr txBox="1"/>
              <p:nvPr/>
            </p:nvSpPr>
            <p:spPr>
              <a:xfrm>
                <a:off x="4339643" y="5064150"/>
                <a:ext cx="497568" cy="2895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200" i="1" smtClean="0">
                              <a:solidFill>
                                <a:schemeClr val="bg1"/>
                              </a:solidFill>
                              <a:latin typeface="Cambria Math" panose="02040503050406030204" pitchFamily="18" charset="0"/>
                            </a:rPr>
                          </m:ctrlPr>
                        </m:sSupPr>
                        <m:e>
                          <m:r>
                            <a:rPr lang="zh-CN" altLang="en-US" sz="1200" i="1">
                              <a:solidFill>
                                <a:schemeClr val="bg1"/>
                              </a:solidFill>
                              <a:latin typeface="Cambria Math" panose="02040503050406030204" pitchFamily="18" charset="0"/>
                            </a:rPr>
                            <m:t>𝐻</m:t>
                          </m:r>
                        </m:e>
                        <m:sup>
                          <m:d>
                            <m:dPr>
                              <m:ctrlPr>
                                <a:rPr lang="zh-CN" altLang="en-US" sz="1200" i="1">
                                  <a:solidFill>
                                    <a:schemeClr val="bg1"/>
                                  </a:solidFill>
                                  <a:latin typeface="Cambria Math" panose="02040503050406030204" pitchFamily="18" charset="0"/>
                                </a:rPr>
                              </m:ctrlPr>
                            </m:dPr>
                            <m:e>
                              <m:r>
                                <a:rPr lang="zh-CN" altLang="en-US" sz="1200" i="1">
                                  <a:solidFill>
                                    <a:schemeClr val="bg1"/>
                                  </a:solidFill>
                                  <a:latin typeface="Cambria Math" panose="02040503050406030204" pitchFamily="18" charset="0"/>
                                </a:rPr>
                                <m:t>𝑙</m:t>
                              </m:r>
                              <m:r>
                                <a:rPr lang="zh-CN" altLang="en-US" sz="1200" i="0">
                                  <a:solidFill>
                                    <a:schemeClr val="bg1"/>
                                  </a:solidFill>
                                  <a:latin typeface="Cambria Math" panose="02040503050406030204" pitchFamily="18" charset="0"/>
                                </a:rPr>
                                <m:t>−1</m:t>
                              </m:r>
                            </m:e>
                          </m:d>
                        </m:sup>
                      </m:sSup>
                    </m:oMath>
                  </m:oMathPara>
                </a14:m>
                <a:endParaRPr lang="zh-CN" altLang="en-US" sz="1200" dirty="0"/>
              </a:p>
            </p:txBody>
          </p:sp>
        </mc:Choice>
        <mc:Fallback>
          <p:sp>
            <p:nvSpPr>
              <p:cNvPr id="93" name="文本框 92">
                <a:extLst>
                  <a:ext uri="{FF2B5EF4-FFF2-40B4-BE49-F238E27FC236}">
                    <a16:creationId xmlns:a16="http://schemas.microsoft.com/office/drawing/2014/main" id="{FC528A66-EE15-59EE-83A1-085415B21F21}"/>
                  </a:ext>
                </a:extLst>
              </p:cNvPr>
              <p:cNvSpPr txBox="1">
                <a:spLocks noRot="1" noChangeAspect="1" noMove="1" noResize="1" noEditPoints="1" noAdjustHandles="1" noChangeArrowheads="1" noChangeShapeType="1" noTextEdit="1"/>
              </p:cNvSpPr>
              <p:nvPr/>
            </p:nvSpPr>
            <p:spPr>
              <a:xfrm>
                <a:off x="4339643" y="5064150"/>
                <a:ext cx="497568" cy="28950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5" name="文本框 94">
                <a:extLst>
                  <a:ext uri="{FF2B5EF4-FFF2-40B4-BE49-F238E27FC236}">
                    <a16:creationId xmlns:a16="http://schemas.microsoft.com/office/drawing/2014/main" id="{2B38E8C6-9F91-D46C-AC4A-8D84E06FCCCF}"/>
                  </a:ext>
                </a:extLst>
              </p:cNvPr>
              <p:cNvSpPr txBox="1"/>
              <p:nvPr/>
            </p:nvSpPr>
            <p:spPr>
              <a:xfrm>
                <a:off x="5041317" y="5076654"/>
                <a:ext cx="217063"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solidFill>
                            <a:schemeClr val="bg1"/>
                          </a:solidFill>
                          <a:latin typeface="Cambria Math" panose="02040503050406030204" pitchFamily="18" charset="0"/>
                        </a:rPr>
                        <m:t>𝑙</m:t>
                      </m:r>
                    </m:oMath>
                  </m:oMathPara>
                </a14:m>
                <a:endParaRPr lang="zh-CN" altLang="en-US" sz="1200" dirty="0">
                  <a:solidFill>
                    <a:schemeClr val="bg1"/>
                  </a:solidFill>
                </a:endParaRPr>
              </a:p>
            </p:txBody>
          </p:sp>
        </mc:Choice>
        <mc:Fallback>
          <p:sp>
            <p:nvSpPr>
              <p:cNvPr id="95" name="文本框 94">
                <a:extLst>
                  <a:ext uri="{FF2B5EF4-FFF2-40B4-BE49-F238E27FC236}">
                    <a16:creationId xmlns:a16="http://schemas.microsoft.com/office/drawing/2014/main" id="{2B38E8C6-9F91-D46C-AC4A-8D84E06FCCCF}"/>
                  </a:ext>
                </a:extLst>
              </p:cNvPr>
              <p:cNvSpPr txBox="1">
                <a:spLocks noRot="1" noChangeAspect="1" noMove="1" noResize="1" noEditPoints="1" noAdjustHandles="1" noChangeArrowheads="1" noChangeShapeType="1" noTextEdit="1"/>
              </p:cNvSpPr>
              <p:nvPr/>
            </p:nvSpPr>
            <p:spPr>
              <a:xfrm>
                <a:off x="5041317" y="5076654"/>
                <a:ext cx="217063" cy="2769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1" name="文本框 110">
                <a:extLst>
                  <a:ext uri="{FF2B5EF4-FFF2-40B4-BE49-F238E27FC236}">
                    <a16:creationId xmlns:a16="http://schemas.microsoft.com/office/drawing/2014/main" id="{F2B3C2D6-7496-7F4E-8F6E-9A703439D1F2}"/>
                  </a:ext>
                </a:extLst>
              </p:cNvPr>
              <p:cNvSpPr txBox="1"/>
              <p:nvPr/>
            </p:nvSpPr>
            <p:spPr>
              <a:xfrm>
                <a:off x="544647" y="5296709"/>
                <a:ext cx="5762624" cy="7287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1600" i="1">
                          <a:solidFill>
                            <a:schemeClr val="bg1"/>
                          </a:solidFill>
                          <a:latin typeface="Cambria Math" panose="02040503050406030204" pitchFamily="18" charset="0"/>
                        </a:rPr>
                        <m:t>Attention</m:t>
                      </m:r>
                      <m:d>
                        <m:dPr>
                          <m:sepChr m:val=","/>
                          <m:ctrlPr>
                            <a:rPr lang="zh-CN" altLang="en-US" sz="1600" i="1">
                              <a:solidFill>
                                <a:schemeClr val="bg1"/>
                              </a:solidFill>
                              <a:latin typeface="Cambria Math" panose="02040503050406030204" pitchFamily="18" charset="0"/>
                            </a:rPr>
                          </m:ctrlPr>
                        </m:dPr>
                        <m:e>
                          <m:r>
                            <a:rPr lang="zh-CN" altLang="en-US" sz="1600" i="1">
                              <a:solidFill>
                                <a:schemeClr val="bg1"/>
                              </a:solidFill>
                              <a:latin typeface="Cambria Math" panose="02040503050406030204" pitchFamily="18" charset="0"/>
                            </a:rPr>
                            <m:t>𝑄</m:t>
                          </m:r>
                        </m:e>
                        <m:mo separator="true">,</m:mo>
                        <m:e>
                          <m:r>
                            <a:rPr lang="zh-CN" altLang="en-US" sz="1600" i="1">
                              <a:solidFill>
                                <a:schemeClr val="bg1"/>
                              </a:solidFill>
                              <a:latin typeface="Cambria Math" panose="02040503050406030204" pitchFamily="18" charset="0"/>
                            </a:rPr>
                            <m:t>𝐾</m:t>
                          </m:r>
                        </m:e>
                        <m:mo separator="true">,</m:mo>
                        <m:e>
                          <m:r>
                            <a:rPr lang="zh-CN" altLang="en-US" sz="1600" i="1">
                              <a:solidFill>
                                <a:schemeClr val="bg1"/>
                              </a:solidFill>
                              <a:latin typeface="Cambria Math" panose="02040503050406030204" pitchFamily="18" charset="0"/>
                            </a:rPr>
                            <m:t>𝑉</m:t>
                          </m:r>
                        </m:e>
                      </m:d>
                      <m:r>
                        <a:rPr lang="zh-CN" altLang="en-US" sz="1600" i="1">
                          <a:solidFill>
                            <a:schemeClr val="bg1"/>
                          </a:solidFill>
                          <a:latin typeface="Cambria Math" panose="02040503050406030204" pitchFamily="18" charset="0"/>
                        </a:rPr>
                        <m:t>=</m:t>
                      </m:r>
                      <m:r>
                        <m:rPr>
                          <m:nor/>
                        </m:rPr>
                        <a:rPr lang="zh-CN" altLang="en-US" sz="1600" i="1">
                          <a:solidFill>
                            <a:schemeClr val="bg1"/>
                          </a:solidFill>
                          <a:latin typeface="Cambria Math" panose="02040503050406030204" pitchFamily="18" charset="0"/>
                        </a:rPr>
                        <m:t>softmax</m:t>
                      </m:r>
                      <m:d>
                        <m:dPr>
                          <m:ctrlPr>
                            <a:rPr lang="zh-CN" altLang="en-US" sz="1600" i="1">
                              <a:solidFill>
                                <a:schemeClr val="bg1"/>
                              </a:solidFill>
                              <a:latin typeface="Cambria Math" panose="02040503050406030204" pitchFamily="18" charset="0"/>
                            </a:rPr>
                          </m:ctrlPr>
                        </m:dPr>
                        <m:e>
                          <m:f>
                            <m:fPr>
                              <m:ctrlPr>
                                <a:rPr lang="zh-CN" altLang="en-US" sz="1600" i="1">
                                  <a:solidFill>
                                    <a:schemeClr val="bg1"/>
                                  </a:solidFill>
                                  <a:latin typeface="Cambria Math" panose="02040503050406030204" pitchFamily="18" charset="0"/>
                                </a:rPr>
                              </m:ctrlPr>
                            </m:fPr>
                            <m:num>
                              <m:r>
                                <a:rPr lang="zh-CN" altLang="en-US" sz="1600" i="1">
                                  <a:solidFill>
                                    <a:schemeClr val="bg1"/>
                                  </a:solidFill>
                                  <a:latin typeface="Cambria Math" panose="02040503050406030204" pitchFamily="18" charset="0"/>
                                </a:rPr>
                                <m:t>𝑄</m:t>
                              </m:r>
                              <m:sSup>
                                <m:sSupPr>
                                  <m:ctrlPr>
                                    <a:rPr lang="zh-CN" altLang="en-US" sz="1600" i="1">
                                      <a:solidFill>
                                        <a:schemeClr val="bg1"/>
                                      </a:solidFill>
                                      <a:latin typeface="Cambria Math" panose="02040503050406030204" pitchFamily="18" charset="0"/>
                                    </a:rPr>
                                  </m:ctrlPr>
                                </m:sSupPr>
                                <m:e>
                                  <m:r>
                                    <a:rPr lang="zh-CN" altLang="en-US" sz="1600" i="1">
                                      <a:solidFill>
                                        <a:schemeClr val="bg1"/>
                                      </a:solidFill>
                                      <a:latin typeface="Cambria Math" panose="02040503050406030204" pitchFamily="18" charset="0"/>
                                    </a:rPr>
                                    <m:t>𝐾</m:t>
                                  </m:r>
                                </m:e>
                                <m:sup>
                                  <m:r>
                                    <a:rPr lang="zh-CN" altLang="en-US" sz="1600" i="1">
                                      <a:solidFill>
                                        <a:schemeClr val="bg1"/>
                                      </a:solidFill>
                                      <a:latin typeface="Cambria Math" panose="02040503050406030204" pitchFamily="18" charset="0"/>
                                    </a:rPr>
                                    <m:t>𝑇</m:t>
                                  </m:r>
                                </m:sup>
                              </m:sSup>
                            </m:num>
                            <m:den>
                              <m:rad>
                                <m:radPr>
                                  <m:degHide m:val="on"/>
                                  <m:ctrlPr>
                                    <a:rPr lang="zh-CN" altLang="en-US" sz="1600" i="1">
                                      <a:solidFill>
                                        <a:schemeClr val="bg1"/>
                                      </a:solidFill>
                                      <a:latin typeface="Cambria Math" panose="02040503050406030204" pitchFamily="18" charset="0"/>
                                    </a:rPr>
                                  </m:ctrlPr>
                                </m:radPr>
                                <m:deg/>
                                <m:e>
                                  <m:sSub>
                                    <m:sSubPr>
                                      <m:ctrlPr>
                                        <a:rPr lang="zh-CN" altLang="en-US" sz="1600" i="1">
                                          <a:solidFill>
                                            <a:schemeClr val="bg1"/>
                                          </a:solidFill>
                                          <a:latin typeface="Cambria Math" panose="02040503050406030204" pitchFamily="18" charset="0"/>
                                        </a:rPr>
                                      </m:ctrlPr>
                                    </m:sSubPr>
                                    <m:e>
                                      <m:r>
                                        <a:rPr lang="zh-CN" altLang="en-US" sz="1600" i="1">
                                          <a:solidFill>
                                            <a:schemeClr val="bg1"/>
                                          </a:solidFill>
                                          <a:latin typeface="Cambria Math" panose="02040503050406030204" pitchFamily="18" charset="0"/>
                                        </a:rPr>
                                        <m:t>𝑑</m:t>
                                      </m:r>
                                    </m:e>
                                    <m:sub>
                                      <m:r>
                                        <a:rPr lang="zh-CN" altLang="en-US" sz="1600" i="1">
                                          <a:solidFill>
                                            <a:schemeClr val="bg1"/>
                                          </a:solidFill>
                                          <a:latin typeface="Cambria Math" panose="02040503050406030204" pitchFamily="18" charset="0"/>
                                        </a:rPr>
                                        <m:t>𝑘</m:t>
                                      </m:r>
                                    </m:sub>
                                  </m:sSub>
                                </m:e>
                              </m:rad>
                            </m:den>
                          </m:f>
                        </m:e>
                      </m:d>
                      <m:r>
                        <a:rPr lang="zh-CN" altLang="en-US" sz="1600" i="1">
                          <a:solidFill>
                            <a:schemeClr val="bg1"/>
                          </a:solidFill>
                          <a:latin typeface="Cambria Math" panose="02040503050406030204" pitchFamily="18" charset="0"/>
                        </a:rPr>
                        <m:t>𝑉</m:t>
                      </m:r>
                    </m:oMath>
                  </m:oMathPara>
                </a14:m>
                <a:endParaRPr lang="zh-CN" altLang="en-US" sz="1600" i="1" dirty="0">
                  <a:solidFill>
                    <a:schemeClr val="bg1"/>
                  </a:solidFill>
                  <a:latin typeface="Cambria Math" panose="02040503050406030204" pitchFamily="18" charset="0"/>
                </a:endParaRPr>
              </a:p>
            </p:txBody>
          </p:sp>
        </mc:Choice>
        <mc:Fallback>
          <p:sp>
            <p:nvSpPr>
              <p:cNvPr id="111" name="文本框 110">
                <a:extLst>
                  <a:ext uri="{FF2B5EF4-FFF2-40B4-BE49-F238E27FC236}">
                    <a16:creationId xmlns:a16="http://schemas.microsoft.com/office/drawing/2014/main" id="{F2B3C2D6-7496-7F4E-8F6E-9A703439D1F2}"/>
                  </a:ext>
                </a:extLst>
              </p:cNvPr>
              <p:cNvSpPr txBox="1">
                <a:spLocks noRot="1" noChangeAspect="1" noMove="1" noResize="1" noEditPoints="1" noAdjustHandles="1" noChangeArrowheads="1" noChangeShapeType="1" noTextEdit="1"/>
              </p:cNvSpPr>
              <p:nvPr/>
            </p:nvSpPr>
            <p:spPr>
              <a:xfrm>
                <a:off x="544647" y="5296709"/>
                <a:ext cx="5762624" cy="72872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7" name="文本框 116">
                <a:extLst>
                  <a:ext uri="{FF2B5EF4-FFF2-40B4-BE49-F238E27FC236}">
                    <a16:creationId xmlns:a16="http://schemas.microsoft.com/office/drawing/2014/main" id="{8588F46E-350D-1D13-2121-473865C6EFCE}"/>
                  </a:ext>
                </a:extLst>
              </p:cNvPr>
              <p:cNvSpPr txBox="1"/>
              <p:nvPr/>
            </p:nvSpPr>
            <p:spPr>
              <a:xfrm>
                <a:off x="736730" y="5886769"/>
                <a:ext cx="5762624" cy="4608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600" i="1" smtClean="0">
                              <a:solidFill>
                                <a:schemeClr val="bg1"/>
                              </a:solidFill>
                              <a:latin typeface="Cambria Math" panose="02040503050406030204" pitchFamily="18" charset="0"/>
                            </a:rPr>
                          </m:ctrlPr>
                        </m:sSupPr>
                        <m:e>
                          <m:r>
                            <a:rPr lang="zh-CN" altLang="en-US" sz="1600" i="1">
                              <a:solidFill>
                                <a:schemeClr val="bg1"/>
                              </a:solidFill>
                              <a:latin typeface="Cambria Math" panose="02040503050406030204" pitchFamily="18" charset="0"/>
                            </a:rPr>
                            <m:t>𝐻</m:t>
                          </m:r>
                        </m:e>
                        <m:sup>
                          <m:d>
                            <m:dPr>
                              <m:ctrlPr>
                                <a:rPr lang="zh-CN" altLang="en-US" sz="1600" i="1">
                                  <a:solidFill>
                                    <a:schemeClr val="bg1"/>
                                  </a:solidFill>
                                  <a:latin typeface="Cambria Math" panose="02040503050406030204" pitchFamily="18" charset="0"/>
                                </a:rPr>
                              </m:ctrlPr>
                            </m:dPr>
                            <m:e>
                              <m:r>
                                <a:rPr lang="zh-CN" altLang="en-US" sz="1600" i="1">
                                  <a:solidFill>
                                    <a:schemeClr val="bg1"/>
                                  </a:solidFill>
                                  <a:latin typeface="Cambria Math" panose="02040503050406030204" pitchFamily="18" charset="0"/>
                                </a:rPr>
                                <m:t>𝑙</m:t>
                              </m:r>
                            </m:e>
                          </m:d>
                        </m:sup>
                      </m:sSup>
                      <m:r>
                        <a:rPr lang="zh-CN" altLang="en-US" sz="1600" i="0">
                          <a:solidFill>
                            <a:schemeClr val="bg1"/>
                          </a:solidFill>
                          <a:latin typeface="Cambria Math" panose="02040503050406030204" pitchFamily="18" charset="0"/>
                        </a:rPr>
                        <m:t>=</m:t>
                      </m:r>
                      <m:r>
                        <m:rPr>
                          <m:nor/>
                        </m:rPr>
                        <a:rPr lang="zh-CN" altLang="en-US" sz="1600" b="0" i="1">
                          <a:solidFill>
                            <a:schemeClr val="bg1"/>
                          </a:solidFill>
                          <a:latin typeface="Cambria Math" panose="02040503050406030204" pitchFamily="18" charset="0"/>
                        </a:rPr>
                        <m:t>LayerNorm</m:t>
                      </m:r>
                      <m:d>
                        <m:dPr>
                          <m:ctrlPr>
                            <a:rPr lang="zh-CN" altLang="en-US" sz="1600" b="0" i="1">
                              <a:solidFill>
                                <a:schemeClr val="bg1"/>
                              </a:solidFill>
                              <a:latin typeface="Cambria Math" panose="02040503050406030204" pitchFamily="18" charset="0"/>
                            </a:rPr>
                          </m:ctrlPr>
                        </m:dPr>
                        <m:e>
                          <m:sSup>
                            <m:sSupPr>
                              <m:ctrlPr>
                                <a:rPr lang="zh-CN" altLang="en-US" sz="1600" b="0" i="1">
                                  <a:solidFill>
                                    <a:schemeClr val="bg1"/>
                                  </a:solidFill>
                                  <a:latin typeface="Cambria Math" panose="02040503050406030204" pitchFamily="18" charset="0"/>
                                </a:rPr>
                              </m:ctrlPr>
                            </m:sSupPr>
                            <m:e>
                              <m:r>
                                <a:rPr lang="zh-CN" altLang="en-US" sz="1600" b="0" i="1">
                                  <a:solidFill>
                                    <a:schemeClr val="bg1"/>
                                  </a:solidFill>
                                  <a:latin typeface="Cambria Math" panose="02040503050406030204" pitchFamily="18" charset="0"/>
                                </a:rPr>
                                <m:t>𝐻</m:t>
                              </m:r>
                            </m:e>
                            <m:sup>
                              <m:d>
                                <m:dPr>
                                  <m:ctrlPr>
                                    <a:rPr lang="zh-CN" altLang="en-US" sz="1600" b="0" i="1">
                                      <a:solidFill>
                                        <a:schemeClr val="bg1"/>
                                      </a:solidFill>
                                      <a:latin typeface="Cambria Math" panose="02040503050406030204" pitchFamily="18" charset="0"/>
                                    </a:rPr>
                                  </m:ctrlPr>
                                </m:dPr>
                                <m:e>
                                  <m:r>
                                    <a:rPr lang="zh-CN" altLang="en-US" sz="1600" b="0" i="1">
                                      <a:solidFill>
                                        <a:schemeClr val="bg1"/>
                                      </a:solidFill>
                                      <a:latin typeface="Cambria Math" panose="02040503050406030204" pitchFamily="18" charset="0"/>
                                    </a:rPr>
                                    <m:t>𝑙</m:t>
                                  </m:r>
                                  <m:r>
                                    <a:rPr lang="zh-CN" altLang="en-US" sz="1600" b="0" i="0">
                                      <a:solidFill>
                                        <a:schemeClr val="bg1"/>
                                      </a:solidFill>
                                      <a:latin typeface="Cambria Math" panose="02040503050406030204" pitchFamily="18" charset="0"/>
                                    </a:rPr>
                                    <m:t>−1</m:t>
                                  </m:r>
                                </m:e>
                              </m:d>
                            </m:sup>
                          </m:sSup>
                          <m:r>
                            <a:rPr lang="zh-CN" altLang="en-US" sz="1600" b="0" i="0">
                              <a:solidFill>
                                <a:schemeClr val="bg1"/>
                              </a:solidFill>
                              <a:latin typeface="Cambria Math" panose="02040503050406030204" pitchFamily="18" charset="0"/>
                            </a:rPr>
                            <m:t>+</m:t>
                          </m:r>
                          <m:r>
                            <m:rPr>
                              <m:nor/>
                            </m:rPr>
                            <a:rPr lang="zh-CN" altLang="en-US" sz="1600" b="0" i="1">
                              <a:solidFill>
                                <a:schemeClr val="bg1"/>
                              </a:solidFill>
                              <a:latin typeface="Cambria Math" panose="02040503050406030204" pitchFamily="18" charset="0"/>
                            </a:rPr>
                            <m:t>MHSA</m:t>
                          </m:r>
                          <m:d>
                            <m:dPr>
                              <m:ctrlPr>
                                <a:rPr lang="zh-CN" altLang="en-US" sz="1600" b="0" i="1">
                                  <a:solidFill>
                                    <a:schemeClr val="bg1"/>
                                  </a:solidFill>
                                  <a:latin typeface="Cambria Math" panose="02040503050406030204" pitchFamily="18" charset="0"/>
                                </a:rPr>
                              </m:ctrlPr>
                            </m:dPr>
                            <m:e>
                              <m:sSup>
                                <m:sSupPr>
                                  <m:ctrlPr>
                                    <a:rPr lang="zh-CN" altLang="en-US" sz="1600" b="0" i="1">
                                      <a:solidFill>
                                        <a:schemeClr val="bg1"/>
                                      </a:solidFill>
                                      <a:latin typeface="Cambria Math" panose="02040503050406030204" pitchFamily="18" charset="0"/>
                                    </a:rPr>
                                  </m:ctrlPr>
                                </m:sSupPr>
                                <m:e>
                                  <m:r>
                                    <a:rPr lang="zh-CN" altLang="en-US" sz="1600" b="0" i="1">
                                      <a:solidFill>
                                        <a:schemeClr val="bg1"/>
                                      </a:solidFill>
                                      <a:latin typeface="Cambria Math" panose="02040503050406030204" pitchFamily="18" charset="0"/>
                                    </a:rPr>
                                    <m:t>𝐻</m:t>
                                  </m:r>
                                </m:e>
                                <m:sup>
                                  <m:d>
                                    <m:dPr>
                                      <m:ctrlPr>
                                        <a:rPr lang="zh-CN" altLang="en-US" sz="1600" b="0" i="1">
                                          <a:solidFill>
                                            <a:schemeClr val="bg1"/>
                                          </a:solidFill>
                                          <a:latin typeface="Cambria Math" panose="02040503050406030204" pitchFamily="18" charset="0"/>
                                        </a:rPr>
                                      </m:ctrlPr>
                                    </m:dPr>
                                    <m:e>
                                      <m:r>
                                        <a:rPr lang="zh-CN" altLang="en-US" sz="1600" b="0" i="1">
                                          <a:solidFill>
                                            <a:schemeClr val="bg1"/>
                                          </a:solidFill>
                                          <a:latin typeface="Cambria Math" panose="02040503050406030204" pitchFamily="18" charset="0"/>
                                        </a:rPr>
                                        <m:t>𝑙</m:t>
                                      </m:r>
                                      <m:r>
                                        <a:rPr lang="zh-CN" altLang="en-US" sz="1600" b="0" i="0">
                                          <a:solidFill>
                                            <a:schemeClr val="bg1"/>
                                          </a:solidFill>
                                          <a:latin typeface="Cambria Math" panose="02040503050406030204" pitchFamily="18" charset="0"/>
                                        </a:rPr>
                                        <m:t>−1</m:t>
                                      </m:r>
                                    </m:e>
                                  </m:d>
                                </m:sup>
                              </m:sSup>
                            </m:e>
                          </m:d>
                        </m:e>
                      </m:d>
                    </m:oMath>
                  </m:oMathPara>
                </a14:m>
                <a:endParaRPr lang="zh-CN" altLang="en-US" sz="1600" dirty="0">
                  <a:solidFill>
                    <a:schemeClr val="bg1"/>
                  </a:solidFill>
                </a:endParaRPr>
              </a:p>
            </p:txBody>
          </p:sp>
        </mc:Choice>
        <mc:Fallback>
          <p:sp>
            <p:nvSpPr>
              <p:cNvPr id="117" name="文本框 116">
                <a:extLst>
                  <a:ext uri="{FF2B5EF4-FFF2-40B4-BE49-F238E27FC236}">
                    <a16:creationId xmlns:a16="http://schemas.microsoft.com/office/drawing/2014/main" id="{8588F46E-350D-1D13-2121-473865C6EFCE}"/>
                  </a:ext>
                </a:extLst>
              </p:cNvPr>
              <p:cNvSpPr txBox="1">
                <a:spLocks noRot="1" noChangeAspect="1" noMove="1" noResize="1" noEditPoints="1" noAdjustHandles="1" noChangeArrowheads="1" noChangeShapeType="1" noTextEdit="1"/>
              </p:cNvSpPr>
              <p:nvPr/>
            </p:nvSpPr>
            <p:spPr>
              <a:xfrm>
                <a:off x="736730" y="5886769"/>
                <a:ext cx="5762624" cy="4608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0" name="文本框 149">
                <a:extLst>
                  <a:ext uri="{FF2B5EF4-FFF2-40B4-BE49-F238E27FC236}">
                    <a16:creationId xmlns:a16="http://schemas.microsoft.com/office/drawing/2014/main" id="{7C1F9EBA-6B38-9C57-D7E5-49CC81040480}"/>
                  </a:ext>
                </a:extLst>
              </p:cNvPr>
              <p:cNvSpPr txBox="1"/>
              <p:nvPr/>
            </p:nvSpPr>
            <p:spPr>
              <a:xfrm>
                <a:off x="6855619" y="2238269"/>
                <a:ext cx="521494"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sepChr m:val=","/>
                          <m:ctrlPr>
                            <a:rPr lang="zh-CN" altLang="en-US" sz="1200" i="1">
                              <a:solidFill>
                                <a:schemeClr val="bg1"/>
                              </a:solidFill>
                              <a:latin typeface="Cambria Math" panose="02040503050406030204" pitchFamily="18" charset="0"/>
                            </a:rPr>
                          </m:ctrlPr>
                        </m:dPr>
                        <m:e>
                          <m:sSub>
                            <m:sSubPr>
                              <m:ctrlPr>
                                <a:rPr lang="zh-CN" altLang="en-US" sz="1200" i="1">
                                  <a:solidFill>
                                    <a:schemeClr val="bg1"/>
                                  </a:solidFill>
                                  <a:latin typeface="Cambria Math" panose="02040503050406030204" pitchFamily="18" charset="0"/>
                                </a:rPr>
                              </m:ctrlPr>
                            </m:sSubPr>
                            <m:e>
                              <m:r>
                                <a:rPr lang="zh-CN" altLang="en-US" sz="1200" i="1">
                                  <a:solidFill>
                                    <a:schemeClr val="bg1"/>
                                  </a:solidFill>
                                  <a:latin typeface="Cambria Math" panose="02040503050406030204" pitchFamily="18" charset="0"/>
                                </a:rPr>
                                <m:t>𝐳</m:t>
                              </m:r>
                            </m:e>
                            <m:sub>
                              <m:r>
                                <a:rPr lang="zh-CN" altLang="en-US" sz="1200" i="1">
                                  <a:solidFill>
                                    <a:schemeClr val="bg1"/>
                                  </a:solidFill>
                                  <a:latin typeface="Cambria Math" panose="02040503050406030204" pitchFamily="18" charset="0"/>
                                </a:rPr>
                                <m:t>𝑡</m:t>
                              </m:r>
                            </m:sub>
                          </m:sSub>
                        </m:e>
                        <m:mo separator="true">,</m:mo>
                        <m:e>
                          <m:sSub>
                            <m:sSubPr>
                              <m:ctrlPr>
                                <a:rPr lang="zh-CN" altLang="en-US" sz="1200" i="1">
                                  <a:solidFill>
                                    <a:schemeClr val="bg1"/>
                                  </a:solidFill>
                                  <a:latin typeface="Cambria Math" panose="02040503050406030204" pitchFamily="18" charset="0"/>
                                </a:rPr>
                              </m:ctrlPr>
                            </m:sSubPr>
                            <m:e>
                              <m:r>
                                <a:rPr lang="zh-CN" altLang="en-US" sz="1200" i="1">
                                  <a:solidFill>
                                    <a:schemeClr val="bg1"/>
                                  </a:solidFill>
                                  <a:latin typeface="Cambria Math" panose="02040503050406030204" pitchFamily="18" charset="0"/>
                                </a:rPr>
                                <m:t>𝐳</m:t>
                              </m:r>
                            </m:e>
                            <m:sub>
                              <m:r>
                                <a:rPr lang="zh-CN" altLang="en-US" sz="1200" i="1">
                                  <a:solidFill>
                                    <a:schemeClr val="bg1"/>
                                  </a:solidFill>
                                  <a:latin typeface="Cambria Math" panose="02040503050406030204" pitchFamily="18" charset="0"/>
                                </a:rPr>
                                <m:t>𝑠</m:t>
                              </m:r>
                            </m:sub>
                          </m:sSub>
                        </m:e>
                      </m:d>
                    </m:oMath>
                  </m:oMathPara>
                </a14:m>
                <a:endParaRPr lang="zh-CN" altLang="en-US" sz="1200" i="1" dirty="0">
                  <a:solidFill>
                    <a:schemeClr val="bg1"/>
                  </a:solidFill>
                  <a:latin typeface="Cambria Math" panose="02040503050406030204" pitchFamily="18" charset="0"/>
                </a:endParaRPr>
              </a:p>
            </p:txBody>
          </p:sp>
        </mc:Choice>
        <mc:Fallback>
          <p:sp>
            <p:nvSpPr>
              <p:cNvPr id="150" name="文本框 149">
                <a:extLst>
                  <a:ext uri="{FF2B5EF4-FFF2-40B4-BE49-F238E27FC236}">
                    <a16:creationId xmlns:a16="http://schemas.microsoft.com/office/drawing/2014/main" id="{7C1F9EBA-6B38-9C57-D7E5-49CC81040480}"/>
                  </a:ext>
                </a:extLst>
              </p:cNvPr>
              <p:cNvSpPr txBox="1">
                <a:spLocks noRot="1" noChangeAspect="1" noMove="1" noResize="1" noEditPoints="1" noAdjustHandles="1" noChangeArrowheads="1" noChangeShapeType="1" noTextEdit="1"/>
              </p:cNvSpPr>
              <p:nvPr/>
            </p:nvSpPr>
            <p:spPr>
              <a:xfrm>
                <a:off x="6855619" y="2238269"/>
                <a:ext cx="521494" cy="276999"/>
              </a:xfrm>
              <a:prstGeom prst="rect">
                <a:avLst/>
              </a:prstGeom>
              <a:blipFill>
                <a:blip r:embed="rId10"/>
                <a:stretch>
                  <a:fillRect r="-23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2" name="文本框 151">
                <a:extLst>
                  <a:ext uri="{FF2B5EF4-FFF2-40B4-BE49-F238E27FC236}">
                    <a16:creationId xmlns:a16="http://schemas.microsoft.com/office/drawing/2014/main" id="{CAD51CB8-5771-8AD6-00D6-3E739E0C3631}"/>
                  </a:ext>
                </a:extLst>
              </p:cNvPr>
              <p:cNvSpPr txBox="1"/>
              <p:nvPr/>
            </p:nvSpPr>
            <p:spPr>
              <a:xfrm>
                <a:off x="8719503" y="2239065"/>
                <a:ext cx="813434"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smtClean="0">
                          <a:solidFill>
                            <a:schemeClr val="bg1"/>
                          </a:solidFill>
                          <a:latin typeface="Cambria Math" panose="02040503050406030204" pitchFamily="18" charset="0"/>
                        </a:rPr>
                        <m:t>2</m:t>
                      </m:r>
                      <m:d>
                        <m:dPr>
                          <m:ctrlPr>
                            <a:rPr lang="zh-CN" altLang="en-US" sz="1200" i="1">
                              <a:solidFill>
                                <a:schemeClr val="bg1"/>
                              </a:solidFill>
                              <a:latin typeface="Cambria Math" panose="02040503050406030204" pitchFamily="18" charset="0"/>
                            </a:rPr>
                          </m:ctrlPr>
                        </m:dPr>
                        <m:e>
                          <m:r>
                            <a:rPr lang="zh-CN" altLang="en-US" sz="1200" i="1">
                              <a:solidFill>
                                <a:schemeClr val="bg1"/>
                              </a:solidFill>
                              <a:latin typeface="Cambria Math" panose="02040503050406030204" pitchFamily="18" charset="0"/>
                            </a:rPr>
                            <m:t>𝑁</m:t>
                          </m:r>
                          <m:r>
                            <a:rPr lang="zh-CN" altLang="en-US" sz="1200" i="0">
                              <a:solidFill>
                                <a:schemeClr val="bg1"/>
                              </a:solidFill>
                              <a:latin typeface="Cambria Math" panose="02040503050406030204" pitchFamily="18" charset="0"/>
                            </a:rPr>
                            <m:t>−1</m:t>
                          </m:r>
                        </m:e>
                      </m:d>
                    </m:oMath>
                  </m:oMathPara>
                </a14:m>
                <a:endParaRPr lang="zh-CN" altLang="en-US" sz="1200" dirty="0">
                  <a:solidFill>
                    <a:schemeClr val="bg1"/>
                  </a:solidFill>
                </a:endParaRPr>
              </a:p>
            </p:txBody>
          </p:sp>
        </mc:Choice>
        <mc:Fallback>
          <p:sp>
            <p:nvSpPr>
              <p:cNvPr id="152" name="文本框 151">
                <a:extLst>
                  <a:ext uri="{FF2B5EF4-FFF2-40B4-BE49-F238E27FC236}">
                    <a16:creationId xmlns:a16="http://schemas.microsoft.com/office/drawing/2014/main" id="{CAD51CB8-5771-8AD6-00D6-3E739E0C3631}"/>
                  </a:ext>
                </a:extLst>
              </p:cNvPr>
              <p:cNvSpPr txBox="1">
                <a:spLocks noRot="1" noChangeAspect="1" noMove="1" noResize="1" noEditPoints="1" noAdjustHandles="1" noChangeArrowheads="1" noChangeShapeType="1" noTextEdit="1"/>
              </p:cNvSpPr>
              <p:nvPr/>
            </p:nvSpPr>
            <p:spPr>
              <a:xfrm>
                <a:off x="8719503" y="2239065"/>
                <a:ext cx="813434" cy="276999"/>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4" name="文本框 153">
                <a:extLst>
                  <a:ext uri="{FF2B5EF4-FFF2-40B4-BE49-F238E27FC236}">
                    <a16:creationId xmlns:a16="http://schemas.microsoft.com/office/drawing/2014/main" id="{C46FB024-145F-AFAE-DF55-3041971795EB}"/>
                  </a:ext>
                </a:extLst>
              </p:cNvPr>
              <p:cNvSpPr txBox="1"/>
              <p:nvPr/>
            </p:nvSpPr>
            <p:spPr>
              <a:xfrm>
                <a:off x="5648391" y="2792267"/>
                <a:ext cx="5762624" cy="7941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chemeClr val="bg1"/>
                              </a:solidFill>
                              <a:latin typeface="Cambria Math" panose="02040503050406030204" pitchFamily="18" charset="0"/>
                            </a:rPr>
                          </m:ctrlPr>
                        </m:sSubPr>
                        <m:e>
                          <m:r>
                            <a:rPr lang="zh-CN" altLang="en-US" sz="1200">
                              <a:solidFill>
                                <a:schemeClr val="bg1"/>
                              </a:solidFill>
                              <a:latin typeface="Cambria Math" panose="02040503050406030204" pitchFamily="18" charset="0"/>
                            </a:rPr>
                            <m:t>ℒ</m:t>
                          </m:r>
                        </m:e>
                        <m:sub>
                          <m:r>
                            <a:rPr lang="zh-CN" altLang="en-US" sz="1200" i="1">
                              <a:solidFill>
                                <a:schemeClr val="bg1"/>
                              </a:solidFill>
                              <a:latin typeface="Cambria Math" panose="02040503050406030204" pitchFamily="18" charset="0"/>
                            </a:rPr>
                            <m:t>𝑁𝐶</m:t>
                          </m:r>
                        </m:sub>
                      </m:sSub>
                      <m:r>
                        <a:rPr lang="zh-CN" altLang="en-US" sz="1200" i="0">
                          <a:solidFill>
                            <a:schemeClr val="bg1"/>
                          </a:solidFill>
                          <a:latin typeface="Cambria Math" panose="02040503050406030204" pitchFamily="18" charset="0"/>
                        </a:rPr>
                        <m:t>=−</m:t>
                      </m:r>
                      <m:nary>
                        <m:naryPr>
                          <m:chr m:val="∑"/>
                          <m:limLoc m:val="undOvr"/>
                          <m:grow m:val="on"/>
                          <m:ctrlPr>
                            <a:rPr lang="zh-CN" altLang="en-US" sz="1200" i="1">
                              <a:solidFill>
                                <a:schemeClr val="bg1"/>
                              </a:solidFill>
                              <a:latin typeface="Cambria Math" panose="02040503050406030204" pitchFamily="18" charset="0"/>
                            </a:rPr>
                          </m:ctrlPr>
                        </m:naryPr>
                        <m:sub>
                          <m:r>
                            <a:rPr lang="zh-CN" altLang="en-US" sz="1200" i="1">
                              <a:solidFill>
                                <a:schemeClr val="bg1"/>
                              </a:solidFill>
                              <a:latin typeface="Cambria Math" panose="02040503050406030204" pitchFamily="18" charset="0"/>
                            </a:rPr>
                            <m:t>𝑖</m:t>
                          </m:r>
                          <m:r>
                            <a:rPr lang="zh-CN" altLang="en-US" sz="1200" i="0">
                              <a:solidFill>
                                <a:schemeClr val="bg1"/>
                              </a:solidFill>
                              <a:latin typeface="Cambria Math" panose="02040503050406030204" pitchFamily="18" charset="0"/>
                            </a:rPr>
                            <m:t>=1</m:t>
                          </m:r>
                        </m:sub>
                        <m:sup>
                          <m:r>
                            <a:rPr lang="zh-CN" altLang="en-US" sz="1200" i="1">
                              <a:solidFill>
                                <a:schemeClr val="bg1"/>
                              </a:solidFill>
                              <a:latin typeface="Cambria Math" panose="02040503050406030204" pitchFamily="18" charset="0"/>
                            </a:rPr>
                            <m:t>𝑁</m:t>
                          </m:r>
                        </m:sup>
                        <m:e>
                          <m:r>
                            <m:rPr>
                              <m:sty m:val="p"/>
                            </m:rPr>
                            <a:rPr lang="zh-CN" altLang="en-US" sz="1200" i="0">
                              <a:solidFill>
                                <a:schemeClr val="bg1"/>
                              </a:solidFill>
                              <a:latin typeface="Cambria Math" panose="02040503050406030204" pitchFamily="18" charset="0"/>
                            </a:rPr>
                            <m:t>log</m:t>
                          </m:r>
                        </m:e>
                      </m:nary>
                      <m:f>
                        <m:fPr>
                          <m:ctrlPr>
                            <a:rPr lang="zh-CN" altLang="en-US" sz="1200" i="1">
                              <a:solidFill>
                                <a:schemeClr val="bg1"/>
                              </a:solidFill>
                              <a:latin typeface="Cambria Math" panose="02040503050406030204" pitchFamily="18" charset="0"/>
                            </a:rPr>
                          </m:ctrlPr>
                        </m:fPr>
                        <m:num>
                          <m:r>
                            <m:rPr>
                              <m:sty m:val="p"/>
                            </m:rPr>
                            <a:rPr lang="zh-CN" altLang="en-US" sz="1200" i="0">
                              <a:solidFill>
                                <a:schemeClr val="bg1"/>
                              </a:solidFill>
                              <a:latin typeface="Cambria Math" panose="02040503050406030204" pitchFamily="18" charset="0"/>
                            </a:rPr>
                            <m:t>exp</m:t>
                          </m:r>
                          <m:d>
                            <m:dPr>
                              <m:ctrlPr>
                                <a:rPr lang="zh-CN" altLang="en-US" sz="1200" i="1">
                                  <a:solidFill>
                                    <a:schemeClr val="bg1"/>
                                  </a:solidFill>
                                  <a:latin typeface="Cambria Math" panose="02040503050406030204" pitchFamily="18" charset="0"/>
                                </a:rPr>
                              </m:ctrlPr>
                            </m:dPr>
                            <m:e>
                              <m:r>
                                <m:rPr>
                                  <m:nor/>
                                </m:rPr>
                                <a:rPr lang="zh-CN" altLang="en-US" sz="1200" b="0" i="1">
                                  <a:solidFill>
                                    <a:schemeClr val="bg1"/>
                                  </a:solidFill>
                                  <a:latin typeface="Cambria Math" panose="02040503050406030204" pitchFamily="18" charset="0"/>
                                </a:rPr>
                                <m:t>sim</m:t>
                              </m:r>
                              <m:f>
                                <m:fPr>
                                  <m:type m:val="lin"/>
                                  <m:ctrlPr>
                                    <a:rPr lang="zh-CN" altLang="en-US" sz="1200" b="0" i="1">
                                      <a:solidFill>
                                        <a:schemeClr val="bg1"/>
                                      </a:solidFill>
                                      <a:latin typeface="Cambria Math" panose="02040503050406030204" pitchFamily="18" charset="0"/>
                                    </a:rPr>
                                  </m:ctrlPr>
                                </m:fPr>
                                <m:num>
                                  <m:d>
                                    <m:dPr>
                                      <m:sepChr m:val=","/>
                                      <m:ctrlPr>
                                        <a:rPr lang="zh-CN" altLang="en-US" sz="1200" b="0" i="1">
                                          <a:solidFill>
                                            <a:schemeClr val="bg1"/>
                                          </a:solidFill>
                                          <a:latin typeface="Cambria Math" panose="02040503050406030204" pitchFamily="18" charset="0"/>
                                        </a:rPr>
                                      </m:ctrlPr>
                                    </m:dPr>
                                    <m:e>
                                      <m:sSubSup>
                                        <m:sSubSupPr>
                                          <m:ctrlPr>
                                            <a:rPr lang="zh-CN" altLang="en-US" sz="1200" b="0" i="1">
                                              <a:solidFill>
                                                <a:schemeClr val="bg1"/>
                                              </a:solidFill>
                                              <a:latin typeface="Cambria Math" panose="02040503050406030204" pitchFamily="18" charset="0"/>
                                            </a:rPr>
                                          </m:ctrlPr>
                                        </m:sSubSupPr>
                                        <m:e>
                                          <m:r>
                                            <a:rPr lang="zh-CN" altLang="en-US" sz="1200" b="1" i="0">
                                              <a:solidFill>
                                                <a:schemeClr val="bg1"/>
                                              </a:solidFill>
                                              <a:latin typeface="Cambria Math" panose="02040503050406030204" pitchFamily="18" charset="0"/>
                                            </a:rPr>
                                            <m:t>𝐳</m:t>
                                          </m:r>
                                        </m:e>
                                        <m:sub>
                                          <m:r>
                                            <a:rPr lang="zh-CN" altLang="en-US" sz="1200" b="0" i="1">
                                              <a:solidFill>
                                                <a:schemeClr val="bg1"/>
                                              </a:solidFill>
                                              <a:latin typeface="Cambria Math" panose="02040503050406030204" pitchFamily="18" charset="0"/>
                                            </a:rPr>
                                            <m:t>𝑡</m:t>
                                          </m:r>
                                        </m:sub>
                                        <m:sup>
                                          <m:d>
                                            <m:dPr>
                                              <m:ctrlPr>
                                                <a:rPr lang="zh-CN" altLang="en-US" sz="1200" b="0" i="1">
                                                  <a:solidFill>
                                                    <a:schemeClr val="bg1"/>
                                                  </a:solidFill>
                                                  <a:latin typeface="Cambria Math" panose="02040503050406030204" pitchFamily="18" charset="0"/>
                                                </a:rPr>
                                              </m:ctrlPr>
                                            </m:dPr>
                                            <m:e>
                                              <m:r>
                                                <a:rPr lang="zh-CN" altLang="en-US" sz="1200" b="0" i="1">
                                                  <a:solidFill>
                                                    <a:schemeClr val="bg1"/>
                                                  </a:solidFill>
                                                  <a:latin typeface="Cambria Math" panose="02040503050406030204" pitchFamily="18" charset="0"/>
                                                </a:rPr>
                                                <m:t>𝑖</m:t>
                                              </m:r>
                                            </m:e>
                                          </m:d>
                                        </m:sup>
                                      </m:sSubSup>
                                    </m:e>
                                    <m:mo separator="true">,</m:mo>
                                    <m:e>
                                      <m:sSubSup>
                                        <m:sSubSupPr>
                                          <m:ctrlPr>
                                            <a:rPr lang="zh-CN" altLang="en-US" sz="1200" b="0" i="1">
                                              <a:solidFill>
                                                <a:schemeClr val="bg1"/>
                                              </a:solidFill>
                                              <a:latin typeface="Cambria Math" panose="02040503050406030204" pitchFamily="18" charset="0"/>
                                            </a:rPr>
                                          </m:ctrlPr>
                                        </m:sSubSupPr>
                                        <m:e>
                                          <m:r>
                                            <a:rPr lang="zh-CN" altLang="en-US" sz="1200" b="1" i="0">
                                              <a:solidFill>
                                                <a:schemeClr val="bg1"/>
                                              </a:solidFill>
                                              <a:latin typeface="Cambria Math" panose="02040503050406030204" pitchFamily="18" charset="0"/>
                                            </a:rPr>
                                            <m:t>𝐳</m:t>
                                          </m:r>
                                        </m:e>
                                        <m:sub>
                                          <m:r>
                                            <a:rPr lang="zh-CN" altLang="en-US" sz="1200" b="0" i="1">
                                              <a:solidFill>
                                                <a:schemeClr val="bg1"/>
                                              </a:solidFill>
                                              <a:latin typeface="Cambria Math" panose="02040503050406030204" pitchFamily="18" charset="0"/>
                                            </a:rPr>
                                            <m:t>𝑠</m:t>
                                          </m:r>
                                        </m:sub>
                                        <m:sup>
                                          <m:d>
                                            <m:dPr>
                                              <m:ctrlPr>
                                                <a:rPr lang="zh-CN" altLang="en-US" sz="1200" b="0" i="1">
                                                  <a:solidFill>
                                                    <a:schemeClr val="bg1"/>
                                                  </a:solidFill>
                                                  <a:latin typeface="Cambria Math" panose="02040503050406030204" pitchFamily="18" charset="0"/>
                                                </a:rPr>
                                              </m:ctrlPr>
                                            </m:dPr>
                                            <m:e>
                                              <m:r>
                                                <a:rPr lang="zh-CN" altLang="en-US" sz="1200" b="0" i="1">
                                                  <a:solidFill>
                                                    <a:schemeClr val="bg1"/>
                                                  </a:solidFill>
                                                  <a:latin typeface="Cambria Math" panose="02040503050406030204" pitchFamily="18" charset="0"/>
                                                </a:rPr>
                                                <m:t>𝑖</m:t>
                                              </m:r>
                                            </m:e>
                                          </m:d>
                                        </m:sup>
                                      </m:sSubSup>
                                    </m:e>
                                  </m:d>
                                </m:num>
                                <m:den>
                                  <m:r>
                                    <a:rPr lang="zh-CN" altLang="en-US" sz="1200" b="0" i="1">
                                      <a:solidFill>
                                        <a:schemeClr val="bg1"/>
                                      </a:solidFill>
                                      <a:latin typeface="Cambria Math" panose="02040503050406030204" pitchFamily="18" charset="0"/>
                                    </a:rPr>
                                    <m:t>𝜏</m:t>
                                  </m:r>
                                </m:den>
                              </m:f>
                            </m:e>
                          </m:d>
                        </m:num>
                        <m:den>
                          <m:nary>
                            <m:naryPr>
                              <m:chr m:val="∑"/>
                              <m:limLoc m:val="undOvr"/>
                              <m:grow m:val="on"/>
                              <m:ctrlPr>
                                <a:rPr lang="zh-CN" altLang="en-US" sz="1200" b="0" i="1">
                                  <a:solidFill>
                                    <a:schemeClr val="bg1"/>
                                  </a:solidFill>
                                  <a:latin typeface="Cambria Math" panose="02040503050406030204" pitchFamily="18" charset="0"/>
                                </a:rPr>
                              </m:ctrlPr>
                            </m:naryPr>
                            <m:sub>
                              <m:r>
                                <a:rPr lang="zh-CN" altLang="en-US" sz="1200" b="0" i="1">
                                  <a:solidFill>
                                    <a:schemeClr val="bg1"/>
                                  </a:solidFill>
                                  <a:latin typeface="Cambria Math" panose="02040503050406030204" pitchFamily="18" charset="0"/>
                                </a:rPr>
                                <m:t>𝑗</m:t>
                              </m:r>
                              <m:r>
                                <a:rPr lang="zh-CN" altLang="en-US" sz="1200" b="0" i="0">
                                  <a:solidFill>
                                    <a:schemeClr val="bg1"/>
                                  </a:solidFill>
                                  <a:latin typeface="Cambria Math" panose="02040503050406030204" pitchFamily="18" charset="0"/>
                                </a:rPr>
                                <m:t>=1</m:t>
                              </m:r>
                            </m:sub>
                            <m:sup>
                              <m:r>
                                <a:rPr lang="zh-CN" altLang="en-US" sz="1200" b="0" i="1">
                                  <a:solidFill>
                                    <a:schemeClr val="bg1"/>
                                  </a:solidFill>
                                  <a:latin typeface="Cambria Math" panose="02040503050406030204" pitchFamily="18" charset="0"/>
                                </a:rPr>
                                <m:t>𝑁</m:t>
                              </m:r>
                            </m:sup>
                            <m:e>
                              <m:sSub>
                                <m:sSubPr>
                                  <m:ctrlPr>
                                    <a:rPr lang="zh-CN" altLang="en-US" sz="1200" b="0" i="1">
                                      <a:solidFill>
                                        <a:schemeClr val="bg1"/>
                                      </a:solidFill>
                                      <a:latin typeface="Cambria Math" panose="02040503050406030204" pitchFamily="18" charset="0"/>
                                    </a:rPr>
                                  </m:ctrlPr>
                                </m:sSubPr>
                                <m:e>
                                  <m:r>
                                    <a:rPr lang="zh-CN" altLang="en-US" sz="1200" b="0" i="0">
                                      <a:solidFill>
                                        <a:schemeClr val="bg1"/>
                                      </a:solidFill>
                                      <a:latin typeface="Cambria Math" panose="02040503050406030204" pitchFamily="18" charset="0"/>
                                    </a:rPr>
                                    <m:t>𝕀</m:t>
                                  </m:r>
                                </m:e>
                                <m:sub>
                                  <m:d>
                                    <m:dPr>
                                      <m:begChr m:val="["/>
                                      <m:endChr m:val="]"/>
                                      <m:ctrlPr>
                                        <a:rPr lang="zh-CN" altLang="en-US" sz="1200" b="0" i="1">
                                          <a:solidFill>
                                            <a:schemeClr val="bg1"/>
                                          </a:solidFill>
                                          <a:latin typeface="Cambria Math" panose="02040503050406030204" pitchFamily="18" charset="0"/>
                                        </a:rPr>
                                      </m:ctrlPr>
                                    </m:dPr>
                                    <m:e>
                                      <m:r>
                                        <a:rPr lang="zh-CN" altLang="en-US" sz="1200" b="0" i="1">
                                          <a:solidFill>
                                            <a:schemeClr val="bg1"/>
                                          </a:solidFill>
                                          <a:latin typeface="Cambria Math" panose="02040503050406030204" pitchFamily="18" charset="0"/>
                                        </a:rPr>
                                        <m:t>𝑗</m:t>
                                      </m:r>
                                      <m:r>
                                        <a:rPr lang="zh-CN" altLang="en-US" sz="1200" b="0" i="0">
                                          <a:solidFill>
                                            <a:schemeClr val="bg1"/>
                                          </a:solidFill>
                                          <a:latin typeface="Cambria Math" panose="02040503050406030204" pitchFamily="18" charset="0"/>
                                        </a:rPr>
                                        <m:t>≠</m:t>
                                      </m:r>
                                      <m:r>
                                        <a:rPr lang="zh-CN" altLang="en-US" sz="1200" b="0" i="1">
                                          <a:solidFill>
                                            <a:schemeClr val="bg1"/>
                                          </a:solidFill>
                                          <a:latin typeface="Cambria Math" panose="02040503050406030204" pitchFamily="18" charset="0"/>
                                        </a:rPr>
                                        <m:t>𝑖</m:t>
                                      </m:r>
                                    </m:e>
                                  </m:d>
                                </m:sub>
                              </m:sSub>
                            </m:e>
                          </m:nary>
                          <m:r>
                            <m:rPr>
                              <m:sty m:val="p"/>
                            </m:rPr>
                            <a:rPr lang="zh-CN" altLang="en-US" sz="1200" b="0" i="0">
                              <a:solidFill>
                                <a:schemeClr val="bg1"/>
                              </a:solidFill>
                              <a:latin typeface="Cambria Math" panose="02040503050406030204" pitchFamily="18" charset="0"/>
                            </a:rPr>
                            <m:t>exp</m:t>
                          </m:r>
                          <m:d>
                            <m:dPr>
                              <m:ctrlPr>
                                <a:rPr lang="zh-CN" altLang="en-US" sz="1200" b="0" i="1">
                                  <a:solidFill>
                                    <a:schemeClr val="bg1"/>
                                  </a:solidFill>
                                  <a:latin typeface="Cambria Math" panose="02040503050406030204" pitchFamily="18" charset="0"/>
                                </a:rPr>
                              </m:ctrlPr>
                            </m:dPr>
                            <m:e>
                              <m:r>
                                <m:rPr>
                                  <m:nor/>
                                </m:rPr>
                                <a:rPr lang="zh-CN" altLang="en-US" sz="1200" b="0" i="1">
                                  <a:solidFill>
                                    <a:schemeClr val="bg1"/>
                                  </a:solidFill>
                                  <a:latin typeface="Cambria Math" panose="02040503050406030204" pitchFamily="18" charset="0"/>
                                </a:rPr>
                                <m:t>sim</m:t>
                              </m:r>
                              <m:f>
                                <m:fPr>
                                  <m:type m:val="lin"/>
                                  <m:ctrlPr>
                                    <a:rPr lang="zh-CN" altLang="en-US" sz="1200" b="0" i="1">
                                      <a:solidFill>
                                        <a:schemeClr val="bg1"/>
                                      </a:solidFill>
                                      <a:latin typeface="Cambria Math" panose="02040503050406030204" pitchFamily="18" charset="0"/>
                                    </a:rPr>
                                  </m:ctrlPr>
                                </m:fPr>
                                <m:num>
                                  <m:d>
                                    <m:dPr>
                                      <m:sepChr m:val=","/>
                                      <m:ctrlPr>
                                        <a:rPr lang="zh-CN" altLang="en-US" sz="1200" b="0" i="1">
                                          <a:solidFill>
                                            <a:schemeClr val="bg1"/>
                                          </a:solidFill>
                                          <a:latin typeface="Cambria Math" panose="02040503050406030204" pitchFamily="18" charset="0"/>
                                        </a:rPr>
                                      </m:ctrlPr>
                                    </m:dPr>
                                    <m:e>
                                      <m:sSubSup>
                                        <m:sSubSupPr>
                                          <m:ctrlPr>
                                            <a:rPr lang="zh-CN" altLang="en-US" sz="1200" b="0" i="1">
                                              <a:solidFill>
                                                <a:schemeClr val="bg1"/>
                                              </a:solidFill>
                                              <a:latin typeface="Cambria Math" panose="02040503050406030204" pitchFamily="18" charset="0"/>
                                            </a:rPr>
                                          </m:ctrlPr>
                                        </m:sSubSupPr>
                                        <m:e>
                                          <m:r>
                                            <a:rPr lang="zh-CN" altLang="en-US" sz="1200" b="1" i="0">
                                              <a:solidFill>
                                                <a:schemeClr val="bg1"/>
                                              </a:solidFill>
                                              <a:latin typeface="Cambria Math" panose="02040503050406030204" pitchFamily="18" charset="0"/>
                                            </a:rPr>
                                            <m:t>𝐳</m:t>
                                          </m:r>
                                        </m:e>
                                        <m:sub>
                                          <m:r>
                                            <a:rPr lang="zh-CN" altLang="en-US" sz="1200" b="0" i="1">
                                              <a:solidFill>
                                                <a:schemeClr val="bg1"/>
                                              </a:solidFill>
                                              <a:latin typeface="Cambria Math" panose="02040503050406030204" pitchFamily="18" charset="0"/>
                                            </a:rPr>
                                            <m:t>𝑡</m:t>
                                          </m:r>
                                        </m:sub>
                                        <m:sup>
                                          <m:d>
                                            <m:dPr>
                                              <m:ctrlPr>
                                                <a:rPr lang="zh-CN" altLang="en-US" sz="1200" b="0" i="1">
                                                  <a:solidFill>
                                                    <a:schemeClr val="bg1"/>
                                                  </a:solidFill>
                                                  <a:latin typeface="Cambria Math" panose="02040503050406030204" pitchFamily="18" charset="0"/>
                                                </a:rPr>
                                              </m:ctrlPr>
                                            </m:dPr>
                                            <m:e>
                                              <m:r>
                                                <a:rPr lang="zh-CN" altLang="en-US" sz="1200" b="0" i="1">
                                                  <a:solidFill>
                                                    <a:schemeClr val="bg1"/>
                                                  </a:solidFill>
                                                  <a:latin typeface="Cambria Math" panose="02040503050406030204" pitchFamily="18" charset="0"/>
                                                </a:rPr>
                                                <m:t>𝑖</m:t>
                                              </m:r>
                                            </m:e>
                                          </m:d>
                                        </m:sup>
                                      </m:sSubSup>
                                    </m:e>
                                    <m:mo separator="true">,</m:mo>
                                    <m:e>
                                      <m:sSubSup>
                                        <m:sSubSupPr>
                                          <m:ctrlPr>
                                            <a:rPr lang="zh-CN" altLang="en-US" sz="1200" b="0" i="1">
                                              <a:solidFill>
                                                <a:schemeClr val="bg1"/>
                                              </a:solidFill>
                                              <a:latin typeface="Cambria Math" panose="02040503050406030204" pitchFamily="18" charset="0"/>
                                            </a:rPr>
                                          </m:ctrlPr>
                                        </m:sSubSupPr>
                                        <m:e>
                                          <m:r>
                                            <a:rPr lang="zh-CN" altLang="en-US" sz="1200" b="1" i="0">
                                              <a:solidFill>
                                                <a:schemeClr val="bg1"/>
                                              </a:solidFill>
                                              <a:latin typeface="Cambria Math" panose="02040503050406030204" pitchFamily="18" charset="0"/>
                                            </a:rPr>
                                            <m:t>𝐳</m:t>
                                          </m:r>
                                        </m:e>
                                        <m:sub>
                                          <m:r>
                                            <a:rPr lang="zh-CN" altLang="en-US" sz="1200" b="0" i="1">
                                              <a:solidFill>
                                                <a:schemeClr val="bg1"/>
                                              </a:solidFill>
                                              <a:latin typeface="Cambria Math" panose="02040503050406030204" pitchFamily="18" charset="0"/>
                                            </a:rPr>
                                            <m:t>𝑠</m:t>
                                          </m:r>
                                        </m:sub>
                                        <m:sup>
                                          <m:d>
                                            <m:dPr>
                                              <m:ctrlPr>
                                                <a:rPr lang="zh-CN" altLang="en-US" sz="1200" b="0" i="1">
                                                  <a:solidFill>
                                                    <a:schemeClr val="bg1"/>
                                                  </a:solidFill>
                                                  <a:latin typeface="Cambria Math" panose="02040503050406030204" pitchFamily="18" charset="0"/>
                                                </a:rPr>
                                              </m:ctrlPr>
                                            </m:dPr>
                                            <m:e>
                                              <m:r>
                                                <a:rPr lang="zh-CN" altLang="en-US" sz="1200" b="0" i="1">
                                                  <a:solidFill>
                                                    <a:schemeClr val="bg1"/>
                                                  </a:solidFill>
                                                  <a:latin typeface="Cambria Math" panose="02040503050406030204" pitchFamily="18" charset="0"/>
                                                </a:rPr>
                                                <m:t>𝑗</m:t>
                                              </m:r>
                                            </m:e>
                                          </m:d>
                                        </m:sup>
                                      </m:sSubSup>
                                    </m:e>
                                  </m:d>
                                </m:num>
                                <m:den>
                                  <m:r>
                                    <a:rPr lang="zh-CN" altLang="en-US" sz="1200" b="0" i="1">
                                      <a:solidFill>
                                        <a:schemeClr val="bg1"/>
                                      </a:solidFill>
                                      <a:latin typeface="Cambria Math" panose="02040503050406030204" pitchFamily="18" charset="0"/>
                                    </a:rPr>
                                    <m:t>𝜏</m:t>
                                  </m:r>
                                </m:den>
                              </m:f>
                            </m:e>
                          </m:d>
                          <m:r>
                            <a:rPr lang="zh-CN" altLang="en-US" sz="1200" b="0" i="0">
                              <a:solidFill>
                                <a:schemeClr val="bg1"/>
                              </a:solidFill>
                              <a:latin typeface="Cambria Math" panose="02040503050406030204" pitchFamily="18" charset="0"/>
                            </a:rPr>
                            <m:t>+</m:t>
                          </m:r>
                          <m:r>
                            <m:rPr>
                              <m:sty m:val="p"/>
                            </m:rPr>
                            <a:rPr lang="zh-CN" altLang="en-US" sz="1200" b="0" i="0">
                              <a:solidFill>
                                <a:schemeClr val="bg1"/>
                              </a:solidFill>
                              <a:latin typeface="Cambria Math" panose="02040503050406030204" pitchFamily="18" charset="0"/>
                            </a:rPr>
                            <m:t>exp</m:t>
                          </m:r>
                          <m:d>
                            <m:dPr>
                              <m:ctrlPr>
                                <a:rPr lang="zh-CN" altLang="en-US" sz="1200" b="0" i="1">
                                  <a:solidFill>
                                    <a:schemeClr val="bg1"/>
                                  </a:solidFill>
                                  <a:latin typeface="Cambria Math" panose="02040503050406030204" pitchFamily="18" charset="0"/>
                                </a:rPr>
                              </m:ctrlPr>
                            </m:dPr>
                            <m:e>
                              <m:r>
                                <m:rPr>
                                  <m:nor/>
                                </m:rPr>
                                <a:rPr lang="zh-CN" altLang="en-US" sz="1200" b="0" i="1">
                                  <a:solidFill>
                                    <a:schemeClr val="bg1"/>
                                  </a:solidFill>
                                  <a:latin typeface="Cambria Math" panose="02040503050406030204" pitchFamily="18" charset="0"/>
                                </a:rPr>
                                <m:t>sim</m:t>
                              </m:r>
                              <m:f>
                                <m:fPr>
                                  <m:type m:val="lin"/>
                                  <m:ctrlPr>
                                    <a:rPr lang="zh-CN" altLang="en-US" sz="1200" b="0" i="1">
                                      <a:solidFill>
                                        <a:schemeClr val="bg1"/>
                                      </a:solidFill>
                                      <a:latin typeface="Cambria Math" panose="02040503050406030204" pitchFamily="18" charset="0"/>
                                    </a:rPr>
                                  </m:ctrlPr>
                                </m:fPr>
                                <m:num>
                                  <m:d>
                                    <m:dPr>
                                      <m:sepChr m:val=","/>
                                      <m:ctrlPr>
                                        <a:rPr lang="zh-CN" altLang="en-US" sz="1200" b="0" i="1">
                                          <a:solidFill>
                                            <a:schemeClr val="bg1"/>
                                          </a:solidFill>
                                          <a:latin typeface="Cambria Math" panose="02040503050406030204" pitchFamily="18" charset="0"/>
                                        </a:rPr>
                                      </m:ctrlPr>
                                    </m:dPr>
                                    <m:e>
                                      <m:sSubSup>
                                        <m:sSubSupPr>
                                          <m:ctrlPr>
                                            <a:rPr lang="zh-CN" altLang="en-US" sz="1200" b="0" i="1">
                                              <a:solidFill>
                                                <a:schemeClr val="bg1"/>
                                              </a:solidFill>
                                              <a:latin typeface="Cambria Math" panose="02040503050406030204" pitchFamily="18" charset="0"/>
                                            </a:rPr>
                                          </m:ctrlPr>
                                        </m:sSubSupPr>
                                        <m:e>
                                          <m:r>
                                            <a:rPr lang="zh-CN" altLang="en-US" sz="1200" b="1" i="0">
                                              <a:solidFill>
                                                <a:schemeClr val="bg1"/>
                                              </a:solidFill>
                                              <a:latin typeface="Cambria Math" panose="02040503050406030204" pitchFamily="18" charset="0"/>
                                            </a:rPr>
                                            <m:t>𝐳</m:t>
                                          </m:r>
                                        </m:e>
                                        <m:sub>
                                          <m:r>
                                            <a:rPr lang="zh-CN" altLang="en-US" sz="1200" b="0" i="1">
                                              <a:solidFill>
                                                <a:schemeClr val="bg1"/>
                                              </a:solidFill>
                                              <a:latin typeface="Cambria Math" panose="02040503050406030204" pitchFamily="18" charset="0"/>
                                            </a:rPr>
                                            <m:t>𝑡</m:t>
                                          </m:r>
                                        </m:sub>
                                        <m:sup>
                                          <m:d>
                                            <m:dPr>
                                              <m:ctrlPr>
                                                <a:rPr lang="zh-CN" altLang="en-US" sz="1200" b="0" i="1">
                                                  <a:solidFill>
                                                    <a:schemeClr val="bg1"/>
                                                  </a:solidFill>
                                                  <a:latin typeface="Cambria Math" panose="02040503050406030204" pitchFamily="18" charset="0"/>
                                                </a:rPr>
                                              </m:ctrlPr>
                                            </m:dPr>
                                            <m:e>
                                              <m:r>
                                                <a:rPr lang="zh-CN" altLang="en-US" sz="1200" b="0" i="1">
                                                  <a:solidFill>
                                                    <a:schemeClr val="bg1"/>
                                                  </a:solidFill>
                                                  <a:latin typeface="Cambria Math" panose="02040503050406030204" pitchFamily="18" charset="0"/>
                                                </a:rPr>
                                                <m:t>𝑖</m:t>
                                              </m:r>
                                            </m:e>
                                          </m:d>
                                        </m:sup>
                                      </m:sSubSup>
                                    </m:e>
                                    <m:mo separator="true">,</m:mo>
                                    <m:e>
                                      <m:sSubSup>
                                        <m:sSubSupPr>
                                          <m:ctrlPr>
                                            <a:rPr lang="zh-CN" altLang="en-US" sz="1200" b="0" i="1">
                                              <a:solidFill>
                                                <a:schemeClr val="bg1"/>
                                              </a:solidFill>
                                              <a:latin typeface="Cambria Math" panose="02040503050406030204" pitchFamily="18" charset="0"/>
                                            </a:rPr>
                                          </m:ctrlPr>
                                        </m:sSubSupPr>
                                        <m:e>
                                          <m:r>
                                            <a:rPr lang="zh-CN" altLang="en-US" sz="1200" b="1" i="0">
                                              <a:solidFill>
                                                <a:schemeClr val="bg1"/>
                                              </a:solidFill>
                                              <a:latin typeface="Cambria Math" panose="02040503050406030204" pitchFamily="18" charset="0"/>
                                            </a:rPr>
                                            <m:t>𝐳</m:t>
                                          </m:r>
                                        </m:e>
                                        <m:sub>
                                          <m:r>
                                            <a:rPr lang="zh-CN" altLang="en-US" sz="1200" b="0" i="1">
                                              <a:solidFill>
                                                <a:schemeClr val="bg1"/>
                                              </a:solidFill>
                                              <a:latin typeface="Cambria Math" panose="02040503050406030204" pitchFamily="18" charset="0"/>
                                            </a:rPr>
                                            <m:t>𝑡</m:t>
                                          </m:r>
                                        </m:sub>
                                        <m:sup>
                                          <m:d>
                                            <m:dPr>
                                              <m:ctrlPr>
                                                <a:rPr lang="zh-CN" altLang="en-US" sz="1200" b="0" i="1">
                                                  <a:solidFill>
                                                    <a:schemeClr val="bg1"/>
                                                  </a:solidFill>
                                                  <a:latin typeface="Cambria Math" panose="02040503050406030204" pitchFamily="18" charset="0"/>
                                                </a:rPr>
                                              </m:ctrlPr>
                                            </m:dPr>
                                            <m:e>
                                              <m:r>
                                                <a:rPr lang="zh-CN" altLang="en-US" sz="1200" b="0" i="1">
                                                  <a:solidFill>
                                                    <a:schemeClr val="bg1"/>
                                                  </a:solidFill>
                                                  <a:latin typeface="Cambria Math" panose="02040503050406030204" pitchFamily="18" charset="0"/>
                                                </a:rPr>
                                                <m:t>𝑗</m:t>
                                              </m:r>
                                            </m:e>
                                          </m:d>
                                        </m:sup>
                                      </m:sSubSup>
                                    </m:e>
                                  </m:d>
                                </m:num>
                                <m:den>
                                  <m:r>
                                    <a:rPr lang="zh-CN" altLang="en-US" sz="1200" b="0" i="1">
                                      <a:solidFill>
                                        <a:schemeClr val="bg1"/>
                                      </a:solidFill>
                                      <a:latin typeface="Cambria Math" panose="02040503050406030204" pitchFamily="18" charset="0"/>
                                    </a:rPr>
                                    <m:t>𝜏</m:t>
                                  </m:r>
                                </m:den>
                              </m:f>
                            </m:e>
                          </m:d>
                        </m:den>
                      </m:f>
                    </m:oMath>
                  </m:oMathPara>
                </a14:m>
                <a:endParaRPr lang="zh-CN" altLang="en-US" sz="1200" dirty="0">
                  <a:solidFill>
                    <a:schemeClr val="bg1"/>
                  </a:solidFill>
                </a:endParaRPr>
              </a:p>
            </p:txBody>
          </p:sp>
        </mc:Choice>
        <mc:Fallback>
          <p:sp>
            <p:nvSpPr>
              <p:cNvPr id="154" name="文本框 153">
                <a:extLst>
                  <a:ext uri="{FF2B5EF4-FFF2-40B4-BE49-F238E27FC236}">
                    <a16:creationId xmlns:a16="http://schemas.microsoft.com/office/drawing/2014/main" id="{C46FB024-145F-AFAE-DF55-3041971795EB}"/>
                  </a:ext>
                </a:extLst>
              </p:cNvPr>
              <p:cNvSpPr txBox="1">
                <a:spLocks noRot="1" noChangeAspect="1" noMove="1" noResize="1" noEditPoints="1" noAdjustHandles="1" noChangeArrowheads="1" noChangeShapeType="1" noTextEdit="1"/>
              </p:cNvSpPr>
              <p:nvPr/>
            </p:nvSpPr>
            <p:spPr>
              <a:xfrm>
                <a:off x="5648391" y="2792267"/>
                <a:ext cx="5762624" cy="794192"/>
              </a:xfrm>
              <a:prstGeom prst="rect">
                <a:avLst/>
              </a:prstGeom>
              <a:blipFill>
                <a:blip r:embed="rId12"/>
                <a:stretch>
                  <a:fillRect/>
                </a:stretch>
              </a:blipFill>
            </p:spPr>
            <p:txBody>
              <a:bodyPr/>
              <a:lstStyle/>
              <a:p>
                <a:r>
                  <a:rPr lang="zh-CN" altLang="en-US">
                    <a:noFill/>
                  </a:rPr>
                  <a:t> </a:t>
                </a:r>
              </a:p>
            </p:txBody>
          </p:sp>
        </mc:Fallback>
      </mc:AlternateContent>
      <p:grpSp>
        <p:nvGrpSpPr>
          <p:cNvPr id="165" name="组合 164">
            <a:extLst>
              <a:ext uri="{FF2B5EF4-FFF2-40B4-BE49-F238E27FC236}">
                <a16:creationId xmlns:a16="http://schemas.microsoft.com/office/drawing/2014/main" id="{6F7D0DA3-6366-DBDD-6FFB-FF0F1F546F76}"/>
              </a:ext>
            </a:extLst>
          </p:cNvPr>
          <p:cNvGrpSpPr/>
          <p:nvPr/>
        </p:nvGrpSpPr>
        <p:grpSpPr>
          <a:xfrm>
            <a:off x="5760244" y="3688712"/>
            <a:ext cx="5442552" cy="902363"/>
            <a:chOff x="5760244" y="3688712"/>
            <a:chExt cx="5442552" cy="902363"/>
          </a:xfrm>
        </p:grpSpPr>
        <p:sp>
          <p:nvSpPr>
            <p:cNvPr id="156" name="文本框 155">
              <a:extLst>
                <a:ext uri="{FF2B5EF4-FFF2-40B4-BE49-F238E27FC236}">
                  <a16:creationId xmlns:a16="http://schemas.microsoft.com/office/drawing/2014/main" id="{7A1C6C4A-7514-3E41-C980-78C89F53D118}"/>
                </a:ext>
              </a:extLst>
            </p:cNvPr>
            <p:cNvSpPr txBox="1"/>
            <p:nvPr/>
          </p:nvSpPr>
          <p:spPr>
            <a:xfrm>
              <a:off x="5760244" y="3688712"/>
              <a:ext cx="5442552" cy="902363"/>
            </a:xfrm>
            <a:prstGeom prst="rect">
              <a:avLst/>
            </a:prstGeom>
            <a:noFill/>
          </p:spPr>
          <p:txBody>
            <a:bodyPr wrap="square">
              <a:spAutoFit/>
            </a:bodyPr>
            <a:lstStyle/>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其中，           为余弦相似度， 为温度系数。最小化该损失函数迫使模型拉近同一链路状态的时空表征，推远不同状态的表征，从而自动习得鲁棒的状态描述。</a:t>
              </a:r>
            </a:p>
          </p:txBody>
        </p:sp>
        <mc:AlternateContent xmlns:mc="http://schemas.openxmlformats.org/markup-compatibility/2006">
          <mc:Choice xmlns:a14="http://schemas.microsoft.com/office/drawing/2010/main" Requires="a14">
            <p:sp>
              <p:nvSpPr>
                <p:cNvPr id="160" name="文本框 159">
                  <a:extLst>
                    <a:ext uri="{FF2B5EF4-FFF2-40B4-BE49-F238E27FC236}">
                      <a16:creationId xmlns:a16="http://schemas.microsoft.com/office/drawing/2014/main" id="{AF1D2C13-B773-1204-420D-8801BDE5228B}"/>
                    </a:ext>
                  </a:extLst>
                </p:cNvPr>
                <p:cNvSpPr txBox="1"/>
                <p:nvPr/>
              </p:nvSpPr>
              <p:spPr>
                <a:xfrm>
                  <a:off x="6445680" y="3745317"/>
                  <a:ext cx="56515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1200" i="1">
                            <a:solidFill>
                              <a:schemeClr val="bg1"/>
                            </a:solidFill>
                            <a:latin typeface="Cambria Math" panose="02040503050406030204" pitchFamily="18" charset="0"/>
                          </a:rPr>
                          <m:t>sim</m:t>
                        </m:r>
                        <m:d>
                          <m:dPr>
                            <m:sepChr m:val=","/>
                            <m:ctrlPr>
                              <a:rPr lang="zh-CN" altLang="en-US" sz="1200" i="1">
                                <a:solidFill>
                                  <a:schemeClr val="bg1"/>
                                </a:solidFill>
                                <a:latin typeface="Cambria Math" panose="02040503050406030204" pitchFamily="18" charset="0"/>
                              </a:rPr>
                            </m:ctrlPr>
                          </m:dPr>
                          <m:e>
                            <m:r>
                              <a:rPr lang="zh-CN" altLang="en-US" sz="1200" i="1">
                                <a:solidFill>
                                  <a:schemeClr val="bg1"/>
                                </a:solidFill>
                                <a:latin typeface="Cambria Math" panose="02040503050406030204" pitchFamily="18" charset="0"/>
                              </a:rPr>
                              <m:t>⋅</m:t>
                            </m:r>
                          </m:e>
                          <m:mo separator="true">,</m:mo>
                          <m:e>
                            <m:r>
                              <a:rPr lang="zh-CN" altLang="en-US" sz="1200" i="1">
                                <a:solidFill>
                                  <a:schemeClr val="bg1"/>
                                </a:solidFill>
                                <a:latin typeface="Cambria Math" panose="02040503050406030204" pitchFamily="18" charset="0"/>
                              </a:rPr>
                              <m:t>⋅</m:t>
                            </m:r>
                          </m:e>
                        </m:d>
                      </m:oMath>
                    </m:oMathPara>
                  </a14:m>
                  <a:endParaRPr lang="zh-CN" altLang="en-US" sz="1200" i="1" dirty="0">
                    <a:solidFill>
                      <a:schemeClr val="bg1"/>
                    </a:solidFill>
                    <a:latin typeface="Cambria Math" panose="02040503050406030204" pitchFamily="18" charset="0"/>
                  </a:endParaRPr>
                </a:p>
              </p:txBody>
            </p:sp>
          </mc:Choice>
          <mc:Fallback>
            <p:sp>
              <p:nvSpPr>
                <p:cNvPr id="160" name="文本框 159">
                  <a:extLst>
                    <a:ext uri="{FF2B5EF4-FFF2-40B4-BE49-F238E27FC236}">
                      <a16:creationId xmlns:a16="http://schemas.microsoft.com/office/drawing/2014/main" id="{AF1D2C13-B773-1204-420D-8801BDE5228B}"/>
                    </a:ext>
                  </a:extLst>
                </p:cNvPr>
                <p:cNvSpPr txBox="1">
                  <a:spLocks noRot="1" noChangeAspect="1" noMove="1" noResize="1" noEditPoints="1" noAdjustHandles="1" noChangeArrowheads="1" noChangeShapeType="1" noTextEdit="1"/>
                </p:cNvSpPr>
                <p:nvPr/>
              </p:nvSpPr>
              <p:spPr>
                <a:xfrm>
                  <a:off x="6445680" y="3745317"/>
                  <a:ext cx="565150" cy="27699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 name="文本框 163">
                  <a:extLst>
                    <a:ext uri="{FF2B5EF4-FFF2-40B4-BE49-F238E27FC236}">
                      <a16:creationId xmlns:a16="http://schemas.microsoft.com/office/drawing/2014/main" id="{C912559C-ABA3-203C-2AE8-A631AE4BF75F}"/>
                    </a:ext>
                  </a:extLst>
                </p:cNvPr>
                <p:cNvSpPr txBox="1"/>
                <p:nvPr/>
              </p:nvSpPr>
              <p:spPr>
                <a:xfrm>
                  <a:off x="8001000" y="3745316"/>
                  <a:ext cx="79773"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solidFill>
                              <a:schemeClr val="bg1"/>
                            </a:solidFill>
                            <a:latin typeface="Cambria Math" panose="02040503050406030204" pitchFamily="18" charset="0"/>
                          </a:rPr>
                          <m:t>𝜏</m:t>
                        </m:r>
                      </m:oMath>
                    </m:oMathPara>
                  </a14:m>
                  <a:endParaRPr lang="zh-CN" altLang="en-US" sz="1200" dirty="0">
                    <a:solidFill>
                      <a:schemeClr val="bg1"/>
                    </a:solidFill>
                  </a:endParaRPr>
                </a:p>
              </p:txBody>
            </p:sp>
          </mc:Choice>
          <mc:Fallback>
            <p:sp>
              <p:nvSpPr>
                <p:cNvPr id="164" name="文本框 163">
                  <a:extLst>
                    <a:ext uri="{FF2B5EF4-FFF2-40B4-BE49-F238E27FC236}">
                      <a16:creationId xmlns:a16="http://schemas.microsoft.com/office/drawing/2014/main" id="{C912559C-ABA3-203C-2AE8-A631AE4BF75F}"/>
                    </a:ext>
                  </a:extLst>
                </p:cNvPr>
                <p:cNvSpPr txBox="1">
                  <a:spLocks noRot="1" noChangeAspect="1" noMove="1" noResize="1" noEditPoints="1" noAdjustHandles="1" noChangeArrowheads="1" noChangeShapeType="1" noTextEdit="1"/>
                </p:cNvSpPr>
                <p:nvPr/>
              </p:nvSpPr>
              <p:spPr>
                <a:xfrm>
                  <a:off x="8001000" y="3745316"/>
                  <a:ext cx="79773" cy="276999"/>
                </a:xfrm>
                <a:prstGeom prst="rect">
                  <a:avLst/>
                </a:prstGeom>
                <a:blipFill>
                  <a:blip r:embed="rId14"/>
                  <a:stretch>
                    <a:fillRect r="-84615"/>
                  </a:stretch>
                </a:blipFill>
              </p:spPr>
              <p:txBody>
                <a:bodyPr/>
                <a:lstStyle/>
                <a:p>
                  <a:r>
                    <a:rPr lang="zh-CN" altLang="en-US">
                      <a:noFill/>
                    </a:rPr>
                    <a:t> </a:t>
                  </a:r>
                </a:p>
              </p:txBody>
            </p:sp>
          </mc:Fallback>
        </mc:AlternateContent>
      </p:grpSp>
      <p:grpSp>
        <p:nvGrpSpPr>
          <p:cNvPr id="168" name="组合 167">
            <a:extLst>
              <a:ext uri="{FF2B5EF4-FFF2-40B4-BE49-F238E27FC236}">
                <a16:creationId xmlns:a16="http://schemas.microsoft.com/office/drawing/2014/main" id="{125EC9DD-E8EB-F9DA-8E7F-A200C5F35D5A}"/>
              </a:ext>
            </a:extLst>
          </p:cNvPr>
          <p:cNvGrpSpPr/>
          <p:nvPr/>
        </p:nvGrpSpPr>
        <p:grpSpPr>
          <a:xfrm>
            <a:off x="5725372" y="1618823"/>
            <a:ext cx="5442552" cy="1184491"/>
            <a:chOff x="5725372" y="1618823"/>
            <a:chExt cx="5442552" cy="1184491"/>
          </a:xfrm>
        </p:grpSpPr>
        <p:sp>
          <p:nvSpPr>
            <p:cNvPr id="127" name="文本框 126">
              <a:extLst>
                <a:ext uri="{FF2B5EF4-FFF2-40B4-BE49-F238E27FC236}">
                  <a16:creationId xmlns:a16="http://schemas.microsoft.com/office/drawing/2014/main" id="{FEBDA77F-F760-B84B-FFD3-457AD4B93B74}"/>
                </a:ext>
              </a:extLst>
            </p:cNvPr>
            <p:cNvSpPr txBox="1"/>
            <p:nvPr/>
          </p:nvSpPr>
          <p:spPr>
            <a:xfrm>
              <a:off x="5725372" y="1618823"/>
              <a:ext cx="5442552" cy="1184491"/>
            </a:xfrm>
            <a:prstGeom prst="rect">
              <a:avLst/>
            </a:prstGeom>
            <a:noFill/>
          </p:spPr>
          <p:txBody>
            <a:bodyPr wrap="square">
              <a:spAutoFit/>
            </a:bodyPr>
            <a:lstStyle/>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第三步：时空一致性对比优化，即为了实现特征解耦，引入投影头           将特征映射到对比空间，并利用</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InfoNCE Loss</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进行优化。将来自同一测量样本的 视为正样本对             ，而同一批次中其他                 个样本视为负样本。</a:t>
              </a:r>
            </a:p>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损失函数 定义为：</a:t>
              </a:r>
            </a:p>
          </p:txBody>
        </p:sp>
        <mc:AlternateContent xmlns:mc="http://schemas.openxmlformats.org/markup-compatibility/2006">
          <mc:Choice xmlns:a14="http://schemas.microsoft.com/office/drawing/2010/main" Requires="a14">
            <p:sp>
              <p:nvSpPr>
                <p:cNvPr id="138" name="文本框 137">
                  <a:extLst>
                    <a:ext uri="{FF2B5EF4-FFF2-40B4-BE49-F238E27FC236}">
                      <a16:creationId xmlns:a16="http://schemas.microsoft.com/office/drawing/2014/main" id="{E65F81E9-9889-7FAE-929E-9F4E50B4345E}"/>
                    </a:ext>
                  </a:extLst>
                </p:cNvPr>
                <p:cNvSpPr txBox="1"/>
                <p:nvPr/>
              </p:nvSpPr>
              <p:spPr>
                <a:xfrm>
                  <a:off x="10476310" y="1672689"/>
                  <a:ext cx="485962" cy="2934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chemeClr val="bg1"/>
                                </a:solidFill>
                                <a:latin typeface="Cambria Math" panose="02040503050406030204" pitchFamily="18" charset="0"/>
                              </a:rPr>
                            </m:ctrlPr>
                          </m:sSubPr>
                          <m:e>
                            <m:r>
                              <a:rPr lang="zh-CN" altLang="en-US" sz="1200" i="1">
                                <a:solidFill>
                                  <a:schemeClr val="bg1"/>
                                </a:solidFill>
                                <a:latin typeface="Cambria Math" panose="02040503050406030204" pitchFamily="18" charset="0"/>
                              </a:rPr>
                              <m:t>𝑔</m:t>
                            </m:r>
                          </m:e>
                          <m:sub>
                            <m:r>
                              <a:rPr lang="zh-CN" altLang="en-US" sz="1200" i="1">
                                <a:solidFill>
                                  <a:schemeClr val="bg1"/>
                                </a:solidFill>
                                <a:latin typeface="Cambria Math" panose="02040503050406030204" pitchFamily="18" charset="0"/>
                              </a:rPr>
                              <m:t>𝜙</m:t>
                            </m:r>
                          </m:sub>
                        </m:sSub>
                        <m:d>
                          <m:dPr>
                            <m:ctrlPr>
                              <a:rPr lang="zh-CN" altLang="en-US" sz="1200" i="1">
                                <a:solidFill>
                                  <a:schemeClr val="bg1"/>
                                </a:solidFill>
                                <a:latin typeface="Cambria Math" panose="02040503050406030204" pitchFamily="18" charset="0"/>
                              </a:rPr>
                            </m:ctrlPr>
                          </m:dPr>
                          <m:e>
                            <m:r>
                              <a:rPr lang="zh-CN" altLang="en-US" sz="1200" i="0">
                                <a:solidFill>
                                  <a:schemeClr val="bg1"/>
                                </a:solidFill>
                                <a:latin typeface="Cambria Math" panose="02040503050406030204" pitchFamily="18" charset="0"/>
                              </a:rPr>
                              <m:t>⋅</m:t>
                            </m:r>
                          </m:e>
                        </m:d>
                      </m:oMath>
                    </m:oMathPara>
                  </a14:m>
                  <a:endParaRPr lang="zh-CN" altLang="en-US" sz="1200" dirty="0">
                    <a:solidFill>
                      <a:schemeClr val="bg1"/>
                    </a:solidFill>
                  </a:endParaRPr>
                </a:p>
              </p:txBody>
            </p:sp>
          </mc:Choice>
          <mc:Fallback>
            <p:sp>
              <p:nvSpPr>
                <p:cNvPr id="138" name="文本框 137">
                  <a:extLst>
                    <a:ext uri="{FF2B5EF4-FFF2-40B4-BE49-F238E27FC236}">
                      <a16:creationId xmlns:a16="http://schemas.microsoft.com/office/drawing/2014/main" id="{E65F81E9-9889-7FAE-929E-9F4E50B4345E}"/>
                    </a:ext>
                  </a:extLst>
                </p:cNvPr>
                <p:cNvSpPr txBox="1">
                  <a:spLocks noRot="1" noChangeAspect="1" noMove="1" noResize="1" noEditPoints="1" noAdjustHandles="1" noChangeArrowheads="1" noChangeShapeType="1" noTextEdit="1"/>
                </p:cNvSpPr>
                <p:nvPr/>
              </p:nvSpPr>
              <p:spPr>
                <a:xfrm>
                  <a:off x="10476310" y="1672689"/>
                  <a:ext cx="485962" cy="293478"/>
                </a:xfrm>
                <a:prstGeom prst="rect">
                  <a:avLst/>
                </a:prstGeom>
                <a:blipFill>
                  <a:blip r:embed="rId15"/>
                  <a:stretch>
                    <a:fillRect b="-20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6" name="文本框 165">
                  <a:extLst>
                    <a:ext uri="{FF2B5EF4-FFF2-40B4-BE49-F238E27FC236}">
                      <a16:creationId xmlns:a16="http://schemas.microsoft.com/office/drawing/2014/main" id="{4C84F846-3953-3824-6504-4BA63784319D}"/>
                    </a:ext>
                  </a:extLst>
                </p:cNvPr>
                <p:cNvSpPr txBox="1"/>
                <p:nvPr/>
              </p:nvSpPr>
              <p:spPr>
                <a:xfrm>
                  <a:off x="6862763" y="2237368"/>
                  <a:ext cx="521494"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sepChr m:val=","/>
                            <m:ctrlPr>
                              <a:rPr lang="zh-CN" altLang="en-US" sz="1200" i="1">
                                <a:solidFill>
                                  <a:schemeClr val="bg1"/>
                                </a:solidFill>
                                <a:latin typeface="Cambria Math" panose="02040503050406030204" pitchFamily="18" charset="0"/>
                              </a:rPr>
                            </m:ctrlPr>
                          </m:dPr>
                          <m:e>
                            <m:sSub>
                              <m:sSubPr>
                                <m:ctrlPr>
                                  <a:rPr lang="zh-CN" altLang="en-US" sz="1200" i="1">
                                    <a:solidFill>
                                      <a:schemeClr val="bg1"/>
                                    </a:solidFill>
                                    <a:latin typeface="Cambria Math" panose="02040503050406030204" pitchFamily="18" charset="0"/>
                                  </a:rPr>
                                </m:ctrlPr>
                              </m:sSubPr>
                              <m:e>
                                <m:r>
                                  <a:rPr lang="zh-CN" altLang="en-US" sz="1200" i="1">
                                    <a:solidFill>
                                      <a:schemeClr val="bg1"/>
                                    </a:solidFill>
                                    <a:latin typeface="Cambria Math" panose="02040503050406030204" pitchFamily="18" charset="0"/>
                                  </a:rPr>
                                  <m:t>𝐳</m:t>
                                </m:r>
                              </m:e>
                              <m:sub>
                                <m:r>
                                  <a:rPr lang="zh-CN" altLang="en-US" sz="1200" i="1">
                                    <a:solidFill>
                                      <a:schemeClr val="bg1"/>
                                    </a:solidFill>
                                    <a:latin typeface="Cambria Math" panose="02040503050406030204" pitchFamily="18" charset="0"/>
                                  </a:rPr>
                                  <m:t>𝑡</m:t>
                                </m:r>
                              </m:sub>
                            </m:sSub>
                          </m:e>
                          <m:mo separator="true">,</m:mo>
                          <m:e>
                            <m:sSub>
                              <m:sSubPr>
                                <m:ctrlPr>
                                  <a:rPr lang="zh-CN" altLang="en-US" sz="1200" i="1">
                                    <a:solidFill>
                                      <a:schemeClr val="bg1"/>
                                    </a:solidFill>
                                    <a:latin typeface="Cambria Math" panose="02040503050406030204" pitchFamily="18" charset="0"/>
                                  </a:rPr>
                                </m:ctrlPr>
                              </m:sSubPr>
                              <m:e>
                                <m:r>
                                  <a:rPr lang="zh-CN" altLang="en-US" sz="1200" i="1">
                                    <a:solidFill>
                                      <a:schemeClr val="bg1"/>
                                    </a:solidFill>
                                    <a:latin typeface="Cambria Math" panose="02040503050406030204" pitchFamily="18" charset="0"/>
                                  </a:rPr>
                                  <m:t>𝐳</m:t>
                                </m:r>
                              </m:e>
                              <m:sub>
                                <m:r>
                                  <a:rPr lang="zh-CN" altLang="en-US" sz="1200" i="1">
                                    <a:solidFill>
                                      <a:schemeClr val="bg1"/>
                                    </a:solidFill>
                                    <a:latin typeface="Cambria Math" panose="02040503050406030204" pitchFamily="18" charset="0"/>
                                  </a:rPr>
                                  <m:t>𝑠</m:t>
                                </m:r>
                              </m:sub>
                            </m:sSub>
                          </m:e>
                        </m:d>
                      </m:oMath>
                    </m:oMathPara>
                  </a14:m>
                  <a:endParaRPr lang="zh-CN" altLang="en-US" sz="1200" i="1" dirty="0">
                    <a:solidFill>
                      <a:schemeClr val="bg1"/>
                    </a:solidFill>
                    <a:latin typeface="Cambria Math" panose="02040503050406030204" pitchFamily="18" charset="0"/>
                  </a:endParaRPr>
                </a:p>
              </p:txBody>
            </p:sp>
          </mc:Choice>
          <mc:Fallback>
            <p:sp>
              <p:nvSpPr>
                <p:cNvPr id="166" name="文本框 165">
                  <a:extLst>
                    <a:ext uri="{FF2B5EF4-FFF2-40B4-BE49-F238E27FC236}">
                      <a16:creationId xmlns:a16="http://schemas.microsoft.com/office/drawing/2014/main" id="{4C84F846-3953-3824-6504-4BA63784319D}"/>
                    </a:ext>
                  </a:extLst>
                </p:cNvPr>
                <p:cNvSpPr txBox="1">
                  <a:spLocks noRot="1" noChangeAspect="1" noMove="1" noResize="1" noEditPoints="1" noAdjustHandles="1" noChangeArrowheads="1" noChangeShapeType="1" noTextEdit="1"/>
                </p:cNvSpPr>
                <p:nvPr/>
              </p:nvSpPr>
              <p:spPr>
                <a:xfrm>
                  <a:off x="6862763" y="2237368"/>
                  <a:ext cx="521494" cy="276999"/>
                </a:xfrm>
                <a:prstGeom prst="rect">
                  <a:avLst/>
                </a:prstGeom>
                <a:blipFill>
                  <a:blip r:embed="rId16"/>
                  <a:stretch>
                    <a:fillRect r="-23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7" name="文本框 166">
                  <a:extLst>
                    <a:ext uri="{FF2B5EF4-FFF2-40B4-BE49-F238E27FC236}">
                      <a16:creationId xmlns:a16="http://schemas.microsoft.com/office/drawing/2014/main" id="{FA36CAA0-FFC2-5F5F-065E-2770E29E0D0D}"/>
                    </a:ext>
                  </a:extLst>
                </p:cNvPr>
                <p:cNvSpPr txBox="1"/>
                <p:nvPr/>
              </p:nvSpPr>
              <p:spPr>
                <a:xfrm>
                  <a:off x="8726647" y="2238164"/>
                  <a:ext cx="813434"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a:solidFill>
                              <a:schemeClr val="bg1"/>
                            </a:solidFill>
                            <a:latin typeface="Cambria Math" panose="02040503050406030204" pitchFamily="18" charset="0"/>
                          </a:rPr>
                          <m:t>2</m:t>
                        </m:r>
                        <m:d>
                          <m:dPr>
                            <m:ctrlPr>
                              <a:rPr lang="zh-CN" altLang="en-US" sz="1200" i="1">
                                <a:solidFill>
                                  <a:schemeClr val="bg1"/>
                                </a:solidFill>
                                <a:latin typeface="Cambria Math" panose="02040503050406030204" pitchFamily="18" charset="0"/>
                              </a:rPr>
                            </m:ctrlPr>
                          </m:dPr>
                          <m:e>
                            <m:r>
                              <a:rPr lang="zh-CN" altLang="en-US" sz="1200" i="1">
                                <a:solidFill>
                                  <a:schemeClr val="bg1"/>
                                </a:solidFill>
                                <a:latin typeface="Cambria Math" panose="02040503050406030204" pitchFamily="18" charset="0"/>
                              </a:rPr>
                              <m:t>𝑁</m:t>
                            </m:r>
                            <m:r>
                              <a:rPr lang="zh-CN" altLang="en-US" sz="1200" i="1">
                                <a:solidFill>
                                  <a:schemeClr val="bg1"/>
                                </a:solidFill>
                                <a:latin typeface="Cambria Math" panose="02040503050406030204" pitchFamily="18" charset="0"/>
                              </a:rPr>
                              <m:t>−1</m:t>
                            </m:r>
                          </m:e>
                        </m:d>
                      </m:oMath>
                    </m:oMathPara>
                  </a14:m>
                  <a:endParaRPr lang="zh-CN" altLang="en-US" sz="1200" i="1" dirty="0">
                    <a:solidFill>
                      <a:schemeClr val="bg1"/>
                    </a:solidFill>
                    <a:latin typeface="Cambria Math" panose="02040503050406030204" pitchFamily="18" charset="0"/>
                  </a:endParaRPr>
                </a:p>
              </p:txBody>
            </p:sp>
          </mc:Choice>
          <mc:Fallback>
            <p:sp>
              <p:nvSpPr>
                <p:cNvPr id="167" name="文本框 166">
                  <a:extLst>
                    <a:ext uri="{FF2B5EF4-FFF2-40B4-BE49-F238E27FC236}">
                      <a16:creationId xmlns:a16="http://schemas.microsoft.com/office/drawing/2014/main" id="{FA36CAA0-FFC2-5F5F-065E-2770E29E0D0D}"/>
                    </a:ext>
                  </a:extLst>
                </p:cNvPr>
                <p:cNvSpPr txBox="1">
                  <a:spLocks noRot="1" noChangeAspect="1" noMove="1" noResize="1" noEditPoints="1" noAdjustHandles="1" noChangeArrowheads="1" noChangeShapeType="1" noTextEdit="1"/>
                </p:cNvSpPr>
                <p:nvPr/>
              </p:nvSpPr>
              <p:spPr>
                <a:xfrm>
                  <a:off x="8726647" y="2238164"/>
                  <a:ext cx="813434" cy="276999"/>
                </a:xfrm>
                <a:prstGeom prst="rect">
                  <a:avLst/>
                </a:prstGeom>
                <a:blipFill>
                  <a:blip r:embed="rId17"/>
                  <a:stretch>
                    <a:fillRect/>
                  </a:stretch>
                </a:blipFill>
              </p:spPr>
              <p:txBody>
                <a:bodyPr/>
                <a:lstStyle/>
                <a:p>
                  <a:r>
                    <a:rPr lang="zh-CN" altLang="en-US">
                      <a:noFill/>
                    </a:rPr>
                    <a:t> </a:t>
                  </a:r>
                </a:p>
              </p:txBody>
            </p:sp>
          </mc:Fallback>
        </mc:AlternateContent>
      </p:grpSp>
      <p:grpSp>
        <p:nvGrpSpPr>
          <p:cNvPr id="169" name="组合 168">
            <a:extLst>
              <a:ext uri="{FF2B5EF4-FFF2-40B4-BE49-F238E27FC236}">
                <a16:creationId xmlns:a16="http://schemas.microsoft.com/office/drawing/2014/main" id="{128003D3-3A8C-786A-CE80-825C9852F63C}"/>
              </a:ext>
            </a:extLst>
          </p:cNvPr>
          <p:cNvGrpSpPr/>
          <p:nvPr/>
        </p:nvGrpSpPr>
        <p:grpSpPr>
          <a:xfrm>
            <a:off x="394058" y="3559182"/>
            <a:ext cx="5013132" cy="902363"/>
            <a:chOff x="394058" y="3559182"/>
            <a:chExt cx="5013132" cy="902363"/>
          </a:xfrm>
        </p:grpSpPr>
        <p:sp>
          <p:nvSpPr>
            <p:cNvPr id="78" name="文本框 77">
              <a:extLst>
                <a:ext uri="{FF2B5EF4-FFF2-40B4-BE49-F238E27FC236}">
                  <a16:creationId xmlns:a16="http://schemas.microsoft.com/office/drawing/2014/main" id="{8BFC760B-605A-B58A-A373-B3BC6C8C844D}"/>
                </a:ext>
              </a:extLst>
            </p:cNvPr>
            <p:cNvSpPr txBox="1"/>
            <p:nvPr/>
          </p:nvSpPr>
          <p:spPr>
            <a:xfrm>
              <a:off x="394058" y="3559182"/>
              <a:ext cx="5013132" cy="902363"/>
            </a:xfrm>
            <a:prstGeom prst="rect">
              <a:avLst/>
            </a:prstGeom>
            <a:noFill/>
          </p:spPr>
          <p:txBody>
            <a:bodyPr wrap="square">
              <a:spAutoFit/>
            </a:bodyPr>
            <a:lstStyle/>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空域增强：针对          ，定义增强算子           。通过对</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Traceroute</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路径中的中间路由节点进行随机</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Dropout</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或子图采样，模拟路由测量的不完整性，生成空域视图 。</a:t>
              </a:r>
              <a:endPar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87" name="文本框 86">
                  <a:extLst>
                    <a:ext uri="{FF2B5EF4-FFF2-40B4-BE49-F238E27FC236}">
                      <a16:creationId xmlns:a16="http://schemas.microsoft.com/office/drawing/2014/main" id="{7A849177-45D0-0CC8-3848-15FB5DC4E9E8}"/>
                    </a:ext>
                  </a:extLst>
                </p:cNvPr>
                <p:cNvSpPr txBox="1"/>
                <p:nvPr/>
              </p:nvSpPr>
              <p:spPr>
                <a:xfrm>
                  <a:off x="1793043" y="3615146"/>
                  <a:ext cx="443957" cy="291298"/>
                </a:xfrm>
                <a:prstGeom prst="rect">
                  <a:avLst/>
                </a:prstGeom>
                <a:noFill/>
              </p:spPr>
              <p:txBody>
                <a:bodyPr wrap="square">
                  <a:spAutoFit/>
                </a:bodyPr>
                <a:lstStyle/>
                <a:p>
                  <a:pPr/>
                  <a14:m>
                    <m:oMath xmlns:m="http://schemas.openxmlformats.org/officeDocument/2006/math">
                      <m:sSub>
                        <m:sSubPr>
                          <m:ctrlPr>
                            <a:rPr lang="zh-CN" altLang="en-US" sz="1200" i="1" smtClean="0">
                              <a:solidFill>
                                <a:schemeClr val="bg1"/>
                              </a:solidFill>
                              <a:latin typeface="Cambria Math" panose="02040503050406030204" pitchFamily="18" charset="0"/>
                            </a:rPr>
                          </m:ctrlPr>
                        </m:sSubPr>
                        <m:e>
                          <m:r>
                            <a:rPr lang="zh-CN" altLang="en-US" sz="1200" i="1">
                              <a:solidFill>
                                <a:schemeClr val="bg1"/>
                              </a:solidFill>
                              <a:latin typeface="Cambria Math" panose="02040503050406030204" pitchFamily="18" charset="0"/>
                            </a:rPr>
                            <m:t>𝑋</m:t>
                          </m:r>
                        </m:e>
                        <m:sub>
                          <m:r>
                            <a:rPr lang="zh-CN" altLang="en-US" sz="1200" i="1">
                              <a:solidFill>
                                <a:schemeClr val="bg1"/>
                              </a:solidFill>
                              <a:latin typeface="Cambria Math" panose="02040503050406030204" pitchFamily="18" charset="0"/>
                            </a:rPr>
                            <m:t>𝑡𝑜𝑝𝑜</m:t>
                          </m:r>
                        </m:sub>
                      </m:sSub>
                    </m:oMath>
                  </a14:m>
                  <a:r>
                    <a:rPr lang="zh-CN" altLang="en-US" sz="1200" dirty="0">
                      <a:solidFill>
                        <a:schemeClr val="bg1"/>
                      </a:solidFill>
                    </a:rPr>
                    <a:t>  </a:t>
                  </a:r>
                </a:p>
              </p:txBody>
            </p:sp>
          </mc:Choice>
          <mc:Fallback>
            <p:sp>
              <p:nvSpPr>
                <p:cNvPr id="87" name="文本框 86">
                  <a:extLst>
                    <a:ext uri="{FF2B5EF4-FFF2-40B4-BE49-F238E27FC236}">
                      <a16:creationId xmlns:a16="http://schemas.microsoft.com/office/drawing/2014/main" id="{7A849177-45D0-0CC8-3848-15FB5DC4E9E8}"/>
                    </a:ext>
                  </a:extLst>
                </p:cNvPr>
                <p:cNvSpPr txBox="1">
                  <a:spLocks noRot="1" noChangeAspect="1" noMove="1" noResize="1" noEditPoints="1" noAdjustHandles="1" noChangeArrowheads="1" noChangeShapeType="1" noTextEdit="1"/>
                </p:cNvSpPr>
                <p:nvPr/>
              </p:nvSpPr>
              <p:spPr>
                <a:xfrm>
                  <a:off x="1793043" y="3615146"/>
                  <a:ext cx="443957" cy="291298"/>
                </a:xfrm>
                <a:prstGeom prst="rect">
                  <a:avLst/>
                </a:prstGeom>
                <a:blipFill>
                  <a:blip r:embed="rId18"/>
                  <a:stretch>
                    <a:fillRect r="-82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9" name="文本框 88">
                  <a:extLst>
                    <a:ext uri="{FF2B5EF4-FFF2-40B4-BE49-F238E27FC236}">
                      <a16:creationId xmlns:a16="http://schemas.microsoft.com/office/drawing/2014/main" id="{40F97732-48E1-45BA-8119-EFA754AC1BA3}"/>
                    </a:ext>
                  </a:extLst>
                </p:cNvPr>
                <p:cNvSpPr txBox="1"/>
                <p:nvPr/>
              </p:nvSpPr>
              <p:spPr>
                <a:xfrm>
                  <a:off x="3243077" y="3615146"/>
                  <a:ext cx="489347" cy="2912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chemeClr val="bg1"/>
                                </a:solidFill>
                                <a:latin typeface="Cambria Math" panose="02040503050406030204" pitchFamily="18" charset="0"/>
                              </a:rPr>
                            </m:ctrlPr>
                          </m:sSubPr>
                          <m:e>
                            <m:r>
                              <a:rPr lang="zh-CN" altLang="en-US" sz="1200">
                                <a:solidFill>
                                  <a:schemeClr val="bg1"/>
                                </a:solidFill>
                                <a:latin typeface="Cambria Math" panose="02040503050406030204" pitchFamily="18" charset="0"/>
                              </a:rPr>
                              <m:t>𝒯</m:t>
                            </m:r>
                          </m:e>
                          <m:sub>
                            <m:r>
                              <a:rPr lang="zh-CN" altLang="en-US" sz="1200" i="1">
                                <a:solidFill>
                                  <a:schemeClr val="bg1"/>
                                </a:solidFill>
                                <a:latin typeface="Cambria Math" panose="02040503050406030204" pitchFamily="18" charset="0"/>
                              </a:rPr>
                              <m:t>𝑠𝑝𝑎𝑐𝑒</m:t>
                            </m:r>
                          </m:sub>
                        </m:sSub>
                      </m:oMath>
                    </m:oMathPara>
                  </a14:m>
                  <a:endParaRPr lang="zh-CN" altLang="en-US" sz="1200" dirty="0"/>
                </a:p>
              </p:txBody>
            </p:sp>
          </mc:Choice>
          <mc:Fallback>
            <p:sp>
              <p:nvSpPr>
                <p:cNvPr id="89" name="文本框 88">
                  <a:extLst>
                    <a:ext uri="{FF2B5EF4-FFF2-40B4-BE49-F238E27FC236}">
                      <a16:creationId xmlns:a16="http://schemas.microsoft.com/office/drawing/2014/main" id="{40F97732-48E1-45BA-8119-EFA754AC1BA3}"/>
                    </a:ext>
                  </a:extLst>
                </p:cNvPr>
                <p:cNvSpPr txBox="1">
                  <a:spLocks noRot="1" noChangeAspect="1" noMove="1" noResize="1" noEditPoints="1" noAdjustHandles="1" noChangeArrowheads="1" noChangeShapeType="1" noTextEdit="1"/>
                </p:cNvSpPr>
                <p:nvPr/>
              </p:nvSpPr>
              <p:spPr>
                <a:xfrm>
                  <a:off x="3243077" y="3615146"/>
                  <a:ext cx="489347" cy="291298"/>
                </a:xfrm>
                <a:prstGeom prst="rect">
                  <a:avLst/>
                </a:prstGeom>
                <a:blipFill>
                  <a:blip r:embed="rId19"/>
                  <a:stretch>
                    <a:fillRect r="-2500"/>
                  </a:stretch>
                </a:blipFill>
              </p:spPr>
              <p:txBody>
                <a:bodyPr/>
                <a:lstStyle/>
                <a:p>
                  <a:r>
                    <a:rPr lang="zh-CN" altLang="en-US">
                      <a:noFill/>
                    </a:rPr>
                    <a:t> </a:t>
                  </a:r>
                </a:p>
              </p:txBody>
            </p:sp>
          </mc:Fallback>
        </mc:AlternateContent>
      </p:grpSp>
    </p:spTree>
    <p:custDataLst>
      <p:tags r:id="rId1"/>
    </p:custDataLst>
    <p:extLst>
      <p:ext uri="{BB962C8B-B14F-4D97-AF65-F5344CB8AC3E}">
        <p14:creationId xmlns:p14="http://schemas.microsoft.com/office/powerpoint/2010/main" val="925339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E473C-9C2C-C52F-56E4-A43D80FBBF55}"/>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C151061E-9C60-B574-1BF7-4C7B3A4FD2C5}"/>
              </a:ext>
            </a:extLst>
          </p:cNvPr>
          <p:cNvGrpSpPr/>
          <p:nvPr/>
        </p:nvGrpSpPr>
        <p:grpSpPr>
          <a:xfrm>
            <a:off x="0" y="0"/>
            <a:ext cx="11520310" cy="2197259"/>
            <a:chOff x="-13" y="-9"/>
            <a:chExt cx="19200" cy="3662"/>
          </a:xfrm>
        </p:grpSpPr>
        <p:sp>
          <p:nvSpPr>
            <p:cNvPr id="15" name="文本框 14">
              <a:extLst>
                <a:ext uri="{FF2B5EF4-FFF2-40B4-BE49-F238E27FC236}">
                  <a16:creationId xmlns:a16="http://schemas.microsoft.com/office/drawing/2014/main" id="{E7F28615-7C59-C5F1-7D4D-22BDCBCFC8C3}"/>
                </a:ext>
              </a:extLst>
            </p:cNvPr>
            <p:cNvSpPr txBox="1"/>
            <p:nvPr/>
          </p:nvSpPr>
          <p:spPr>
            <a:xfrm>
              <a:off x="1712" y="1132"/>
              <a:ext cx="17475" cy="1077"/>
            </a:xfrm>
            <a:prstGeom prst="rect">
              <a:avLst/>
            </a:prstGeom>
            <a:noFill/>
          </p:spPr>
          <p:txBody>
            <a:bodyPr wrap="square" rtlCol="0">
              <a:spAutoFit/>
            </a:bodyPr>
            <a:lstStyle/>
            <a:p>
              <a:r>
                <a:rPr lang="zh-CN" altLang="en-US" sz="3600" b="1" dirty="0">
                  <a:solidFill>
                    <a:srgbClr val="1EE2F4"/>
                  </a:solidFill>
                  <a:latin typeface="字魂59号-创粗黑" panose="00000500000000000000" pitchFamily="2" charset="-122"/>
                  <a:ea typeface="字魂59号-创粗黑" panose="00000500000000000000" pitchFamily="2" charset="-122"/>
                </a:rPr>
                <a:t>创新点二：基于分布感知的网络延迟预测模型</a:t>
              </a:r>
              <a:endParaRPr lang="en-US" altLang="zh-CN" sz="3600" b="1" dirty="0">
                <a:solidFill>
                  <a:srgbClr val="1EE2F4"/>
                </a:solidFill>
                <a:latin typeface="字魂59号-创粗黑" panose="00000500000000000000" pitchFamily="2" charset="-122"/>
                <a:ea typeface="字魂59号-创粗黑" panose="00000500000000000000" pitchFamily="2" charset="-122"/>
              </a:endParaRPr>
            </a:p>
          </p:txBody>
        </p:sp>
        <p:pic>
          <p:nvPicPr>
            <p:cNvPr id="5" name="图片 4" descr="10">
              <a:extLst>
                <a:ext uri="{FF2B5EF4-FFF2-40B4-BE49-F238E27FC236}">
                  <a16:creationId xmlns:a16="http://schemas.microsoft.com/office/drawing/2014/main" id="{0F276DCD-CF97-6005-E76A-9B3173BC53C5}"/>
                </a:ext>
              </a:extLst>
            </p:cNvPr>
            <p:cNvPicPr>
              <a:picLocks noChangeAspect="1"/>
            </p:cNvPicPr>
            <p:nvPr/>
          </p:nvPicPr>
          <p:blipFill>
            <a:blip r:embed="rId4"/>
            <a:stretch>
              <a:fillRect/>
            </a:stretch>
          </p:blipFill>
          <p:spPr>
            <a:xfrm rot="16200000" flipV="1">
              <a:off x="-856" y="834"/>
              <a:ext cx="3662" cy="1975"/>
            </a:xfrm>
            <a:prstGeom prst="rect">
              <a:avLst/>
            </a:prstGeom>
          </p:spPr>
        </p:pic>
      </p:grpSp>
      <p:pic>
        <p:nvPicPr>
          <p:cNvPr id="8" name="图片 7" descr="10">
            <a:extLst>
              <a:ext uri="{FF2B5EF4-FFF2-40B4-BE49-F238E27FC236}">
                <a16:creationId xmlns:a16="http://schemas.microsoft.com/office/drawing/2014/main" id="{50450456-44A7-2CCD-E609-E407DF0EFE00}"/>
              </a:ext>
            </a:extLst>
          </p:cNvPr>
          <p:cNvPicPr>
            <a:picLocks noChangeAspect="1"/>
          </p:cNvPicPr>
          <p:nvPr/>
        </p:nvPicPr>
        <p:blipFill>
          <a:blip r:embed="rId4"/>
          <a:stretch>
            <a:fillRect/>
          </a:stretch>
        </p:blipFill>
        <p:spPr>
          <a:xfrm flipH="1">
            <a:off x="-7112" y="2548268"/>
            <a:ext cx="7352599" cy="3964907"/>
          </a:xfrm>
          <a:prstGeom prst="rect">
            <a:avLst/>
          </a:prstGeom>
        </p:spPr>
      </p:pic>
      <p:sp>
        <p:nvSpPr>
          <p:cNvPr id="2" name="文本框 1">
            <a:extLst>
              <a:ext uri="{FF2B5EF4-FFF2-40B4-BE49-F238E27FC236}">
                <a16:creationId xmlns:a16="http://schemas.microsoft.com/office/drawing/2014/main" id="{D96675EF-BD5B-66CA-F004-12E271CCA4BF}"/>
              </a:ext>
            </a:extLst>
          </p:cNvPr>
          <p:cNvSpPr txBox="1"/>
          <p:nvPr/>
        </p:nvSpPr>
        <p:spPr>
          <a:xfrm>
            <a:off x="5229141" y="1388437"/>
            <a:ext cx="1375237" cy="295808"/>
          </a:xfrm>
          <a:prstGeom prst="rect">
            <a:avLst/>
          </a:prstGeom>
          <a:noFill/>
        </p:spPr>
        <p:txBody>
          <a:bodyPr wrap="square" rtlCol="0">
            <a:spAutoFit/>
          </a:bodyPr>
          <a:lstStyle/>
          <a:p>
            <a:pPr algn="l"/>
            <a:r>
              <a:rPr lang="zh-CN" altLang="en-US" sz="1323" dirty="0">
                <a:solidFill>
                  <a:srgbClr val="1EE2F4"/>
                </a:solidFill>
                <a:latin typeface="字魂59号-创粗黑" panose="00000500000000000000" pitchFamily="2" charset="-122"/>
                <a:ea typeface="字魂59号-创粗黑" panose="00000500000000000000" pitchFamily="2" charset="-122"/>
              </a:rPr>
              <a:t>整体逻辑架构图</a:t>
            </a:r>
          </a:p>
        </p:txBody>
      </p:sp>
      <p:pic>
        <p:nvPicPr>
          <p:cNvPr id="3" name="图片 2">
            <a:extLst>
              <a:ext uri="{FF2B5EF4-FFF2-40B4-BE49-F238E27FC236}">
                <a16:creationId xmlns:a16="http://schemas.microsoft.com/office/drawing/2014/main" id="{100DF877-3CE8-BA47-E7B1-93C257021B4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61581" y="1731215"/>
            <a:ext cx="8449206" cy="4608102"/>
          </a:xfrm>
          <a:prstGeom prst="rect">
            <a:avLst/>
          </a:prstGeom>
          <a:noFill/>
          <a:ln>
            <a:noFill/>
          </a:ln>
        </p:spPr>
      </p:pic>
    </p:spTree>
    <p:custDataLst>
      <p:tags r:id="rId1"/>
    </p:custDataLst>
    <p:extLst>
      <p:ext uri="{BB962C8B-B14F-4D97-AF65-F5344CB8AC3E}">
        <p14:creationId xmlns:p14="http://schemas.microsoft.com/office/powerpoint/2010/main" val="2922596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descr="15"/>
          <p:cNvPicPr>
            <a:picLocks noChangeAspect="1"/>
          </p:cNvPicPr>
          <p:nvPr/>
        </p:nvPicPr>
        <p:blipFill>
          <a:blip r:embed="rId4"/>
          <a:srcRect b="34443"/>
          <a:stretch>
            <a:fillRect/>
          </a:stretch>
        </p:blipFill>
        <p:spPr>
          <a:xfrm>
            <a:off x="-17087" y="5208233"/>
            <a:ext cx="11531111" cy="1275634"/>
          </a:xfrm>
          <a:prstGeom prst="rect">
            <a:avLst/>
          </a:prstGeom>
        </p:spPr>
      </p:pic>
      <p:grpSp>
        <p:nvGrpSpPr>
          <p:cNvPr id="38" name="组合 37">
            <a:extLst>
              <a:ext uri="{FF2B5EF4-FFF2-40B4-BE49-F238E27FC236}">
                <a16:creationId xmlns:a16="http://schemas.microsoft.com/office/drawing/2014/main" id="{0C933C96-A622-4A03-AF16-E34E62DD7BEC}"/>
              </a:ext>
            </a:extLst>
          </p:cNvPr>
          <p:cNvGrpSpPr/>
          <p:nvPr/>
        </p:nvGrpSpPr>
        <p:grpSpPr>
          <a:xfrm>
            <a:off x="-7712" y="-5400"/>
            <a:ext cx="10624487" cy="2197259"/>
            <a:chOff x="-13" y="-9"/>
            <a:chExt cx="17707" cy="3662"/>
          </a:xfrm>
        </p:grpSpPr>
        <p:sp>
          <p:nvSpPr>
            <p:cNvPr id="41" name="文本框 40">
              <a:extLst>
                <a:ext uri="{FF2B5EF4-FFF2-40B4-BE49-F238E27FC236}">
                  <a16:creationId xmlns:a16="http://schemas.microsoft.com/office/drawing/2014/main" id="{FBCD7BFB-68B4-409C-A377-8DA512AAFF62}"/>
                </a:ext>
              </a:extLst>
            </p:cNvPr>
            <p:cNvSpPr txBox="1"/>
            <p:nvPr/>
          </p:nvSpPr>
          <p:spPr>
            <a:xfrm>
              <a:off x="1712" y="1132"/>
              <a:ext cx="15982" cy="1950"/>
            </a:xfrm>
            <a:prstGeom prst="rect">
              <a:avLst/>
            </a:prstGeom>
            <a:noFill/>
          </p:spPr>
          <p:txBody>
            <a:bodyPr wrap="square" rtlCol="0">
              <a:spAutoFit/>
            </a:bodyPr>
            <a:lstStyle/>
            <a:p>
              <a:r>
                <a:rPr lang="zh-CN" altLang="en-US" sz="3600" b="1" dirty="0">
                  <a:solidFill>
                    <a:srgbClr val="1EE2F4"/>
                  </a:solidFill>
                  <a:latin typeface="字魂59号-创粗黑" panose="00000500000000000000" pitchFamily="2" charset="-122"/>
                  <a:ea typeface="字魂59号-创粗黑" panose="00000500000000000000" pitchFamily="2" charset="-122"/>
                </a:rPr>
                <a:t>创新点二：基于分布感知的网络延迟预测模型</a:t>
              </a:r>
              <a:endParaRPr lang="en-US" altLang="zh-CN" sz="3600" b="1" dirty="0">
                <a:solidFill>
                  <a:srgbClr val="1EE2F4"/>
                </a:solidFill>
                <a:latin typeface="字魂59号-创粗黑" panose="00000500000000000000" pitchFamily="2" charset="-122"/>
                <a:ea typeface="字魂59号-创粗黑" panose="00000500000000000000" pitchFamily="2" charset="-122"/>
              </a:endParaRPr>
            </a:p>
            <a:p>
              <a:pPr algn="l"/>
              <a:endParaRPr lang="en-US" altLang="zh-CN" sz="3402" b="1" dirty="0">
                <a:solidFill>
                  <a:srgbClr val="1EE2F4"/>
                </a:solidFill>
                <a:latin typeface="字魂59号-创粗黑" panose="00000500000000000000" pitchFamily="2" charset="-122"/>
                <a:ea typeface="字魂59号-创粗黑" panose="00000500000000000000" pitchFamily="2" charset="-122"/>
              </a:endParaRPr>
            </a:p>
          </p:txBody>
        </p:sp>
        <p:pic>
          <p:nvPicPr>
            <p:cNvPr id="40" name="图片 39" descr="10">
              <a:extLst>
                <a:ext uri="{FF2B5EF4-FFF2-40B4-BE49-F238E27FC236}">
                  <a16:creationId xmlns:a16="http://schemas.microsoft.com/office/drawing/2014/main" id="{BAEC5AC0-6F77-4B33-B3E3-E46D6B615B43}"/>
                </a:ext>
              </a:extLst>
            </p:cNvPr>
            <p:cNvPicPr>
              <a:picLocks noChangeAspect="1"/>
            </p:cNvPicPr>
            <p:nvPr/>
          </p:nvPicPr>
          <p:blipFill>
            <a:blip r:embed="rId5"/>
            <a:stretch>
              <a:fillRect/>
            </a:stretch>
          </p:blipFill>
          <p:spPr>
            <a:xfrm rot="16200000" flipV="1">
              <a:off x="-856" y="834"/>
              <a:ext cx="3662" cy="1975"/>
            </a:xfrm>
            <a:prstGeom prst="rect">
              <a:avLst/>
            </a:prstGeom>
          </p:spPr>
        </p:pic>
      </p:grpSp>
      <p:grpSp>
        <p:nvGrpSpPr>
          <p:cNvPr id="99" name="组合 98">
            <a:extLst>
              <a:ext uri="{FF2B5EF4-FFF2-40B4-BE49-F238E27FC236}">
                <a16:creationId xmlns:a16="http://schemas.microsoft.com/office/drawing/2014/main" id="{FBAEE66C-2EA2-5F2B-424A-7EA5F3844BB5}"/>
              </a:ext>
            </a:extLst>
          </p:cNvPr>
          <p:cNvGrpSpPr/>
          <p:nvPr/>
        </p:nvGrpSpPr>
        <p:grpSpPr>
          <a:xfrm>
            <a:off x="319226" y="1408306"/>
            <a:ext cx="5013132" cy="1466620"/>
            <a:chOff x="352564" y="1638708"/>
            <a:chExt cx="5013132" cy="1466620"/>
          </a:xfrm>
        </p:grpSpPr>
        <p:sp>
          <p:nvSpPr>
            <p:cNvPr id="48" name="文本框 47">
              <a:extLst>
                <a:ext uri="{FF2B5EF4-FFF2-40B4-BE49-F238E27FC236}">
                  <a16:creationId xmlns:a16="http://schemas.microsoft.com/office/drawing/2014/main" id="{B632DD5C-AF7D-C7E5-3E0A-1726951089FD}"/>
                </a:ext>
              </a:extLst>
            </p:cNvPr>
            <p:cNvSpPr txBox="1"/>
            <p:nvPr/>
          </p:nvSpPr>
          <p:spPr>
            <a:xfrm>
              <a:off x="352564" y="1638708"/>
              <a:ext cx="5013132" cy="1466620"/>
            </a:xfrm>
            <a:prstGeom prst="rect">
              <a:avLst/>
            </a:prstGeom>
            <a:noFill/>
          </p:spPr>
          <p:txBody>
            <a:bodyPr wrap="square">
              <a:spAutoFit/>
            </a:bodyPr>
            <a:lstStyle/>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第一步：分布序列张量化为了捕捉“右尾扩张”等微观形态，首先将连续的 </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RTT </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数值离散化。将</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RTT</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取值范围                划分为 个区间（</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Bins</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）。对于时间窗口     内的每一帧，计算其落在各区间的概率质量，构建</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PMF</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序列                    。第</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k</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个区间的概率计算采用</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Softmax</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平滑直方图策略，以保证可微性：</a:t>
              </a:r>
              <a:endPar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68" name="文本框 67">
                  <a:extLst>
                    <a:ext uri="{FF2B5EF4-FFF2-40B4-BE49-F238E27FC236}">
                      <a16:creationId xmlns:a16="http://schemas.microsoft.com/office/drawing/2014/main" id="{A1F81FFF-AA2A-E900-39CE-5E7D82B337B6}"/>
                    </a:ext>
                  </a:extLst>
                </p:cNvPr>
                <p:cNvSpPr txBox="1"/>
                <p:nvPr/>
              </p:nvSpPr>
              <p:spPr>
                <a:xfrm>
                  <a:off x="3273768" y="1980475"/>
                  <a:ext cx="683417"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sepChr m:val=","/>
                            <m:ctrlPr>
                              <a:rPr lang="zh-CN" altLang="en-US" sz="1200" i="1" smtClean="0">
                                <a:solidFill>
                                  <a:schemeClr val="bg1"/>
                                </a:solidFill>
                                <a:latin typeface="Cambria Math" panose="02040503050406030204" pitchFamily="18" charset="0"/>
                              </a:rPr>
                            </m:ctrlPr>
                          </m:dPr>
                          <m:e>
                            <m:r>
                              <a:rPr lang="zh-CN" altLang="en-US" sz="1200">
                                <a:solidFill>
                                  <a:schemeClr val="bg1"/>
                                </a:solidFill>
                                <a:latin typeface="Cambria Math" panose="02040503050406030204" pitchFamily="18" charset="0"/>
                              </a:rPr>
                              <m:t>0</m:t>
                            </m:r>
                          </m:e>
                          <m:mo separator="true">,</m:mo>
                          <m:e>
                            <m:sSub>
                              <m:sSubPr>
                                <m:ctrlPr>
                                  <a:rPr lang="zh-CN" altLang="en-US" sz="1200" i="1">
                                    <a:solidFill>
                                      <a:schemeClr val="bg1"/>
                                    </a:solidFill>
                                    <a:latin typeface="Cambria Math" panose="02040503050406030204" pitchFamily="18" charset="0"/>
                                  </a:rPr>
                                </m:ctrlPr>
                              </m:sSubPr>
                              <m:e>
                                <m:r>
                                  <a:rPr lang="zh-CN" altLang="en-US" sz="1200" i="1">
                                    <a:solidFill>
                                      <a:schemeClr val="bg1"/>
                                    </a:solidFill>
                                    <a:latin typeface="Cambria Math" panose="02040503050406030204" pitchFamily="18" charset="0"/>
                                  </a:rPr>
                                  <m:t>𝑅</m:t>
                                </m:r>
                              </m:e>
                              <m:sub>
                                <m:r>
                                  <a:rPr lang="zh-CN" altLang="en-US" sz="1200" i="1">
                                    <a:solidFill>
                                      <a:schemeClr val="bg1"/>
                                    </a:solidFill>
                                    <a:latin typeface="Cambria Math" panose="02040503050406030204" pitchFamily="18" charset="0"/>
                                  </a:rPr>
                                  <m:t>𝑚𝑎𝑥</m:t>
                                </m:r>
                              </m:sub>
                            </m:sSub>
                          </m:e>
                        </m:d>
                      </m:oMath>
                    </m:oMathPara>
                  </a14:m>
                  <a:endParaRPr lang="zh-CN" altLang="en-US" sz="1200" dirty="0"/>
                </a:p>
              </p:txBody>
            </p:sp>
          </mc:Choice>
          <mc:Fallback>
            <p:sp>
              <p:nvSpPr>
                <p:cNvPr id="68" name="文本框 67">
                  <a:extLst>
                    <a:ext uri="{FF2B5EF4-FFF2-40B4-BE49-F238E27FC236}">
                      <a16:creationId xmlns:a16="http://schemas.microsoft.com/office/drawing/2014/main" id="{A1F81FFF-AA2A-E900-39CE-5E7D82B337B6}"/>
                    </a:ext>
                  </a:extLst>
                </p:cNvPr>
                <p:cNvSpPr txBox="1">
                  <a:spLocks noRot="1" noChangeAspect="1" noMove="1" noResize="1" noEditPoints="1" noAdjustHandles="1" noChangeArrowheads="1" noChangeShapeType="1" noTextEdit="1"/>
                </p:cNvSpPr>
                <p:nvPr/>
              </p:nvSpPr>
              <p:spPr>
                <a:xfrm>
                  <a:off x="3273768" y="1980475"/>
                  <a:ext cx="683417" cy="27699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0" name="文本框 69">
                  <a:extLst>
                    <a:ext uri="{FF2B5EF4-FFF2-40B4-BE49-F238E27FC236}">
                      <a16:creationId xmlns:a16="http://schemas.microsoft.com/office/drawing/2014/main" id="{54B33663-857B-A264-73A4-713152A540AC}"/>
                    </a:ext>
                  </a:extLst>
                </p:cNvPr>
                <p:cNvSpPr txBox="1"/>
                <p:nvPr/>
              </p:nvSpPr>
              <p:spPr>
                <a:xfrm>
                  <a:off x="1309688" y="2553821"/>
                  <a:ext cx="871537"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b="1" smtClean="0">
                            <a:solidFill>
                              <a:schemeClr val="bg1"/>
                            </a:solidFill>
                            <a:latin typeface="Cambria Math" panose="02040503050406030204" pitchFamily="18" charset="0"/>
                          </a:rPr>
                          <m:t>𝐏</m:t>
                        </m:r>
                        <m:r>
                          <a:rPr lang="zh-CN" altLang="en-US" sz="1200" b="0" i="0">
                            <a:solidFill>
                              <a:schemeClr val="bg1"/>
                            </a:solidFill>
                            <a:latin typeface="Cambria Math" panose="02040503050406030204" pitchFamily="18" charset="0"/>
                          </a:rPr>
                          <m:t>∈</m:t>
                        </m:r>
                        <m:sSup>
                          <m:sSupPr>
                            <m:ctrlPr>
                              <a:rPr lang="zh-CN" altLang="en-US" sz="1200" b="0" i="1">
                                <a:solidFill>
                                  <a:schemeClr val="bg1"/>
                                </a:solidFill>
                                <a:latin typeface="Cambria Math" panose="02040503050406030204" pitchFamily="18" charset="0"/>
                              </a:rPr>
                            </m:ctrlPr>
                          </m:sSupPr>
                          <m:e>
                            <m:r>
                              <a:rPr lang="zh-CN" altLang="en-US" sz="1200" b="0" i="0">
                                <a:solidFill>
                                  <a:schemeClr val="bg1"/>
                                </a:solidFill>
                                <a:latin typeface="Cambria Math" panose="02040503050406030204" pitchFamily="18" charset="0"/>
                              </a:rPr>
                              <m:t>ℝ</m:t>
                            </m:r>
                          </m:e>
                          <m:sup>
                            <m:r>
                              <a:rPr lang="zh-CN" altLang="en-US" sz="1200" b="0" i="1">
                                <a:solidFill>
                                  <a:schemeClr val="bg1"/>
                                </a:solidFill>
                                <a:latin typeface="Cambria Math" panose="02040503050406030204" pitchFamily="18" charset="0"/>
                              </a:rPr>
                              <m:t>𝑊</m:t>
                            </m:r>
                            <m:r>
                              <a:rPr lang="zh-CN" altLang="en-US" sz="1200" b="0" i="0">
                                <a:solidFill>
                                  <a:schemeClr val="bg1"/>
                                </a:solidFill>
                                <a:latin typeface="Cambria Math" panose="02040503050406030204" pitchFamily="18" charset="0"/>
                              </a:rPr>
                              <m:t>×</m:t>
                            </m:r>
                            <m:r>
                              <a:rPr lang="zh-CN" altLang="en-US" sz="1200" b="0" i="1">
                                <a:solidFill>
                                  <a:schemeClr val="bg1"/>
                                </a:solidFill>
                                <a:latin typeface="Cambria Math" panose="02040503050406030204" pitchFamily="18" charset="0"/>
                              </a:rPr>
                              <m:t>𝐵</m:t>
                            </m:r>
                          </m:sup>
                        </m:sSup>
                      </m:oMath>
                    </m:oMathPara>
                  </a14:m>
                  <a:endParaRPr lang="zh-CN" altLang="en-US" sz="1200" dirty="0">
                    <a:solidFill>
                      <a:schemeClr val="bg1"/>
                    </a:solidFill>
                  </a:endParaRPr>
                </a:p>
              </p:txBody>
            </p:sp>
          </mc:Choice>
          <mc:Fallback>
            <p:sp>
              <p:nvSpPr>
                <p:cNvPr id="70" name="文本框 69">
                  <a:extLst>
                    <a:ext uri="{FF2B5EF4-FFF2-40B4-BE49-F238E27FC236}">
                      <a16:creationId xmlns:a16="http://schemas.microsoft.com/office/drawing/2014/main" id="{54B33663-857B-A264-73A4-713152A540AC}"/>
                    </a:ext>
                  </a:extLst>
                </p:cNvPr>
                <p:cNvSpPr txBox="1">
                  <a:spLocks noRot="1" noChangeAspect="1" noMove="1" noResize="1" noEditPoints="1" noAdjustHandles="1" noChangeArrowheads="1" noChangeShapeType="1" noTextEdit="1"/>
                </p:cNvSpPr>
                <p:nvPr/>
              </p:nvSpPr>
              <p:spPr>
                <a:xfrm>
                  <a:off x="1309688" y="2553821"/>
                  <a:ext cx="871537" cy="276999"/>
                </a:xfrm>
                <a:prstGeom prst="rect">
                  <a:avLst/>
                </a:prstGeom>
                <a:blipFill>
                  <a:blip r:embed="rId7"/>
                  <a:stretch>
                    <a:fillRect/>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72" name="文本框 71">
                <a:extLst>
                  <a:ext uri="{FF2B5EF4-FFF2-40B4-BE49-F238E27FC236}">
                    <a16:creationId xmlns:a16="http://schemas.microsoft.com/office/drawing/2014/main" id="{77A27263-0E3B-9D6A-42FF-7240D10E2E97}"/>
                  </a:ext>
                </a:extLst>
              </p:cNvPr>
              <p:cNvSpPr txBox="1"/>
              <p:nvPr/>
            </p:nvSpPr>
            <p:spPr>
              <a:xfrm>
                <a:off x="2005013" y="2046420"/>
                <a:ext cx="19764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solidFill>
                            <a:schemeClr val="bg1"/>
                          </a:solidFill>
                          <a:latin typeface="Cambria Math" panose="02040503050406030204" pitchFamily="18" charset="0"/>
                        </a:rPr>
                        <m:t>𝑊</m:t>
                      </m:r>
                    </m:oMath>
                  </m:oMathPara>
                </a14:m>
                <a:endParaRPr lang="zh-CN" altLang="en-US" sz="1200" dirty="0">
                  <a:solidFill>
                    <a:schemeClr val="bg1"/>
                  </a:solidFill>
                </a:endParaRPr>
              </a:p>
            </p:txBody>
          </p:sp>
        </mc:Choice>
        <mc:Fallback>
          <p:sp>
            <p:nvSpPr>
              <p:cNvPr id="72" name="文本框 71">
                <a:extLst>
                  <a:ext uri="{FF2B5EF4-FFF2-40B4-BE49-F238E27FC236}">
                    <a16:creationId xmlns:a16="http://schemas.microsoft.com/office/drawing/2014/main" id="{77A27263-0E3B-9D6A-42FF-7240D10E2E97}"/>
                  </a:ext>
                </a:extLst>
              </p:cNvPr>
              <p:cNvSpPr txBox="1">
                <a:spLocks noRot="1" noChangeAspect="1" noMove="1" noResize="1" noEditPoints="1" noAdjustHandles="1" noChangeArrowheads="1" noChangeShapeType="1" noTextEdit="1"/>
              </p:cNvSpPr>
              <p:nvPr/>
            </p:nvSpPr>
            <p:spPr>
              <a:xfrm>
                <a:off x="2005013" y="2046420"/>
                <a:ext cx="197642" cy="276999"/>
              </a:xfrm>
              <a:prstGeom prst="rect">
                <a:avLst/>
              </a:prstGeom>
              <a:blipFill>
                <a:blip r:embed="rId8"/>
                <a:stretch>
                  <a:fillRect r="-50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 name="文本框 81">
                <a:extLst>
                  <a:ext uri="{FF2B5EF4-FFF2-40B4-BE49-F238E27FC236}">
                    <a16:creationId xmlns:a16="http://schemas.microsoft.com/office/drawing/2014/main" id="{11C4F93D-9CC4-9277-9D0D-E385FBFF2D8E}"/>
                  </a:ext>
                </a:extLst>
              </p:cNvPr>
              <p:cNvSpPr txBox="1"/>
              <p:nvPr/>
            </p:nvSpPr>
            <p:spPr>
              <a:xfrm>
                <a:off x="-112578" y="2992888"/>
                <a:ext cx="5765800" cy="8020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b="1" i="1" smtClean="0">
                              <a:solidFill>
                                <a:schemeClr val="bg1"/>
                              </a:solidFill>
                              <a:latin typeface="Cambria Math" panose="02040503050406030204" pitchFamily="18" charset="0"/>
                            </a:rPr>
                          </m:ctrlPr>
                        </m:sSubPr>
                        <m:e>
                          <m:r>
                            <a:rPr lang="zh-CN" altLang="en-US" sz="1800" b="1">
                              <a:solidFill>
                                <a:schemeClr val="bg1"/>
                              </a:solidFill>
                              <a:latin typeface="Cambria Math" panose="02040503050406030204" pitchFamily="18" charset="0"/>
                            </a:rPr>
                            <m:t>𝐏</m:t>
                          </m:r>
                        </m:e>
                        <m:sub>
                          <m:r>
                            <a:rPr lang="zh-CN" altLang="en-US" sz="1800" b="0" i="1">
                              <a:solidFill>
                                <a:schemeClr val="bg1"/>
                              </a:solidFill>
                              <a:latin typeface="Cambria Math" panose="02040503050406030204" pitchFamily="18" charset="0"/>
                            </a:rPr>
                            <m:t>𝑡</m:t>
                          </m:r>
                          <m:r>
                            <a:rPr lang="zh-CN" altLang="en-US" sz="1800" b="0" i="0">
                              <a:solidFill>
                                <a:schemeClr val="bg1"/>
                              </a:solidFill>
                              <a:latin typeface="Cambria Math" panose="02040503050406030204" pitchFamily="18" charset="0"/>
                            </a:rPr>
                            <m:t>,</m:t>
                          </m:r>
                          <m:r>
                            <a:rPr lang="zh-CN" altLang="en-US" sz="1800" b="0" i="1">
                              <a:solidFill>
                                <a:schemeClr val="bg1"/>
                              </a:solidFill>
                              <a:latin typeface="Cambria Math" panose="02040503050406030204" pitchFamily="18" charset="0"/>
                            </a:rPr>
                            <m:t>𝑘</m:t>
                          </m:r>
                        </m:sub>
                      </m:sSub>
                      <m:r>
                        <a:rPr lang="zh-CN" altLang="en-US" sz="1800" b="0" i="0">
                          <a:solidFill>
                            <a:schemeClr val="bg1"/>
                          </a:solidFill>
                          <a:latin typeface="Cambria Math" panose="02040503050406030204" pitchFamily="18" charset="0"/>
                        </a:rPr>
                        <m:t>=</m:t>
                      </m:r>
                      <m:f>
                        <m:fPr>
                          <m:ctrlPr>
                            <a:rPr lang="zh-CN" altLang="en-US" sz="1800" b="0" i="1">
                              <a:solidFill>
                                <a:schemeClr val="bg1"/>
                              </a:solidFill>
                              <a:latin typeface="Cambria Math" panose="02040503050406030204" pitchFamily="18" charset="0"/>
                            </a:rPr>
                          </m:ctrlPr>
                        </m:fPr>
                        <m:num>
                          <m:r>
                            <m:rPr>
                              <m:sty m:val="p"/>
                            </m:rPr>
                            <a:rPr lang="zh-CN" altLang="en-US" sz="1800" b="0" i="0">
                              <a:solidFill>
                                <a:schemeClr val="bg1"/>
                              </a:solidFill>
                              <a:latin typeface="Cambria Math" panose="02040503050406030204" pitchFamily="18" charset="0"/>
                            </a:rPr>
                            <m:t>exp</m:t>
                          </m:r>
                          <m:d>
                            <m:dPr>
                              <m:ctrlPr>
                                <a:rPr lang="zh-CN" altLang="en-US" sz="1800" b="0" i="1">
                                  <a:solidFill>
                                    <a:schemeClr val="bg1"/>
                                  </a:solidFill>
                                  <a:latin typeface="Cambria Math" panose="02040503050406030204" pitchFamily="18" charset="0"/>
                                </a:rPr>
                              </m:ctrlPr>
                            </m:dPr>
                            <m:e>
                              <m:r>
                                <a:rPr lang="zh-CN" altLang="en-US" sz="1800" b="0" i="0">
                                  <a:solidFill>
                                    <a:schemeClr val="bg1"/>
                                  </a:solidFill>
                                  <a:latin typeface="Cambria Math" panose="02040503050406030204" pitchFamily="18" charset="0"/>
                                </a:rPr>
                                <m:t>−</m:t>
                              </m:r>
                            </m:e>
                            <m:mo separator="true">|</m:mo>
                            <m:e>
                              <m:sSub>
                                <m:sSubPr>
                                  <m:ctrlPr>
                                    <a:rPr lang="zh-CN" altLang="en-US" sz="1800" b="0" i="1">
                                      <a:solidFill>
                                        <a:schemeClr val="bg1"/>
                                      </a:solidFill>
                                      <a:latin typeface="Cambria Math" panose="02040503050406030204" pitchFamily="18" charset="0"/>
                                    </a:rPr>
                                  </m:ctrlPr>
                                </m:sSubPr>
                                <m:e>
                                  <m:r>
                                    <a:rPr lang="zh-CN" altLang="en-US" sz="1800" b="0" i="1">
                                      <a:solidFill>
                                        <a:schemeClr val="bg1"/>
                                      </a:solidFill>
                                      <a:latin typeface="Cambria Math" panose="02040503050406030204" pitchFamily="18" charset="0"/>
                                    </a:rPr>
                                    <m:t>𝑟</m:t>
                                  </m:r>
                                </m:e>
                                <m:sub>
                                  <m:r>
                                    <a:rPr lang="zh-CN" altLang="en-US" sz="1800" b="0" i="1">
                                      <a:solidFill>
                                        <a:schemeClr val="bg1"/>
                                      </a:solidFill>
                                      <a:latin typeface="Cambria Math" panose="02040503050406030204" pitchFamily="18" charset="0"/>
                                    </a:rPr>
                                    <m:t>𝑡</m:t>
                                  </m:r>
                                </m:sub>
                              </m:sSub>
                              <m:r>
                                <a:rPr lang="zh-CN" altLang="en-US" sz="1800" b="0" i="0">
                                  <a:solidFill>
                                    <a:schemeClr val="bg1"/>
                                  </a:solidFill>
                                  <a:latin typeface="Cambria Math" panose="02040503050406030204" pitchFamily="18" charset="0"/>
                                </a:rPr>
                                <m:t>−</m:t>
                              </m:r>
                              <m:sSub>
                                <m:sSubPr>
                                  <m:ctrlPr>
                                    <a:rPr lang="zh-CN" altLang="en-US" sz="1800" b="0" i="1">
                                      <a:solidFill>
                                        <a:schemeClr val="bg1"/>
                                      </a:solidFill>
                                      <a:latin typeface="Cambria Math" panose="02040503050406030204" pitchFamily="18" charset="0"/>
                                    </a:rPr>
                                  </m:ctrlPr>
                                </m:sSubPr>
                                <m:e>
                                  <m:r>
                                    <a:rPr lang="zh-CN" altLang="en-US" sz="1800" b="0" i="1">
                                      <a:solidFill>
                                        <a:schemeClr val="bg1"/>
                                      </a:solidFill>
                                      <a:latin typeface="Cambria Math" panose="02040503050406030204" pitchFamily="18" charset="0"/>
                                    </a:rPr>
                                    <m:t>𝑐</m:t>
                                  </m:r>
                                </m:e>
                                <m:sub>
                                  <m:r>
                                    <a:rPr lang="zh-CN" altLang="en-US" sz="1800" b="0" i="1">
                                      <a:solidFill>
                                        <a:schemeClr val="bg1"/>
                                      </a:solidFill>
                                      <a:latin typeface="Cambria Math" panose="02040503050406030204" pitchFamily="18" charset="0"/>
                                    </a:rPr>
                                    <m:t>𝑘</m:t>
                                  </m:r>
                                </m:sub>
                              </m:sSub>
                              <m:f>
                                <m:fPr>
                                  <m:type m:val="lin"/>
                                  <m:ctrlPr>
                                    <a:rPr lang="zh-CN" altLang="en-US" sz="1800" b="0" i="1">
                                      <a:solidFill>
                                        <a:schemeClr val="bg1"/>
                                      </a:solidFill>
                                      <a:latin typeface="Cambria Math" panose="02040503050406030204" pitchFamily="18" charset="0"/>
                                    </a:rPr>
                                  </m:ctrlPr>
                                </m:fPr>
                                <m:num>
                                  <m:sSup>
                                    <m:sSupPr>
                                      <m:ctrlPr>
                                        <a:rPr lang="zh-CN" altLang="en-US" sz="1800" b="0" i="1">
                                          <a:solidFill>
                                            <a:schemeClr val="bg1"/>
                                          </a:solidFill>
                                          <a:latin typeface="Cambria Math" panose="02040503050406030204" pitchFamily="18" charset="0"/>
                                        </a:rPr>
                                      </m:ctrlPr>
                                    </m:sSupPr>
                                    <m:e>
                                      <m:d>
                                        <m:dPr>
                                          <m:begChr m:val=""/>
                                          <m:endChr m:val=""/>
                                          <m:ctrlPr>
                                            <a:rPr lang="zh-CN" altLang="en-US" sz="1800" b="0" i="1">
                                              <a:solidFill>
                                                <a:schemeClr val="bg1"/>
                                              </a:solidFill>
                                              <a:latin typeface="Cambria Math" panose="02040503050406030204" pitchFamily="18" charset="0"/>
                                            </a:rPr>
                                          </m:ctrlPr>
                                        </m:dPr>
                                        <m:e>
                                          <m:r>
                                            <a:rPr lang="zh-CN" altLang="en-US" sz="1800" b="0" i="0">
                                              <a:solidFill>
                                                <a:schemeClr val="bg1"/>
                                              </a:solidFill>
                                              <a:latin typeface="Cambria Math" panose="02040503050406030204" pitchFamily="18" charset="0"/>
                                            </a:rPr>
                                            <m:t>|</m:t>
                                          </m:r>
                                        </m:e>
                                      </m:d>
                                    </m:e>
                                    <m:sup>
                                      <m:r>
                                        <a:rPr lang="zh-CN" altLang="en-US" sz="1800" b="0" i="0">
                                          <a:solidFill>
                                            <a:schemeClr val="bg1"/>
                                          </a:solidFill>
                                          <a:latin typeface="Cambria Math" panose="02040503050406030204" pitchFamily="18" charset="0"/>
                                        </a:rPr>
                                        <m:t>2</m:t>
                                      </m:r>
                                    </m:sup>
                                  </m:sSup>
                                </m:num>
                                <m:den>
                                  <m:r>
                                    <a:rPr lang="zh-CN" altLang="en-US" sz="1800" b="0" i="1">
                                      <a:solidFill>
                                        <a:schemeClr val="bg1"/>
                                      </a:solidFill>
                                      <a:latin typeface="Cambria Math" panose="02040503050406030204" pitchFamily="18" charset="0"/>
                                    </a:rPr>
                                    <m:t>𝜎</m:t>
                                  </m:r>
                                </m:den>
                              </m:f>
                            </m:e>
                          </m:d>
                        </m:num>
                        <m:den>
                          <m:nary>
                            <m:naryPr>
                              <m:chr m:val="∑"/>
                              <m:limLoc m:val="undOvr"/>
                              <m:grow m:val="on"/>
                              <m:ctrlPr>
                                <a:rPr lang="zh-CN" altLang="en-US" sz="1800" b="0" i="1">
                                  <a:solidFill>
                                    <a:schemeClr val="bg1"/>
                                  </a:solidFill>
                                  <a:latin typeface="Cambria Math" panose="02040503050406030204" pitchFamily="18" charset="0"/>
                                </a:rPr>
                              </m:ctrlPr>
                            </m:naryPr>
                            <m:sub>
                              <m:r>
                                <a:rPr lang="zh-CN" altLang="en-US" sz="1800" b="0" i="1">
                                  <a:solidFill>
                                    <a:schemeClr val="bg1"/>
                                  </a:solidFill>
                                  <a:latin typeface="Cambria Math" panose="02040503050406030204" pitchFamily="18" charset="0"/>
                                </a:rPr>
                                <m:t>𝑗</m:t>
                              </m:r>
                              <m:r>
                                <a:rPr lang="zh-CN" altLang="en-US" sz="1800" b="0" i="0">
                                  <a:solidFill>
                                    <a:schemeClr val="bg1"/>
                                  </a:solidFill>
                                  <a:latin typeface="Cambria Math" panose="02040503050406030204" pitchFamily="18" charset="0"/>
                                </a:rPr>
                                <m:t>=1</m:t>
                              </m:r>
                            </m:sub>
                            <m:sup>
                              <m:r>
                                <a:rPr lang="zh-CN" altLang="en-US" sz="1800" b="0" i="1">
                                  <a:solidFill>
                                    <a:schemeClr val="bg1"/>
                                  </a:solidFill>
                                  <a:latin typeface="Cambria Math" panose="02040503050406030204" pitchFamily="18" charset="0"/>
                                </a:rPr>
                                <m:t>𝐵</m:t>
                              </m:r>
                            </m:sup>
                            <m:e>
                              <m:r>
                                <m:rPr>
                                  <m:sty m:val="p"/>
                                </m:rPr>
                                <a:rPr lang="zh-CN" altLang="en-US" sz="1800" b="0" i="0">
                                  <a:solidFill>
                                    <a:schemeClr val="bg1"/>
                                  </a:solidFill>
                                  <a:latin typeface="Cambria Math" panose="02040503050406030204" pitchFamily="18" charset="0"/>
                                </a:rPr>
                                <m:t>exp</m:t>
                              </m:r>
                            </m:e>
                          </m:nary>
                          <m:d>
                            <m:dPr>
                              <m:ctrlPr>
                                <a:rPr lang="zh-CN" altLang="en-US" sz="1800" b="0" i="1">
                                  <a:solidFill>
                                    <a:schemeClr val="bg1"/>
                                  </a:solidFill>
                                  <a:latin typeface="Cambria Math" panose="02040503050406030204" pitchFamily="18" charset="0"/>
                                </a:rPr>
                              </m:ctrlPr>
                            </m:dPr>
                            <m:e>
                              <m:r>
                                <a:rPr lang="zh-CN" altLang="en-US" sz="1800" b="0" i="0">
                                  <a:solidFill>
                                    <a:schemeClr val="bg1"/>
                                  </a:solidFill>
                                  <a:latin typeface="Cambria Math" panose="02040503050406030204" pitchFamily="18" charset="0"/>
                                </a:rPr>
                                <m:t>−</m:t>
                              </m:r>
                            </m:e>
                            <m:mo separator="true">|</m:mo>
                            <m:e>
                              <m:sSub>
                                <m:sSubPr>
                                  <m:ctrlPr>
                                    <a:rPr lang="zh-CN" altLang="en-US" sz="1800" b="0" i="1">
                                      <a:solidFill>
                                        <a:schemeClr val="bg1"/>
                                      </a:solidFill>
                                      <a:latin typeface="Cambria Math" panose="02040503050406030204" pitchFamily="18" charset="0"/>
                                    </a:rPr>
                                  </m:ctrlPr>
                                </m:sSubPr>
                                <m:e>
                                  <m:r>
                                    <a:rPr lang="zh-CN" altLang="en-US" sz="1800" b="0" i="1">
                                      <a:solidFill>
                                        <a:schemeClr val="bg1"/>
                                      </a:solidFill>
                                      <a:latin typeface="Cambria Math" panose="02040503050406030204" pitchFamily="18" charset="0"/>
                                    </a:rPr>
                                    <m:t>𝑟</m:t>
                                  </m:r>
                                </m:e>
                                <m:sub>
                                  <m:r>
                                    <a:rPr lang="zh-CN" altLang="en-US" sz="1800" b="0" i="1">
                                      <a:solidFill>
                                        <a:schemeClr val="bg1"/>
                                      </a:solidFill>
                                      <a:latin typeface="Cambria Math" panose="02040503050406030204" pitchFamily="18" charset="0"/>
                                    </a:rPr>
                                    <m:t>𝑡</m:t>
                                  </m:r>
                                </m:sub>
                              </m:sSub>
                              <m:r>
                                <a:rPr lang="zh-CN" altLang="en-US" sz="1800" b="0" i="0">
                                  <a:solidFill>
                                    <a:schemeClr val="bg1"/>
                                  </a:solidFill>
                                  <a:latin typeface="Cambria Math" panose="02040503050406030204" pitchFamily="18" charset="0"/>
                                </a:rPr>
                                <m:t>−</m:t>
                              </m:r>
                              <m:sSub>
                                <m:sSubPr>
                                  <m:ctrlPr>
                                    <a:rPr lang="zh-CN" altLang="en-US" sz="1800" b="0" i="1">
                                      <a:solidFill>
                                        <a:schemeClr val="bg1"/>
                                      </a:solidFill>
                                      <a:latin typeface="Cambria Math" panose="02040503050406030204" pitchFamily="18" charset="0"/>
                                    </a:rPr>
                                  </m:ctrlPr>
                                </m:sSubPr>
                                <m:e>
                                  <m:r>
                                    <a:rPr lang="zh-CN" altLang="en-US" sz="1800" b="0" i="1">
                                      <a:solidFill>
                                        <a:schemeClr val="bg1"/>
                                      </a:solidFill>
                                      <a:latin typeface="Cambria Math" panose="02040503050406030204" pitchFamily="18" charset="0"/>
                                    </a:rPr>
                                    <m:t>𝑐</m:t>
                                  </m:r>
                                </m:e>
                                <m:sub>
                                  <m:r>
                                    <a:rPr lang="zh-CN" altLang="en-US" sz="1800" b="0" i="1">
                                      <a:solidFill>
                                        <a:schemeClr val="bg1"/>
                                      </a:solidFill>
                                      <a:latin typeface="Cambria Math" panose="02040503050406030204" pitchFamily="18" charset="0"/>
                                    </a:rPr>
                                    <m:t>𝑗</m:t>
                                  </m:r>
                                </m:sub>
                              </m:sSub>
                              <m:f>
                                <m:fPr>
                                  <m:type m:val="lin"/>
                                  <m:ctrlPr>
                                    <a:rPr lang="zh-CN" altLang="en-US" sz="1800" b="0" i="1">
                                      <a:solidFill>
                                        <a:schemeClr val="bg1"/>
                                      </a:solidFill>
                                      <a:latin typeface="Cambria Math" panose="02040503050406030204" pitchFamily="18" charset="0"/>
                                    </a:rPr>
                                  </m:ctrlPr>
                                </m:fPr>
                                <m:num>
                                  <m:sSup>
                                    <m:sSupPr>
                                      <m:ctrlPr>
                                        <a:rPr lang="zh-CN" altLang="en-US" sz="1800" b="0" i="1">
                                          <a:solidFill>
                                            <a:schemeClr val="bg1"/>
                                          </a:solidFill>
                                          <a:latin typeface="Cambria Math" panose="02040503050406030204" pitchFamily="18" charset="0"/>
                                        </a:rPr>
                                      </m:ctrlPr>
                                    </m:sSupPr>
                                    <m:e>
                                      <m:d>
                                        <m:dPr>
                                          <m:begChr m:val=""/>
                                          <m:endChr m:val=""/>
                                          <m:ctrlPr>
                                            <a:rPr lang="zh-CN" altLang="en-US" sz="1800" b="0" i="1">
                                              <a:solidFill>
                                                <a:schemeClr val="bg1"/>
                                              </a:solidFill>
                                              <a:latin typeface="Cambria Math" panose="02040503050406030204" pitchFamily="18" charset="0"/>
                                            </a:rPr>
                                          </m:ctrlPr>
                                        </m:dPr>
                                        <m:e>
                                          <m:r>
                                            <a:rPr lang="zh-CN" altLang="en-US" sz="1800" b="0" i="0">
                                              <a:solidFill>
                                                <a:schemeClr val="bg1"/>
                                              </a:solidFill>
                                              <a:latin typeface="Cambria Math" panose="02040503050406030204" pitchFamily="18" charset="0"/>
                                            </a:rPr>
                                            <m:t>|</m:t>
                                          </m:r>
                                        </m:e>
                                      </m:d>
                                    </m:e>
                                    <m:sup>
                                      <m:r>
                                        <a:rPr lang="zh-CN" altLang="en-US" sz="1800" b="0" i="0">
                                          <a:solidFill>
                                            <a:schemeClr val="bg1"/>
                                          </a:solidFill>
                                          <a:latin typeface="Cambria Math" panose="02040503050406030204" pitchFamily="18" charset="0"/>
                                        </a:rPr>
                                        <m:t>2</m:t>
                                      </m:r>
                                    </m:sup>
                                  </m:sSup>
                                </m:num>
                                <m:den>
                                  <m:r>
                                    <a:rPr lang="zh-CN" altLang="en-US" sz="1800" b="0" i="1">
                                      <a:solidFill>
                                        <a:schemeClr val="bg1"/>
                                      </a:solidFill>
                                      <a:latin typeface="Cambria Math" panose="02040503050406030204" pitchFamily="18" charset="0"/>
                                    </a:rPr>
                                    <m:t>𝜎</m:t>
                                  </m:r>
                                </m:den>
                              </m:f>
                            </m:e>
                          </m:d>
                        </m:den>
                      </m:f>
                    </m:oMath>
                  </m:oMathPara>
                </a14:m>
                <a:endParaRPr lang="zh-CN" altLang="en-US" dirty="0"/>
              </a:p>
            </p:txBody>
          </p:sp>
        </mc:Choice>
        <mc:Fallback>
          <p:sp>
            <p:nvSpPr>
              <p:cNvPr id="82" name="文本框 81">
                <a:extLst>
                  <a:ext uri="{FF2B5EF4-FFF2-40B4-BE49-F238E27FC236}">
                    <a16:creationId xmlns:a16="http://schemas.microsoft.com/office/drawing/2014/main" id="{11C4F93D-9CC4-9277-9D0D-E385FBFF2D8E}"/>
                  </a:ext>
                </a:extLst>
              </p:cNvPr>
              <p:cNvSpPr txBox="1">
                <a:spLocks noRot="1" noChangeAspect="1" noMove="1" noResize="1" noEditPoints="1" noAdjustHandles="1" noChangeArrowheads="1" noChangeShapeType="1" noTextEdit="1"/>
              </p:cNvSpPr>
              <p:nvPr/>
            </p:nvSpPr>
            <p:spPr>
              <a:xfrm>
                <a:off x="-112578" y="2992888"/>
                <a:ext cx="5765800" cy="802014"/>
              </a:xfrm>
              <a:prstGeom prst="rect">
                <a:avLst/>
              </a:prstGeom>
              <a:blipFill>
                <a:blip r:embed="rId9"/>
                <a:stretch>
                  <a:fillRect/>
                </a:stretch>
              </a:blipFill>
            </p:spPr>
            <p:txBody>
              <a:bodyPr/>
              <a:lstStyle/>
              <a:p>
                <a:r>
                  <a:rPr lang="zh-CN" altLang="en-US">
                    <a:noFill/>
                  </a:rPr>
                  <a:t> </a:t>
                </a:r>
              </a:p>
            </p:txBody>
          </p:sp>
        </mc:Fallback>
      </mc:AlternateContent>
      <p:grpSp>
        <p:nvGrpSpPr>
          <p:cNvPr id="98" name="组合 97">
            <a:extLst>
              <a:ext uri="{FF2B5EF4-FFF2-40B4-BE49-F238E27FC236}">
                <a16:creationId xmlns:a16="http://schemas.microsoft.com/office/drawing/2014/main" id="{CCDF3F4B-D3FE-1763-7970-64B662E0D9F0}"/>
              </a:ext>
            </a:extLst>
          </p:cNvPr>
          <p:cNvGrpSpPr/>
          <p:nvPr/>
        </p:nvGrpSpPr>
        <p:grpSpPr>
          <a:xfrm>
            <a:off x="319226" y="3915322"/>
            <a:ext cx="5013132" cy="1184491"/>
            <a:chOff x="352564" y="4145724"/>
            <a:chExt cx="5013132" cy="1184491"/>
          </a:xfrm>
        </p:grpSpPr>
        <p:sp>
          <p:nvSpPr>
            <p:cNvPr id="92" name="文本框 91">
              <a:extLst>
                <a:ext uri="{FF2B5EF4-FFF2-40B4-BE49-F238E27FC236}">
                  <a16:creationId xmlns:a16="http://schemas.microsoft.com/office/drawing/2014/main" id="{C4DB6C7D-57D0-CAF5-203D-48711438AA38}"/>
                </a:ext>
              </a:extLst>
            </p:cNvPr>
            <p:cNvSpPr txBox="1"/>
            <p:nvPr/>
          </p:nvSpPr>
          <p:spPr>
            <a:xfrm>
              <a:off x="352564" y="4145724"/>
              <a:ext cx="5013132" cy="1184491"/>
            </a:xfrm>
            <a:prstGeom prst="rect">
              <a:avLst/>
            </a:prstGeom>
            <a:noFill/>
          </p:spPr>
          <p:txBody>
            <a:bodyPr wrap="square">
              <a:spAutoFit/>
            </a:bodyPr>
            <a:lstStyle/>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第二步：微结构特征深度融合为了结合宏观状态与微观形态，模型设计了特征融合层。将上游任务输出的物理状态表征   （包含拥塞</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路由的解耦信息）作为全局上下文，与当前的分布形态特征      进行通道级拼接：</a:t>
              </a:r>
              <a:endPar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94" name="文本框 93">
                  <a:extLst>
                    <a:ext uri="{FF2B5EF4-FFF2-40B4-BE49-F238E27FC236}">
                      <a16:creationId xmlns:a16="http://schemas.microsoft.com/office/drawing/2014/main" id="{4A42D99B-5DED-EF90-D08E-FCD44487D586}"/>
                    </a:ext>
                  </a:extLst>
                </p:cNvPr>
                <p:cNvSpPr txBox="1"/>
                <p:nvPr/>
              </p:nvSpPr>
              <p:spPr>
                <a:xfrm>
                  <a:off x="3895725" y="4478269"/>
                  <a:ext cx="191405"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b="1" smtClean="0">
                            <a:solidFill>
                              <a:schemeClr val="bg1"/>
                            </a:solidFill>
                            <a:latin typeface="Cambria Math" panose="02040503050406030204" pitchFamily="18" charset="0"/>
                          </a:rPr>
                          <m:t>𝐳</m:t>
                        </m:r>
                      </m:oMath>
                    </m:oMathPara>
                  </a14:m>
                  <a:endParaRPr lang="zh-CN" altLang="en-US" sz="1200" dirty="0">
                    <a:solidFill>
                      <a:schemeClr val="bg1"/>
                    </a:solidFill>
                  </a:endParaRPr>
                </a:p>
              </p:txBody>
            </p:sp>
          </mc:Choice>
          <mc:Fallback>
            <p:sp>
              <p:nvSpPr>
                <p:cNvPr id="94" name="文本框 93">
                  <a:extLst>
                    <a:ext uri="{FF2B5EF4-FFF2-40B4-BE49-F238E27FC236}">
                      <a16:creationId xmlns:a16="http://schemas.microsoft.com/office/drawing/2014/main" id="{4A42D99B-5DED-EF90-D08E-FCD44487D586}"/>
                    </a:ext>
                  </a:extLst>
                </p:cNvPr>
                <p:cNvSpPr txBox="1">
                  <a:spLocks noRot="1" noChangeAspect="1" noMove="1" noResize="1" noEditPoints="1" noAdjustHandles="1" noChangeArrowheads="1" noChangeShapeType="1" noTextEdit="1"/>
                </p:cNvSpPr>
                <p:nvPr/>
              </p:nvSpPr>
              <p:spPr>
                <a:xfrm>
                  <a:off x="3895725" y="4478269"/>
                  <a:ext cx="191405" cy="276999"/>
                </a:xfrm>
                <a:prstGeom prst="rect">
                  <a:avLst/>
                </a:prstGeom>
                <a:blipFill>
                  <a:blip r:embed="rId10"/>
                  <a:stretch>
                    <a:fillRect r="-64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6" name="文本框 95">
                  <a:extLst>
                    <a:ext uri="{FF2B5EF4-FFF2-40B4-BE49-F238E27FC236}">
                      <a16:creationId xmlns:a16="http://schemas.microsoft.com/office/drawing/2014/main" id="{07DDF617-7265-1CE3-BD51-F2D4F9A8868B}"/>
                    </a:ext>
                  </a:extLst>
                </p:cNvPr>
                <p:cNvSpPr txBox="1"/>
                <p:nvPr/>
              </p:nvSpPr>
              <p:spPr>
                <a:xfrm>
                  <a:off x="4058126" y="4763092"/>
                  <a:ext cx="165100" cy="276999"/>
                </a:xfrm>
                <a:prstGeom prst="rect">
                  <a:avLst/>
                </a:prstGeom>
                <a:noFill/>
              </p:spPr>
              <p:txBody>
                <a:bodyPr wrap="square">
                  <a:spAutoFit/>
                </a:bodyPr>
                <a:lstStyle/>
                <a:p>
                  <a:pPr/>
                  <a14:m>
                    <m:oMath xmlns:m="http://schemas.openxmlformats.org/officeDocument/2006/math">
                      <m:sSub>
                        <m:sSubPr>
                          <m:ctrlPr>
                            <a:rPr lang="zh-CN" altLang="en-US" sz="1200" b="1" i="1" smtClean="0">
                              <a:solidFill>
                                <a:schemeClr val="bg1"/>
                              </a:solidFill>
                              <a:latin typeface="Cambria Math" panose="02040503050406030204" pitchFamily="18" charset="0"/>
                            </a:rPr>
                          </m:ctrlPr>
                        </m:sSubPr>
                        <m:e>
                          <m:r>
                            <a:rPr lang="zh-CN" altLang="en-US" sz="1200" b="1">
                              <a:solidFill>
                                <a:schemeClr val="bg1"/>
                              </a:solidFill>
                              <a:latin typeface="Cambria Math" panose="02040503050406030204" pitchFamily="18" charset="0"/>
                            </a:rPr>
                            <m:t>𝐌</m:t>
                          </m:r>
                        </m:e>
                        <m:sub>
                          <m:r>
                            <a:rPr lang="zh-CN" altLang="en-US" sz="1200" b="0" i="1">
                              <a:solidFill>
                                <a:schemeClr val="bg1"/>
                              </a:solidFill>
                              <a:latin typeface="Cambria Math" panose="02040503050406030204" pitchFamily="18" charset="0"/>
                            </a:rPr>
                            <m:t>𝑡</m:t>
                          </m:r>
                        </m:sub>
                      </m:sSub>
                    </m:oMath>
                  </a14:m>
                  <a:r>
                    <a:rPr lang="zh-CN" altLang="en-US" sz="1200" dirty="0"/>
                    <a:t> </a:t>
                  </a:r>
                </a:p>
              </p:txBody>
            </p:sp>
          </mc:Choice>
          <mc:Fallback>
            <p:sp>
              <p:nvSpPr>
                <p:cNvPr id="96" name="文本框 95">
                  <a:extLst>
                    <a:ext uri="{FF2B5EF4-FFF2-40B4-BE49-F238E27FC236}">
                      <a16:creationId xmlns:a16="http://schemas.microsoft.com/office/drawing/2014/main" id="{07DDF617-7265-1CE3-BD51-F2D4F9A8868B}"/>
                    </a:ext>
                  </a:extLst>
                </p:cNvPr>
                <p:cNvSpPr txBox="1">
                  <a:spLocks noRot="1" noChangeAspect="1" noMove="1" noResize="1" noEditPoints="1" noAdjustHandles="1" noChangeArrowheads="1" noChangeShapeType="1" noTextEdit="1"/>
                </p:cNvSpPr>
                <p:nvPr/>
              </p:nvSpPr>
              <p:spPr>
                <a:xfrm>
                  <a:off x="4058126" y="4763092"/>
                  <a:ext cx="165100" cy="276999"/>
                </a:xfrm>
                <a:prstGeom prst="rect">
                  <a:avLst/>
                </a:prstGeom>
                <a:blipFill>
                  <a:blip r:embed="rId11"/>
                  <a:stretch>
                    <a:fillRect r="-85185"/>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01" name="文本框 100">
                <a:extLst>
                  <a:ext uri="{FF2B5EF4-FFF2-40B4-BE49-F238E27FC236}">
                    <a16:creationId xmlns:a16="http://schemas.microsoft.com/office/drawing/2014/main" id="{7429830A-BEAD-8D89-8D59-C57B191CB730}"/>
                  </a:ext>
                </a:extLst>
              </p:cNvPr>
              <p:cNvSpPr txBox="1"/>
              <p:nvPr/>
            </p:nvSpPr>
            <p:spPr>
              <a:xfrm>
                <a:off x="491676" y="5176044"/>
                <a:ext cx="4440746" cy="411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b="1" i="1" smtClean="0">
                              <a:solidFill>
                                <a:schemeClr val="bg1"/>
                              </a:solidFill>
                              <a:latin typeface="Cambria Math" panose="02040503050406030204" pitchFamily="18" charset="0"/>
                            </a:rPr>
                          </m:ctrlPr>
                        </m:sSubPr>
                        <m:e>
                          <m:r>
                            <a:rPr lang="zh-CN" altLang="en-US" sz="1800" b="1">
                              <a:solidFill>
                                <a:schemeClr val="bg1"/>
                              </a:solidFill>
                              <a:latin typeface="Cambria Math" panose="02040503050406030204" pitchFamily="18" charset="0"/>
                            </a:rPr>
                            <m:t>𝐅</m:t>
                          </m:r>
                        </m:e>
                        <m:sub>
                          <m:r>
                            <a:rPr lang="zh-CN" altLang="en-US" sz="1800" b="0" i="1">
                              <a:solidFill>
                                <a:schemeClr val="bg1"/>
                              </a:solidFill>
                              <a:latin typeface="Cambria Math" panose="02040503050406030204" pitchFamily="18" charset="0"/>
                            </a:rPr>
                            <m:t>𝑡</m:t>
                          </m:r>
                        </m:sub>
                      </m:sSub>
                      <m:r>
                        <a:rPr lang="zh-CN" altLang="en-US" sz="1800" b="0" i="0">
                          <a:solidFill>
                            <a:schemeClr val="bg1"/>
                          </a:solidFill>
                          <a:latin typeface="Cambria Math" panose="02040503050406030204" pitchFamily="18" charset="0"/>
                        </a:rPr>
                        <m:t>=</m:t>
                      </m:r>
                      <m:r>
                        <m:rPr>
                          <m:nor/>
                        </m:rPr>
                        <a:rPr lang="zh-CN" altLang="en-US" sz="1800" b="0" i="1">
                          <a:solidFill>
                            <a:schemeClr val="bg1"/>
                          </a:solidFill>
                          <a:latin typeface="Cambria Math" panose="02040503050406030204" pitchFamily="18" charset="0"/>
                        </a:rPr>
                        <m:t>ReLU</m:t>
                      </m:r>
                      <m:d>
                        <m:dPr>
                          <m:ctrlPr>
                            <a:rPr lang="zh-CN" altLang="en-US" sz="1800" b="0" i="1">
                              <a:solidFill>
                                <a:schemeClr val="bg1"/>
                              </a:solidFill>
                              <a:latin typeface="Cambria Math" panose="02040503050406030204" pitchFamily="18" charset="0"/>
                            </a:rPr>
                          </m:ctrlPr>
                        </m:dPr>
                        <m:e>
                          <m:sSub>
                            <m:sSubPr>
                              <m:ctrlPr>
                                <a:rPr lang="zh-CN" altLang="en-US" sz="1800" b="0" i="1">
                                  <a:solidFill>
                                    <a:schemeClr val="bg1"/>
                                  </a:solidFill>
                                  <a:latin typeface="Cambria Math" panose="02040503050406030204" pitchFamily="18" charset="0"/>
                                </a:rPr>
                              </m:ctrlPr>
                            </m:sSubPr>
                            <m:e>
                              <m:r>
                                <a:rPr lang="zh-CN" altLang="en-US" sz="1800" b="1" i="0">
                                  <a:solidFill>
                                    <a:schemeClr val="bg1"/>
                                  </a:solidFill>
                                  <a:latin typeface="Cambria Math" panose="02040503050406030204" pitchFamily="18" charset="0"/>
                                </a:rPr>
                                <m:t>𝐖</m:t>
                              </m:r>
                            </m:e>
                            <m:sub>
                              <m:r>
                                <a:rPr lang="zh-CN" altLang="en-US" sz="1800" b="0" i="1">
                                  <a:solidFill>
                                    <a:schemeClr val="bg1"/>
                                  </a:solidFill>
                                  <a:latin typeface="Cambria Math" panose="02040503050406030204" pitchFamily="18" charset="0"/>
                                </a:rPr>
                                <m:t>𝑓</m:t>
                              </m:r>
                            </m:sub>
                          </m:sSub>
                          <m:d>
                            <m:dPr>
                              <m:begChr m:val="["/>
                              <m:endChr m:val="]"/>
                              <m:ctrlPr>
                                <a:rPr lang="zh-CN" altLang="en-US" sz="1800" b="0" i="1">
                                  <a:solidFill>
                                    <a:schemeClr val="bg1"/>
                                  </a:solidFill>
                                  <a:latin typeface="Cambria Math" panose="02040503050406030204" pitchFamily="18" charset="0"/>
                                </a:rPr>
                              </m:ctrlPr>
                            </m:dPr>
                            <m:e>
                              <m:sSub>
                                <m:sSubPr>
                                  <m:ctrlPr>
                                    <a:rPr lang="zh-CN" altLang="en-US" sz="1800" b="0" i="1">
                                      <a:solidFill>
                                        <a:schemeClr val="bg1"/>
                                      </a:solidFill>
                                      <a:latin typeface="Cambria Math" panose="02040503050406030204" pitchFamily="18" charset="0"/>
                                    </a:rPr>
                                  </m:ctrlPr>
                                </m:sSubPr>
                                <m:e>
                                  <m:r>
                                    <a:rPr lang="zh-CN" altLang="en-US" sz="1800" b="1" i="0">
                                      <a:solidFill>
                                        <a:schemeClr val="bg1"/>
                                      </a:solidFill>
                                      <a:latin typeface="Cambria Math" panose="02040503050406030204" pitchFamily="18" charset="0"/>
                                    </a:rPr>
                                    <m:t>𝐌</m:t>
                                  </m:r>
                                </m:e>
                                <m:sub>
                                  <m:r>
                                    <a:rPr lang="zh-CN" altLang="en-US" sz="1800" b="0" i="1">
                                      <a:solidFill>
                                        <a:schemeClr val="bg1"/>
                                      </a:solidFill>
                                      <a:latin typeface="Cambria Math" panose="02040503050406030204" pitchFamily="18" charset="0"/>
                                    </a:rPr>
                                    <m:t>𝑡</m:t>
                                  </m:r>
                                </m:sub>
                              </m:sSub>
                              <m:r>
                                <a:rPr lang="zh-CN" altLang="en-US" sz="1800" b="0" i="0">
                                  <a:solidFill>
                                    <a:schemeClr val="bg1"/>
                                  </a:solidFill>
                                  <a:latin typeface="Cambria Math" panose="02040503050406030204" pitchFamily="18" charset="0"/>
                                </a:rPr>
                                <m:t>∥</m:t>
                              </m:r>
                              <m:sSub>
                                <m:sSubPr>
                                  <m:ctrlPr>
                                    <a:rPr lang="zh-CN" altLang="en-US" sz="1800" b="0" i="1">
                                      <a:solidFill>
                                        <a:schemeClr val="bg1"/>
                                      </a:solidFill>
                                      <a:latin typeface="Cambria Math" panose="02040503050406030204" pitchFamily="18" charset="0"/>
                                    </a:rPr>
                                  </m:ctrlPr>
                                </m:sSubPr>
                                <m:e>
                                  <m:r>
                                    <a:rPr lang="zh-CN" altLang="en-US" sz="1800" b="1" i="0">
                                      <a:solidFill>
                                        <a:schemeClr val="bg1"/>
                                      </a:solidFill>
                                      <a:latin typeface="Cambria Math" panose="02040503050406030204" pitchFamily="18" charset="0"/>
                                    </a:rPr>
                                    <m:t>𝐳</m:t>
                                  </m:r>
                                </m:e>
                                <m:sub>
                                  <m:r>
                                    <a:rPr lang="zh-CN" altLang="en-US" sz="1800" b="0" i="1">
                                      <a:solidFill>
                                        <a:schemeClr val="bg1"/>
                                      </a:solidFill>
                                      <a:latin typeface="Cambria Math" panose="02040503050406030204" pitchFamily="18" charset="0"/>
                                    </a:rPr>
                                    <m:t>𝑡</m:t>
                                  </m:r>
                                </m:sub>
                              </m:sSub>
                            </m:e>
                          </m:d>
                          <m:r>
                            <a:rPr lang="zh-CN" altLang="en-US" sz="1800" b="0" i="0">
                              <a:solidFill>
                                <a:schemeClr val="bg1"/>
                              </a:solidFill>
                              <a:latin typeface="Cambria Math" panose="02040503050406030204" pitchFamily="18" charset="0"/>
                            </a:rPr>
                            <m:t>+</m:t>
                          </m:r>
                          <m:sSub>
                            <m:sSubPr>
                              <m:ctrlPr>
                                <a:rPr lang="zh-CN" altLang="en-US" sz="1800" b="0" i="1">
                                  <a:solidFill>
                                    <a:schemeClr val="bg1"/>
                                  </a:solidFill>
                                  <a:latin typeface="Cambria Math" panose="02040503050406030204" pitchFamily="18" charset="0"/>
                                </a:rPr>
                              </m:ctrlPr>
                            </m:sSubPr>
                            <m:e>
                              <m:r>
                                <a:rPr lang="zh-CN" altLang="en-US" sz="1800" b="1" i="0">
                                  <a:solidFill>
                                    <a:schemeClr val="bg1"/>
                                  </a:solidFill>
                                  <a:latin typeface="Cambria Math" panose="02040503050406030204" pitchFamily="18" charset="0"/>
                                </a:rPr>
                                <m:t>𝐛</m:t>
                              </m:r>
                            </m:e>
                            <m:sub>
                              <m:r>
                                <a:rPr lang="zh-CN" altLang="en-US" sz="1800" b="0" i="1">
                                  <a:solidFill>
                                    <a:schemeClr val="bg1"/>
                                  </a:solidFill>
                                  <a:latin typeface="Cambria Math" panose="02040503050406030204" pitchFamily="18" charset="0"/>
                                </a:rPr>
                                <m:t>𝑓</m:t>
                              </m:r>
                            </m:sub>
                          </m:sSub>
                        </m:e>
                      </m:d>
                    </m:oMath>
                  </m:oMathPara>
                </a14:m>
                <a:endParaRPr lang="zh-CN" altLang="en-US" dirty="0"/>
              </a:p>
            </p:txBody>
          </p:sp>
        </mc:Choice>
        <mc:Fallback>
          <p:sp>
            <p:nvSpPr>
              <p:cNvPr id="101" name="文本框 100">
                <a:extLst>
                  <a:ext uri="{FF2B5EF4-FFF2-40B4-BE49-F238E27FC236}">
                    <a16:creationId xmlns:a16="http://schemas.microsoft.com/office/drawing/2014/main" id="{7429830A-BEAD-8D89-8D59-C57B191CB730}"/>
                  </a:ext>
                </a:extLst>
              </p:cNvPr>
              <p:cNvSpPr txBox="1">
                <a:spLocks noRot="1" noChangeAspect="1" noMove="1" noResize="1" noEditPoints="1" noAdjustHandles="1" noChangeArrowheads="1" noChangeShapeType="1" noTextEdit="1"/>
              </p:cNvSpPr>
              <p:nvPr/>
            </p:nvSpPr>
            <p:spPr>
              <a:xfrm>
                <a:off x="491676" y="5176044"/>
                <a:ext cx="4440746" cy="411331"/>
              </a:xfrm>
              <a:prstGeom prst="rect">
                <a:avLst/>
              </a:prstGeom>
              <a:blipFill>
                <a:blip r:embed="rId12"/>
                <a:stretch>
                  <a:fillRect b="-7353"/>
                </a:stretch>
              </a:blipFill>
            </p:spPr>
            <p:txBody>
              <a:bodyPr/>
              <a:lstStyle/>
              <a:p>
                <a:r>
                  <a:rPr lang="zh-CN" altLang="en-US">
                    <a:noFill/>
                  </a:rPr>
                  <a:t> </a:t>
                </a:r>
              </a:p>
            </p:txBody>
          </p:sp>
        </mc:Fallback>
      </mc:AlternateContent>
      <p:grpSp>
        <p:nvGrpSpPr>
          <p:cNvPr id="111" name="组合 110">
            <a:extLst>
              <a:ext uri="{FF2B5EF4-FFF2-40B4-BE49-F238E27FC236}">
                <a16:creationId xmlns:a16="http://schemas.microsoft.com/office/drawing/2014/main" id="{23C94A96-1970-021A-29B1-788E66A41457}"/>
              </a:ext>
            </a:extLst>
          </p:cNvPr>
          <p:cNvGrpSpPr/>
          <p:nvPr/>
        </p:nvGrpSpPr>
        <p:grpSpPr>
          <a:xfrm>
            <a:off x="5788707" y="1408306"/>
            <a:ext cx="5013132" cy="1184491"/>
            <a:chOff x="5822045" y="1507103"/>
            <a:chExt cx="5013132" cy="1184491"/>
          </a:xfrm>
        </p:grpSpPr>
        <p:sp>
          <p:nvSpPr>
            <p:cNvPr id="102" name="文本框 101">
              <a:extLst>
                <a:ext uri="{FF2B5EF4-FFF2-40B4-BE49-F238E27FC236}">
                  <a16:creationId xmlns:a16="http://schemas.microsoft.com/office/drawing/2014/main" id="{6A4B850E-A510-3263-369E-759ED9F1213D}"/>
                </a:ext>
              </a:extLst>
            </p:cNvPr>
            <p:cNvSpPr txBox="1"/>
            <p:nvPr/>
          </p:nvSpPr>
          <p:spPr>
            <a:xfrm>
              <a:off x="5822045" y="1507103"/>
              <a:ext cx="5013132" cy="1184491"/>
            </a:xfrm>
            <a:prstGeom prst="rect">
              <a:avLst/>
            </a:prstGeom>
            <a:noFill/>
          </p:spPr>
          <p:txBody>
            <a:bodyPr wrap="square">
              <a:spAutoFit/>
            </a:bodyPr>
            <a:lstStyle/>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第三步：基于</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TCN</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的长时序建模为了精准捕捉长距离的时间依赖关系，核心时序模块采用时序卷积网络（</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TCN</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）。相较于</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LSTM</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TCN</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利用空洞因果卷积，在不丢失历史信息的前提下指数级扩大感受野。设输入序列为</a:t>
              </a:r>
              <a:r>
                <a:rPr lang="en-US"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，第</a:t>
              </a:r>
              <a:r>
                <a:rPr lang="en-US"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层在时刻 </a:t>
              </a:r>
              <a:r>
                <a:rPr lang="en-US"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的输出定义为：</a:t>
              </a:r>
              <a:endPar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104" name="文本框 103">
                  <a:extLst>
                    <a:ext uri="{FF2B5EF4-FFF2-40B4-BE49-F238E27FC236}">
                      <a16:creationId xmlns:a16="http://schemas.microsoft.com/office/drawing/2014/main" id="{692883DC-80F1-9FDA-7559-983618AF1B17}"/>
                    </a:ext>
                  </a:extLst>
                </p:cNvPr>
                <p:cNvSpPr txBox="1"/>
                <p:nvPr/>
              </p:nvSpPr>
              <p:spPr>
                <a:xfrm>
                  <a:off x="6322821" y="2414595"/>
                  <a:ext cx="23196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b="1" smtClean="0">
                            <a:solidFill>
                              <a:schemeClr val="bg1"/>
                            </a:solidFill>
                            <a:latin typeface="Cambria Math" panose="02040503050406030204" pitchFamily="18" charset="0"/>
                          </a:rPr>
                          <m:t>𝐅</m:t>
                        </m:r>
                      </m:oMath>
                    </m:oMathPara>
                  </a14:m>
                  <a:endParaRPr lang="zh-CN" altLang="en-US" sz="1200" dirty="0">
                    <a:solidFill>
                      <a:schemeClr val="bg1"/>
                    </a:solidFill>
                  </a:endParaRPr>
                </a:p>
              </p:txBody>
            </p:sp>
          </mc:Choice>
          <mc:Fallback>
            <p:sp>
              <p:nvSpPr>
                <p:cNvPr id="104" name="文本框 103">
                  <a:extLst>
                    <a:ext uri="{FF2B5EF4-FFF2-40B4-BE49-F238E27FC236}">
                      <a16:creationId xmlns:a16="http://schemas.microsoft.com/office/drawing/2014/main" id="{692883DC-80F1-9FDA-7559-983618AF1B17}"/>
                    </a:ext>
                  </a:extLst>
                </p:cNvPr>
                <p:cNvSpPr txBox="1">
                  <a:spLocks noRot="1" noChangeAspect="1" noMove="1" noResize="1" noEditPoints="1" noAdjustHandles="1" noChangeArrowheads="1" noChangeShapeType="1" noTextEdit="1"/>
                </p:cNvSpPr>
                <p:nvPr/>
              </p:nvSpPr>
              <p:spPr>
                <a:xfrm>
                  <a:off x="6322821" y="2414595"/>
                  <a:ext cx="231968" cy="27699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6" name="文本框 105">
                  <a:extLst>
                    <a:ext uri="{FF2B5EF4-FFF2-40B4-BE49-F238E27FC236}">
                      <a16:creationId xmlns:a16="http://schemas.microsoft.com/office/drawing/2014/main" id="{9350F51A-EACB-0875-AB40-EEAE1B177659}"/>
                    </a:ext>
                  </a:extLst>
                </p:cNvPr>
                <p:cNvSpPr txBox="1"/>
                <p:nvPr/>
              </p:nvSpPr>
              <p:spPr>
                <a:xfrm>
                  <a:off x="6798987" y="2414595"/>
                  <a:ext cx="87707"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solidFill>
                              <a:schemeClr val="bg1"/>
                            </a:solidFill>
                            <a:latin typeface="Cambria Math" panose="02040503050406030204" pitchFamily="18" charset="0"/>
                          </a:rPr>
                          <m:t>𝑙</m:t>
                        </m:r>
                      </m:oMath>
                    </m:oMathPara>
                  </a14:m>
                  <a:endParaRPr lang="zh-CN" altLang="en-US" sz="1200" dirty="0">
                    <a:solidFill>
                      <a:schemeClr val="bg1"/>
                    </a:solidFill>
                  </a:endParaRPr>
                </a:p>
              </p:txBody>
            </p:sp>
          </mc:Choice>
          <mc:Fallback>
            <p:sp>
              <p:nvSpPr>
                <p:cNvPr id="106" name="文本框 105">
                  <a:extLst>
                    <a:ext uri="{FF2B5EF4-FFF2-40B4-BE49-F238E27FC236}">
                      <a16:creationId xmlns:a16="http://schemas.microsoft.com/office/drawing/2014/main" id="{9350F51A-EACB-0875-AB40-EEAE1B177659}"/>
                    </a:ext>
                  </a:extLst>
                </p:cNvPr>
                <p:cNvSpPr txBox="1">
                  <a:spLocks noRot="1" noChangeAspect="1" noMove="1" noResize="1" noEditPoints="1" noAdjustHandles="1" noChangeArrowheads="1" noChangeShapeType="1" noTextEdit="1"/>
                </p:cNvSpPr>
                <p:nvPr/>
              </p:nvSpPr>
              <p:spPr>
                <a:xfrm>
                  <a:off x="6798987" y="2414595"/>
                  <a:ext cx="87707" cy="276999"/>
                </a:xfrm>
                <a:prstGeom prst="rect">
                  <a:avLst/>
                </a:prstGeom>
                <a:blipFill>
                  <a:blip r:embed="rId14"/>
                  <a:stretch>
                    <a:fillRect l="-14286" r="-785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8" name="文本框 107">
                  <a:extLst>
                    <a:ext uri="{FF2B5EF4-FFF2-40B4-BE49-F238E27FC236}">
                      <a16:creationId xmlns:a16="http://schemas.microsoft.com/office/drawing/2014/main" id="{D4E7EABD-1C02-F790-5AFF-1A11E50DE5E9}"/>
                    </a:ext>
                  </a:extLst>
                </p:cNvPr>
                <p:cNvSpPr txBox="1"/>
                <p:nvPr/>
              </p:nvSpPr>
              <p:spPr>
                <a:xfrm>
                  <a:off x="7481887" y="2398805"/>
                  <a:ext cx="130175"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smtClean="0">
                            <a:solidFill>
                              <a:schemeClr val="bg1"/>
                            </a:solidFill>
                            <a:latin typeface="Cambria Math" panose="02040503050406030204" pitchFamily="18" charset="0"/>
                          </a:rPr>
                          <m:t>𝑡</m:t>
                        </m:r>
                      </m:oMath>
                    </m:oMathPara>
                  </a14:m>
                  <a:endParaRPr lang="zh-CN" altLang="en-US" sz="1200" dirty="0">
                    <a:solidFill>
                      <a:schemeClr val="bg1"/>
                    </a:solidFill>
                  </a:endParaRPr>
                </a:p>
              </p:txBody>
            </p:sp>
          </mc:Choice>
          <mc:Fallback>
            <p:sp>
              <p:nvSpPr>
                <p:cNvPr id="108" name="文本框 107">
                  <a:extLst>
                    <a:ext uri="{FF2B5EF4-FFF2-40B4-BE49-F238E27FC236}">
                      <a16:creationId xmlns:a16="http://schemas.microsoft.com/office/drawing/2014/main" id="{D4E7EABD-1C02-F790-5AFF-1A11E50DE5E9}"/>
                    </a:ext>
                  </a:extLst>
                </p:cNvPr>
                <p:cNvSpPr txBox="1">
                  <a:spLocks noRot="1" noChangeAspect="1" noMove="1" noResize="1" noEditPoints="1" noAdjustHandles="1" noChangeArrowheads="1" noChangeShapeType="1" noTextEdit="1"/>
                </p:cNvSpPr>
                <p:nvPr/>
              </p:nvSpPr>
              <p:spPr>
                <a:xfrm>
                  <a:off x="7481887" y="2398805"/>
                  <a:ext cx="130175" cy="276999"/>
                </a:xfrm>
                <a:prstGeom prst="rect">
                  <a:avLst/>
                </a:prstGeom>
                <a:blipFill>
                  <a:blip r:embed="rId15"/>
                  <a:stretch>
                    <a:fillRect r="-38095"/>
                  </a:stretch>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10" name="文本框 109">
                <a:extLst>
                  <a:ext uri="{FF2B5EF4-FFF2-40B4-BE49-F238E27FC236}">
                    <a16:creationId xmlns:a16="http://schemas.microsoft.com/office/drawing/2014/main" id="{249CC395-1004-6A80-1E25-479C94C5796E}"/>
                  </a:ext>
                </a:extLst>
              </p:cNvPr>
              <p:cNvSpPr txBox="1"/>
              <p:nvPr/>
            </p:nvSpPr>
            <p:spPr>
              <a:xfrm>
                <a:off x="6940986" y="2874926"/>
                <a:ext cx="2560321" cy="8714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solidFill>
                                <a:schemeClr val="bg1"/>
                              </a:solidFill>
                              <a:latin typeface="Cambria Math" panose="02040503050406030204" pitchFamily="18" charset="0"/>
                            </a:rPr>
                          </m:ctrlPr>
                        </m:sSubSupPr>
                        <m:e>
                          <m:r>
                            <a:rPr lang="zh-CN" altLang="en-US">
                              <a:solidFill>
                                <a:schemeClr val="bg1"/>
                              </a:solidFill>
                              <a:latin typeface="Cambria Math" panose="02040503050406030204" pitchFamily="18" charset="0"/>
                            </a:rPr>
                            <m:t>ℋ</m:t>
                          </m:r>
                        </m:e>
                        <m:sub>
                          <m:r>
                            <a:rPr lang="zh-CN" altLang="en-US" i="1">
                              <a:solidFill>
                                <a:schemeClr val="bg1"/>
                              </a:solidFill>
                              <a:latin typeface="Cambria Math" panose="02040503050406030204" pitchFamily="18" charset="0"/>
                            </a:rPr>
                            <m:t>𝑡</m:t>
                          </m:r>
                        </m:sub>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𝑙</m:t>
                              </m:r>
                            </m:e>
                          </m:d>
                        </m:sup>
                      </m:sSubSup>
                      <m:r>
                        <a:rPr lang="zh-CN" altLang="en-US" i="0">
                          <a:solidFill>
                            <a:schemeClr val="bg1"/>
                          </a:solidFill>
                          <a:latin typeface="Cambria Math" panose="02040503050406030204" pitchFamily="18" charset="0"/>
                        </a:rPr>
                        <m:t>=</m:t>
                      </m:r>
                      <m:nary>
                        <m:naryPr>
                          <m:chr m:val="∑"/>
                          <m:limLoc m:val="undOvr"/>
                          <m:grow m:val="on"/>
                          <m:ctrlPr>
                            <a:rPr lang="zh-CN" altLang="en-US" i="1">
                              <a:solidFill>
                                <a:schemeClr val="bg1"/>
                              </a:solidFill>
                              <a:latin typeface="Cambria Math" panose="02040503050406030204" pitchFamily="18" charset="0"/>
                            </a:rPr>
                          </m:ctrlPr>
                        </m:naryPr>
                        <m:sub>
                          <m:r>
                            <a:rPr lang="zh-CN" altLang="en-US" i="1">
                              <a:solidFill>
                                <a:schemeClr val="bg1"/>
                              </a:solidFill>
                              <a:latin typeface="Cambria Math" panose="02040503050406030204" pitchFamily="18" charset="0"/>
                            </a:rPr>
                            <m:t>𝑘</m:t>
                          </m:r>
                          <m:r>
                            <a:rPr lang="zh-CN" altLang="en-US" i="0">
                              <a:solidFill>
                                <a:schemeClr val="bg1"/>
                              </a:solidFill>
                              <a:latin typeface="Cambria Math" panose="02040503050406030204" pitchFamily="18" charset="0"/>
                            </a:rPr>
                            <m:t>=0</m:t>
                          </m:r>
                        </m:sub>
                        <m:sup>
                          <m:r>
                            <a:rPr lang="zh-CN" altLang="en-US" i="1">
                              <a:solidFill>
                                <a:schemeClr val="bg1"/>
                              </a:solidFill>
                              <a:latin typeface="Cambria Math" panose="02040503050406030204" pitchFamily="18" charset="0"/>
                            </a:rPr>
                            <m:t>𝐾</m:t>
                          </m:r>
                          <m:r>
                            <a:rPr lang="zh-CN" altLang="en-US" i="0">
                              <a:solidFill>
                                <a:schemeClr val="bg1"/>
                              </a:solidFill>
                              <a:latin typeface="Cambria Math" panose="02040503050406030204" pitchFamily="18" charset="0"/>
                            </a:rPr>
                            <m:t>−1</m:t>
                          </m:r>
                        </m:sup>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𝑓</m:t>
                              </m:r>
                            </m:e>
                            <m:sub>
                              <m:r>
                                <a:rPr lang="zh-CN" altLang="en-US" i="1">
                                  <a:solidFill>
                                    <a:schemeClr val="bg1"/>
                                  </a:solidFill>
                                  <a:latin typeface="Cambria Math" panose="02040503050406030204" pitchFamily="18" charset="0"/>
                                </a:rPr>
                                <m:t>𝑘</m:t>
                              </m:r>
                            </m:sub>
                          </m:sSub>
                        </m:e>
                      </m:nary>
                      <m:r>
                        <a:rPr lang="zh-CN" altLang="en-US" i="0">
                          <a:solidFill>
                            <a:schemeClr val="bg1"/>
                          </a:solidFill>
                          <a:latin typeface="Cambria Math" panose="02040503050406030204" pitchFamily="18" charset="0"/>
                        </a:rPr>
                        <m:t>⋅</m:t>
                      </m:r>
                      <m:sSubSup>
                        <m:sSubSupPr>
                          <m:ctrlPr>
                            <a:rPr lang="zh-CN" altLang="en-US" i="1">
                              <a:solidFill>
                                <a:schemeClr val="bg1"/>
                              </a:solidFill>
                              <a:latin typeface="Cambria Math" panose="02040503050406030204" pitchFamily="18" charset="0"/>
                            </a:rPr>
                          </m:ctrlPr>
                        </m:sSubSupPr>
                        <m:e>
                          <m:r>
                            <a:rPr lang="zh-CN" altLang="en-US" sz="1800" b="1" i="0">
                              <a:solidFill>
                                <a:schemeClr val="bg1"/>
                              </a:solidFill>
                              <a:latin typeface="Cambria Math" panose="02040503050406030204" pitchFamily="18" charset="0"/>
                            </a:rPr>
                            <m:t>𝐅</m:t>
                          </m:r>
                        </m:e>
                        <m:sub>
                          <m:r>
                            <a:rPr lang="zh-CN" altLang="en-US" sz="1800" b="0" i="1">
                              <a:solidFill>
                                <a:schemeClr val="bg1"/>
                              </a:solidFill>
                              <a:latin typeface="Cambria Math" panose="02040503050406030204" pitchFamily="18" charset="0"/>
                            </a:rPr>
                            <m:t>𝑡</m:t>
                          </m:r>
                          <m:r>
                            <a:rPr lang="zh-CN" altLang="en-US" sz="1800" b="0" i="0">
                              <a:solidFill>
                                <a:schemeClr val="bg1"/>
                              </a:solidFill>
                              <a:latin typeface="Cambria Math" panose="02040503050406030204" pitchFamily="18" charset="0"/>
                            </a:rPr>
                            <m:t>−</m:t>
                          </m:r>
                          <m:r>
                            <a:rPr lang="zh-CN" altLang="en-US" sz="1800" b="0" i="1">
                              <a:solidFill>
                                <a:schemeClr val="bg1"/>
                              </a:solidFill>
                              <a:latin typeface="Cambria Math" panose="02040503050406030204" pitchFamily="18" charset="0"/>
                            </a:rPr>
                            <m:t>𝑑</m:t>
                          </m:r>
                          <m:r>
                            <a:rPr lang="zh-CN" altLang="en-US" sz="1800" b="0" i="0">
                              <a:solidFill>
                                <a:schemeClr val="bg1"/>
                              </a:solidFill>
                              <a:latin typeface="Cambria Math" panose="02040503050406030204" pitchFamily="18" charset="0"/>
                            </a:rPr>
                            <m:t>⋅</m:t>
                          </m:r>
                          <m:r>
                            <a:rPr lang="zh-CN" altLang="en-US" sz="1800" b="0" i="1">
                              <a:solidFill>
                                <a:schemeClr val="bg1"/>
                              </a:solidFill>
                              <a:latin typeface="Cambria Math" panose="02040503050406030204" pitchFamily="18" charset="0"/>
                            </a:rPr>
                            <m:t>𝑘</m:t>
                          </m:r>
                        </m:sub>
                        <m:sup>
                          <m:d>
                            <m:dPr>
                              <m:ctrlPr>
                                <a:rPr lang="zh-CN" altLang="en-US" sz="1800" b="0" i="1">
                                  <a:solidFill>
                                    <a:schemeClr val="bg1"/>
                                  </a:solidFill>
                                  <a:latin typeface="Cambria Math" panose="02040503050406030204" pitchFamily="18" charset="0"/>
                                </a:rPr>
                              </m:ctrlPr>
                            </m:dPr>
                            <m:e>
                              <m:r>
                                <a:rPr lang="zh-CN" altLang="en-US" sz="1800" b="0" i="1">
                                  <a:solidFill>
                                    <a:schemeClr val="bg1"/>
                                  </a:solidFill>
                                  <a:latin typeface="Cambria Math" panose="02040503050406030204" pitchFamily="18" charset="0"/>
                                </a:rPr>
                                <m:t>𝑙</m:t>
                              </m:r>
                              <m:r>
                                <a:rPr lang="zh-CN" altLang="en-US" sz="1800" b="0" i="0">
                                  <a:solidFill>
                                    <a:schemeClr val="bg1"/>
                                  </a:solidFill>
                                  <a:latin typeface="Cambria Math" panose="02040503050406030204" pitchFamily="18" charset="0"/>
                                </a:rPr>
                                <m:t>−1</m:t>
                              </m:r>
                            </m:e>
                          </m:d>
                        </m:sup>
                      </m:sSubSup>
                    </m:oMath>
                  </m:oMathPara>
                </a14:m>
                <a:endParaRPr lang="zh-CN" altLang="en-US" dirty="0"/>
              </a:p>
            </p:txBody>
          </p:sp>
        </mc:Choice>
        <mc:Fallback>
          <p:sp>
            <p:nvSpPr>
              <p:cNvPr id="110" name="文本框 109">
                <a:extLst>
                  <a:ext uri="{FF2B5EF4-FFF2-40B4-BE49-F238E27FC236}">
                    <a16:creationId xmlns:a16="http://schemas.microsoft.com/office/drawing/2014/main" id="{249CC395-1004-6A80-1E25-479C94C5796E}"/>
                  </a:ext>
                </a:extLst>
              </p:cNvPr>
              <p:cNvSpPr txBox="1">
                <a:spLocks noRot="1" noChangeAspect="1" noMove="1" noResize="1" noEditPoints="1" noAdjustHandles="1" noChangeArrowheads="1" noChangeShapeType="1" noTextEdit="1"/>
              </p:cNvSpPr>
              <p:nvPr/>
            </p:nvSpPr>
            <p:spPr>
              <a:xfrm>
                <a:off x="6940986" y="2874926"/>
                <a:ext cx="2560321" cy="871457"/>
              </a:xfrm>
              <a:prstGeom prst="rect">
                <a:avLst/>
              </a:prstGeom>
              <a:blipFill>
                <a:blip r:embed="rId16"/>
                <a:stretch>
                  <a:fillRect/>
                </a:stretch>
              </a:blipFill>
            </p:spPr>
            <p:txBody>
              <a:bodyPr/>
              <a:lstStyle/>
              <a:p>
                <a:r>
                  <a:rPr lang="zh-CN" altLang="en-US">
                    <a:noFill/>
                  </a:rPr>
                  <a:t> </a:t>
                </a:r>
              </a:p>
            </p:txBody>
          </p:sp>
        </mc:Fallback>
      </mc:AlternateContent>
      <p:sp>
        <p:nvSpPr>
          <p:cNvPr id="112" name="文本框 111">
            <a:extLst>
              <a:ext uri="{FF2B5EF4-FFF2-40B4-BE49-F238E27FC236}">
                <a16:creationId xmlns:a16="http://schemas.microsoft.com/office/drawing/2014/main" id="{4529729D-9976-2EA7-9394-B110F9112000}"/>
              </a:ext>
            </a:extLst>
          </p:cNvPr>
          <p:cNvSpPr txBox="1"/>
          <p:nvPr/>
        </p:nvSpPr>
        <p:spPr>
          <a:xfrm>
            <a:off x="5788707" y="3914525"/>
            <a:ext cx="5013132" cy="902363"/>
          </a:xfrm>
          <a:prstGeom prst="rect">
            <a:avLst/>
          </a:prstGeom>
          <a:noFill/>
        </p:spPr>
        <p:txBody>
          <a:bodyPr wrap="square">
            <a:spAutoFit/>
          </a:bodyPr>
          <a:lstStyle/>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第四步：多任务联合预测模型的输出层设计为三个独立的分支，通过多任务学习（</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Multi-Task Learning, MTL</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）策略进行联合优化。总损失函数             定义为各任务损失的加权和：</a:t>
            </a:r>
            <a:endPar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114" name="文本框 113">
                <a:extLst>
                  <a:ext uri="{FF2B5EF4-FFF2-40B4-BE49-F238E27FC236}">
                    <a16:creationId xmlns:a16="http://schemas.microsoft.com/office/drawing/2014/main" id="{FF6D2C7B-F957-3C6B-7368-5F2BFA858AE4}"/>
                  </a:ext>
                </a:extLst>
              </p:cNvPr>
              <p:cNvSpPr txBox="1"/>
              <p:nvPr/>
            </p:nvSpPr>
            <p:spPr>
              <a:xfrm>
                <a:off x="6132908" y="4532689"/>
                <a:ext cx="50014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chemeClr val="bg1"/>
                              </a:solidFill>
                              <a:latin typeface="Cambria Math" panose="02040503050406030204" pitchFamily="18" charset="0"/>
                            </a:rPr>
                          </m:ctrlPr>
                        </m:sSubPr>
                        <m:e>
                          <m:r>
                            <a:rPr lang="zh-CN" altLang="en-US" sz="1200">
                              <a:solidFill>
                                <a:schemeClr val="bg1"/>
                              </a:solidFill>
                              <a:latin typeface="Cambria Math" panose="02040503050406030204" pitchFamily="18" charset="0"/>
                            </a:rPr>
                            <m:t>ℒ</m:t>
                          </m:r>
                        </m:e>
                        <m:sub>
                          <m:r>
                            <a:rPr lang="zh-CN" altLang="en-US" sz="1200" i="1">
                              <a:solidFill>
                                <a:schemeClr val="bg1"/>
                              </a:solidFill>
                              <a:latin typeface="Cambria Math" panose="02040503050406030204" pitchFamily="18" charset="0"/>
                            </a:rPr>
                            <m:t>𝑇𝑜𝑡𝑎𝑙</m:t>
                          </m:r>
                        </m:sub>
                      </m:sSub>
                    </m:oMath>
                  </m:oMathPara>
                </a14:m>
                <a:endParaRPr lang="zh-CN" altLang="en-US" sz="1200" dirty="0">
                  <a:solidFill>
                    <a:schemeClr val="bg1"/>
                  </a:solidFill>
                </a:endParaRPr>
              </a:p>
            </p:txBody>
          </p:sp>
        </mc:Choice>
        <mc:Fallback>
          <p:sp>
            <p:nvSpPr>
              <p:cNvPr id="114" name="文本框 113">
                <a:extLst>
                  <a:ext uri="{FF2B5EF4-FFF2-40B4-BE49-F238E27FC236}">
                    <a16:creationId xmlns:a16="http://schemas.microsoft.com/office/drawing/2014/main" id="{FF6D2C7B-F957-3C6B-7368-5F2BFA858AE4}"/>
                  </a:ext>
                </a:extLst>
              </p:cNvPr>
              <p:cNvSpPr txBox="1">
                <a:spLocks noRot="1" noChangeAspect="1" noMove="1" noResize="1" noEditPoints="1" noAdjustHandles="1" noChangeArrowheads="1" noChangeShapeType="1" noTextEdit="1"/>
              </p:cNvSpPr>
              <p:nvPr/>
            </p:nvSpPr>
            <p:spPr>
              <a:xfrm>
                <a:off x="6132908" y="4532689"/>
                <a:ext cx="500142" cy="276999"/>
              </a:xfrm>
              <a:prstGeom prst="rect">
                <a:avLst/>
              </a:prstGeom>
              <a:blipFill>
                <a:blip r:embed="rId17"/>
                <a:stretch>
                  <a:fillRect r="-48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6" name="文本框 115">
                <a:extLst>
                  <a:ext uri="{FF2B5EF4-FFF2-40B4-BE49-F238E27FC236}">
                    <a16:creationId xmlns:a16="http://schemas.microsoft.com/office/drawing/2014/main" id="{DCDB0AE8-E304-B723-BB17-C90681ABF9D3}"/>
                  </a:ext>
                </a:extLst>
              </p:cNvPr>
              <p:cNvSpPr txBox="1"/>
              <p:nvPr/>
            </p:nvSpPr>
            <p:spPr>
              <a:xfrm>
                <a:off x="5173688" y="5116630"/>
                <a:ext cx="6243170" cy="3406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smtClean="0">
                              <a:solidFill>
                                <a:schemeClr val="bg1"/>
                              </a:solidFill>
                              <a:latin typeface="Cambria Math" panose="02040503050406030204" pitchFamily="18" charset="0"/>
                            </a:rPr>
                          </m:ctrlPr>
                        </m:sSubPr>
                        <m:e>
                          <m:r>
                            <a:rPr lang="zh-CN" altLang="en-US" sz="1400">
                              <a:solidFill>
                                <a:schemeClr val="bg1"/>
                              </a:solidFill>
                              <a:latin typeface="Cambria Math" panose="02040503050406030204" pitchFamily="18" charset="0"/>
                            </a:rPr>
                            <m:t>ℒ</m:t>
                          </m:r>
                        </m:e>
                        <m:sub>
                          <m:r>
                            <a:rPr lang="zh-CN" altLang="en-US" sz="1400" i="1">
                              <a:solidFill>
                                <a:schemeClr val="bg1"/>
                              </a:solidFill>
                              <a:latin typeface="Cambria Math" panose="02040503050406030204" pitchFamily="18" charset="0"/>
                            </a:rPr>
                            <m:t>𝑇𝑜𝑡𝑎𝑙</m:t>
                          </m:r>
                        </m:sub>
                      </m:sSub>
                      <m:r>
                        <a:rPr lang="zh-CN" altLang="en-US" sz="1400" i="0">
                          <a:solidFill>
                            <a:schemeClr val="bg1"/>
                          </a:solidFill>
                          <a:latin typeface="Cambria Math" panose="02040503050406030204" pitchFamily="18" charset="0"/>
                        </a:rPr>
                        <m:t>=</m:t>
                      </m:r>
                      <m:sSub>
                        <m:sSubPr>
                          <m:ctrlPr>
                            <a:rPr lang="zh-CN" altLang="en-US" sz="1400" i="1">
                              <a:solidFill>
                                <a:schemeClr val="bg1"/>
                              </a:solidFill>
                              <a:latin typeface="Cambria Math" panose="02040503050406030204" pitchFamily="18" charset="0"/>
                            </a:rPr>
                          </m:ctrlPr>
                        </m:sSubPr>
                        <m:e>
                          <m:r>
                            <a:rPr lang="zh-CN" altLang="en-US" sz="1400" i="1">
                              <a:solidFill>
                                <a:schemeClr val="bg1"/>
                              </a:solidFill>
                              <a:latin typeface="Cambria Math" panose="02040503050406030204" pitchFamily="18" charset="0"/>
                            </a:rPr>
                            <m:t>𝜆</m:t>
                          </m:r>
                        </m:e>
                        <m:sub>
                          <m:r>
                            <a:rPr lang="zh-CN" altLang="en-US" sz="1400" i="0">
                              <a:solidFill>
                                <a:schemeClr val="bg1"/>
                              </a:solidFill>
                              <a:latin typeface="Cambria Math" panose="02040503050406030204" pitchFamily="18" charset="0"/>
                            </a:rPr>
                            <m:t>1</m:t>
                          </m:r>
                        </m:sub>
                      </m:sSub>
                      <m:sSub>
                        <m:sSubPr>
                          <m:ctrlPr>
                            <a:rPr lang="zh-CN" altLang="en-US" sz="1400" i="1">
                              <a:solidFill>
                                <a:schemeClr val="bg1"/>
                              </a:solidFill>
                              <a:latin typeface="Cambria Math" panose="02040503050406030204" pitchFamily="18" charset="0"/>
                            </a:rPr>
                          </m:ctrlPr>
                        </m:sSubPr>
                        <m:e>
                          <m:r>
                            <a:rPr lang="zh-CN" altLang="en-US" sz="1400" i="0">
                              <a:solidFill>
                                <a:schemeClr val="bg1"/>
                              </a:solidFill>
                              <a:latin typeface="Cambria Math" panose="02040503050406030204" pitchFamily="18" charset="0"/>
                            </a:rPr>
                            <m:t>ℒ</m:t>
                          </m:r>
                        </m:e>
                        <m:sub>
                          <m:r>
                            <a:rPr lang="zh-CN" altLang="en-US" sz="1400" i="1">
                              <a:solidFill>
                                <a:schemeClr val="bg1"/>
                              </a:solidFill>
                              <a:latin typeface="Cambria Math" panose="02040503050406030204" pitchFamily="18" charset="0"/>
                            </a:rPr>
                            <m:t>𝑀𝑆𝐸</m:t>
                          </m:r>
                        </m:sub>
                      </m:sSub>
                      <m:d>
                        <m:dPr>
                          <m:sepChr m:val=","/>
                          <m:ctrlPr>
                            <a:rPr lang="zh-CN" altLang="en-US" sz="1400" i="1">
                              <a:solidFill>
                                <a:schemeClr val="bg1"/>
                              </a:solidFill>
                              <a:latin typeface="Cambria Math" panose="02040503050406030204" pitchFamily="18" charset="0"/>
                            </a:rPr>
                          </m:ctrlPr>
                        </m:dPr>
                        <m:e>
                          <m:sSub>
                            <m:sSubPr>
                              <m:ctrlPr>
                                <a:rPr lang="zh-CN" altLang="en-US" sz="1400" i="1">
                                  <a:solidFill>
                                    <a:schemeClr val="bg1"/>
                                  </a:solidFill>
                                  <a:latin typeface="Cambria Math" panose="02040503050406030204" pitchFamily="18" charset="0"/>
                                </a:rPr>
                              </m:ctrlPr>
                            </m:sSubPr>
                            <m:e>
                              <m:acc>
                                <m:accPr>
                                  <m:chr m:val="̂"/>
                                  <m:ctrlPr>
                                    <a:rPr lang="zh-CN" altLang="en-US" sz="1400" i="1">
                                      <a:solidFill>
                                        <a:schemeClr val="bg1"/>
                                      </a:solidFill>
                                      <a:latin typeface="Cambria Math" panose="02040503050406030204" pitchFamily="18" charset="0"/>
                                    </a:rPr>
                                  </m:ctrlPr>
                                </m:accPr>
                                <m:e>
                                  <m:r>
                                    <a:rPr lang="zh-CN" altLang="en-US" sz="1400" i="1">
                                      <a:solidFill>
                                        <a:schemeClr val="bg1"/>
                                      </a:solidFill>
                                      <a:latin typeface="Cambria Math" panose="02040503050406030204" pitchFamily="18" charset="0"/>
                                    </a:rPr>
                                    <m:t>𝑦</m:t>
                                  </m:r>
                                </m:e>
                              </m:acc>
                            </m:e>
                            <m:sub>
                              <m:r>
                                <a:rPr lang="zh-CN" altLang="en-US" sz="1400" i="1">
                                  <a:solidFill>
                                    <a:schemeClr val="bg1"/>
                                  </a:solidFill>
                                  <a:latin typeface="Cambria Math" panose="02040503050406030204" pitchFamily="18" charset="0"/>
                                </a:rPr>
                                <m:t>𝑟𝑒𝑔</m:t>
                              </m:r>
                            </m:sub>
                          </m:sSub>
                        </m:e>
                        <m:mo separator="true">,</m:mo>
                        <m:e>
                          <m:sSub>
                            <m:sSubPr>
                              <m:ctrlPr>
                                <a:rPr lang="zh-CN" altLang="en-US" sz="1400" i="1">
                                  <a:solidFill>
                                    <a:schemeClr val="bg1"/>
                                  </a:solidFill>
                                  <a:latin typeface="Cambria Math" panose="02040503050406030204" pitchFamily="18" charset="0"/>
                                </a:rPr>
                              </m:ctrlPr>
                            </m:sSubPr>
                            <m:e>
                              <m:r>
                                <a:rPr lang="zh-CN" altLang="en-US" sz="1400" i="1">
                                  <a:solidFill>
                                    <a:schemeClr val="bg1"/>
                                  </a:solidFill>
                                  <a:latin typeface="Cambria Math" panose="02040503050406030204" pitchFamily="18" charset="0"/>
                                </a:rPr>
                                <m:t>𝑦</m:t>
                              </m:r>
                            </m:e>
                            <m:sub>
                              <m:r>
                                <a:rPr lang="zh-CN" altLang="en-US" sz="1400" i="1">
                                  <a:solidFill>
                                    <a:schemeClr val="bg1"/>
                                  </a:solidFill>
                                  <a:latin typeface="Cambria Math" panose="02040503050406030204" pitchFamily="18" charset="0"/>
                                </a:rPr>
                                <m:t>𝑡𝑟𝑢𝑒</m:t>
                              </m:r>
                            </m:sub>
                          </m:sSub>
                        </m:e>
                      </m:d>
                      <m:r>
                        <a:rPr lang="zh-CN" altLang="en-US" sz="1400" i="0">
                          <a:solidFill>
                            <a:schemeClr val="bg1"/>
                          </a:solidFill>
                          <a:latin typeface="Cambria Math" panose="02040503050406030204" pitchFamily="18" charset="0"/>
                        </a:rPr>
                        <m:t>+</m:t>
                      </m:r>
                      <m:sSub>
                        <m:sSubPr>
                          <m:ctrlPr>
                            <a:rPr lang="zh-CN" altLang="en-US" sz="1400" i="1">
                              <a:solidFill>
                                <a:schemeClr val="bg1"/>
                              </a:solidFill>
                              <a:latin typeface="Cambria Math" panose="02040503050406030204" pitchFamily="18" charset="0"/>
                            </a:rPr>
                          </m:ctrlPr>
                        </m:sSubPr>
                        <m:e>
                          <m:r>
                            <a:rPr lang="zh-CN" altLang="en-US" sz="1400" i="1">
                              <a:solidFill>
                                <a:schemeClr val="bg1"/>
                              </a:solidFill>
                              <a:latin typeface="Cambria Math" panose="02040503050406030204" pitchFamily="18" charset="0"/>
                            </a:rPr>
                            <m:t>𝜆</m:t>
                          </m:r>
                        </m:e>
                        <m:sub>
                          <m:r>
                            <a:rPr lang="zh-CN" altLang="en-US" sz="1400" i="0">
                              <a:solidFill>
                                <a:schemeClr val="bg1"/>
                              </a:solidFill>
                              <a:latin typeface="Cambria Math" panose="02040503050406030204" pitchFamily="18" charset="0"/>
                            </a:rPr>
                            <m:t>2</m:t>
                          </m:r>
                        </m:sub>
                      </m:sSub>
                      <m:sSub>
                        <m:sSubPr>
                          <m:ctrlPr>
                            <a:rPr lang="zh-CN" altLang="en-US" sz="1400" i="1">
                              <a:solidFill>
                                <a:schemeClr val="bg1"/>
                              </a:solidFill>
                              <a:latin typeface="Cambria Math" panose="02040503050406030204" pitchFamily="18" charset="0"/>
                            </a:rPr>
                          </m:ctrlPr>
                        </m:sSubPr>
                        <m:e>
                          <m:r>
                            <a:rPr lang="zh-CN" altLang="en-US" sz="1400" i="0">
                              <a:solidFill>
                                <a:schemeClr val="bg1"/>
                              </a:solidFill>
                              <a:latin typeface="Cambria Math" panose="02040503050406030204" pitchFamily="18" charset="0"/>
                            </a:rPr>
                            <m:t>ℒ</m:t>
                          </m:r>
                        </m:e>
                        <m:sub>
                          <m:r>
                            <a:rPr lang="zh-CN" altLang="en-US" sz="1400" i="1">
                              <a:solidFill>
                                <a:schemeClr val="bg1"/>
                              </a:solidFill>
                              <a:latin typeface="Cambria Math" panose="02040503050406030204" pitchFamily="18" charset="0"/>
                            </a:rPr>
                            <m:t>𝐶𝐸</m:t>
                          </m:r>
                        </m:sub>
                      </m:sSub>
                      <m:d>
                        <m:dPr>
                          <m:sepChr m:val=","/>
                          <m:ctrlPr>
                            <a:rPr lang="zh-CN" altLang="en-US" sz="1400" i="1">
                              <a:solidFill>
                                <a:schemeClr val="bg1"/>
                              </a:solidFill>
                              <a:latin typeface="Cambria Math" panose="02040503050406030204" pitchFamily="18" charset="0"/>
                            </a:rPr>
                          </m:ctrlPr>
                        </m:dPr>
                        <m:e>
                          <m:sSub>
                            <m:sSubPr>
                              <m:ctrlPr>
                                <a:rPr lang="zh-CN" altLang="en-US" sz="1400" i="1">
                                  <a:solidFill>
                                    <a:schemeClr val="bg1"/>
                                  </a:solidFill>
                                  <a:latin typeface="Cambria Math" panose="02040503050406030204" pitchFamily="18" charset="0"/>
                                </a:rPr>
                              </m:ctrlPr>
                            </m:sSubPr>
                            <m:e>
                              <m:acc>
                                <m:accPr>
                                  <m:chr m:val="̂"/>
                                  <m:ctrlPr>
                                    <a:rPr lang="zh-CN" altLang="en-US" sz="1400" i="1">
                                      <a:solidFill>
                                        <a:schemeClr val="bg1"/>
                                      </a:solidFill>
                                      <a:latin typeface="Cambria Math" panose="02040503050406030204" pitchFamily="18" charset="0"/>
                                    </a:rPr>
                                  </m:ctrlPr>
                                </m:accPr>
                                <m:e>
                                  <m:r>
                                    <a:rPr lang="zh-CN" altLang="en-US" sz="1400" i="1">
                                      <a:solidFill>
                                        <a:schemeClr val="bg1"/>
                                      </a:solidFill>
                                      <a:latin typeface="Cambria Math" panose="02040503050406030204" pitchFamily="18" charset="0"/>
                                    </a:rPr>
                                    <m:t>𝑦</m:t>
                                  </m:r>
                                </m:e>
                              </m:acc>
                            </m:e>
                            <m:sub>
                              <m:r>
                                <a:rPr lang="zh-CN" altLang="en-US" sz="1400" i="1">
                                  <a:solidFill>
                                    <a:schemeClr val="bg1"/>
                                  </a:solidFill>
                                  <a:latin typeface="Cambria Math" panose="02040503050406030204" pitchFamily="18" charset="0"/>
                                </a:rPr>
                                <m:t>𝑐𝑜𝑛𝑔</m:t>
                              </m:r>
                            </m:sub>
                          </m:sSub>
                        </m:e>
                        <m:mo separator="true">,</m:mo>
                        <m:e>
                          <m:sSub>
                            <m:sSubPr>
                              <m:ctrlPr>
                                <a:rPr lang="zh-CN" altLang="en-US" sz="1400" i="1">
                                  <a:solidFill>
                                    <a:schemeClr val="bg1"/>
                                  </a:solidFill>
                                  <a:latin typeface="Cambria Math" panose="02040503050406030204" pitchFamily="18" charset="0"/>
                                </a:rPr>
                              </m:ctrlPr>
                            </m:sSubPr>
                            <m:e>
                              <m:r>
                                <a:rPr lang="zh-CN" altLang="en-US" sz="1400" i="1">
                                  <a:solidFill>
                                    <a:schemeClr val="bg1"/>
                                  </a:solidFill>
                                  <a:latin typeface="Cambria Math" panose="02040503050406030204" pitchFamily="18" charset="0"/>
                                </a:rPr>
                                <m:t>𝑐</m:t>
                              </m:r>
                            </m:e>
                            <m:sub>
                              <m:r>
                                <a:rPr lang="zh-CN" altLang="en-US" sz="1400" i="1">
                                  <a:solidFill>
                                    <a:schemeClr val="bg1"/>
                                  </a:solidFill>
                                  <a:latin typeface="Cambria Math" panose="02040503050406030204" pitchFamily="18" charset="0"/>
                                </a:rPr>
                                <m:t>𝑡𝑟𝑢𝑒</m:t>
                              </m:r>
                            </m:sub>
                          </m:sSub>
                        </m:e>
                      </m:d>
                      <m:r>
                        <a:rPr lang="zh-CN" altLang="en-US" sz="1400" i="0">
                          <a:solidFill>
                            <a:schemeClr val="bg1"/>
                          </a:solidFill>
                          <a:latin typeface="Cambria Math" panose="02040503050406030204" pitchFamily="18" charset="0"/>
                        </a:rPr>
                        <m:t>+</m:t>
                      </m:r>
                      <m:sSub>
                        <m:sSubPr>
                          <m:ctrlPr>
                            <a:rPr lang="zh-CN" altLang="en-US" sz="1400" i="1">
                              <a:solidFill>
                                <a:schemeClr val="bg1"/>
                              </a:solidFill>
                              <a:latin typeface="Cambria Math" panose="02040503050406030204" pitchFamily="18" charset="0"/>
                            </a:rPr>
                          </m:ctrlPr>
                        </m:sSubPr>
                        <m:e>
                          <m:r>
                            <a:rPr lang="zh-CN" altLang="en-US" sz="1400" i="1">
                              <a:solidFill>
                                <a:schemeClr val="bg1"/>
                              </a:solidFill>
                              <a:latin typeface="Cambria Math" panose="02040503050406030204" pitchFamily="18" charset="0"/>
                            </a:rPr>
                            <m:t>𝜆</m:t>
                          </m:r>
                        </m:e>
                        <m:sub>
                          <m:r>
                            <a:rPr lang="zh-CN" altLang="en-US" sz="1400" i="0">
                              <a:solidFill>
                                <a:schemeClr val="bg1"/>
                              </a:solidFill>
                              <a:latin typeface="Cambria Math" panose="02040503050406030204" pitchFamily="18" charset="0"/>
                            </a:rPr>
                            <m:t>3</m:t>
                          </m:r>
                        </m:sub>
                      </m:sSub>
                      <m:sSub>
                        <m:sSubPr>
                          <m:ctrlPr>
                            <a:rPr lang="zh-CN" altLang="en-US" sz="1400" i="1">
                              <a:solidFill>
                                <a:schemeClr val="bg1"/>
                              </a:solidFill>
                              <a:latin typeface="Cambria Math" panose="02040503050406030204" pitchFamily="18" charset="0"/>
                            </a:rPr>
                          </m:ctrlPr>
                        </m:sSubPr>
                        <m:e>
                          <m:r>
                            <a:rPr lang="zh-CN" altLang="en-US" sz="1400" i="0">
                              <a:solidFill>
                                <a:schemeClr val="bg1"/>
                              </a:solidFill>
                              <a:latin typeface="Cambria Math" panose="02040503050406030204" pitchFamily="18" charset="0"/>
                            </a:rPr>
                            <m:t>ℒ</m:t>
                          </m:r>
                        </m:e>
                        <m:sub>
                          <m:r>
                            <a:rPr lang="zh-CN" altLang="en-US" sz="1400" i="1">
                              <a:solidFill>
                                <a:schemeClr val="bg1"/>
                              </a:solidFill>
                              <a:latin typeface="Cambria Math" panose="02040503050406030204" pitchFamily="18" charset="0"/>
                            </a:rPr>
                            <m:t>𝐵𝐶𝐸</m:t>
                          </m:r>
                        </m:sub>
                      </m:sSub>
                      <m:d>
                        <m:dPr>
                          <m:sepChr m:val=","/>
                          <m:ctrlPr>
                            <a:rPr lang="zh-CN" altLang="en-US" sz="1400" i="1">
                              <a:solidFill>
                                <a:schemeClr val="bg1"/>
                              </a:solidFill>
                              <a:latin typeface="Cambria Math" panose="02040503050406030204" pitchFamily="18" charset="0"/>
                            </a:rPr>
                          </m:ctrlPr>
                        </m:dPr>
                        <m:e>
                          <m:sSub>
                            <m:sSubPr>
                              <m:ctrlPr>
                                <a:rPr lang="zh-CN" altLang="en-US" sz="1400" i="1">
                                  <a:solidFill>
                                    <a:schemeClr val="bg1"/>
                                  </a:solidFill>
                                  <a:latin typeface="Cambria Math" panose="02040503050406030204" pitchFamily="18" charset="0"/>
                                </a:rPr>
                              </m:ctrlPr>
                            </m:sSubPr>
                            <m:e>
                              <m:acc>
                                <m:accPr>
                                  <m:chr m:val="̂"/>
                                  <m:ctrlPr>
                                    <a:rPr lang="zh-CN" altLang="en-US" sz="1400" i="1">
                                      <a:solidFill>
                                        <a:schemeClr val="bg1"/>
                                      </a:solidFill>
                                      <a:latin typeface="Cambria Math" panose="02040503050406030204" pitchFamily="18" charset="0"/>
                                    </a:rPr>
                                  </m:ctrlPr>
                                </m:accPr>
                                <m:e>
                                  <m:r>
                                    <a:rPr lang="zh-CN" altLang="en-US" sz="1400" i="1">
                                      <a:solidFill>
                                        <a:schemeClr val="bg1"/>
                                      </a:solidFill>
                                      <a:latin typeface="Cambria Math" panose="02040503050406030204" pitchFamily="18" charset="0"/>
                                    </a:rPr>
                                    <m:t>𝑦</m:t>
                                  </m:r>
                                </m:e>
                              </m:acc>
                            </m:e>
                            <m:sub>
                              <m:r>
                                <a:rPr lang="zh-CN" altLang="en-US" sz="1400" i="1">
                                  <a:solidFill>
                                    <a:schemeClr val="bg1"/>
                                  </a:solidFill>
                                  <a:latin typeface="Cambria Math" panose="02040503050406030204" pitchFamily="18" charset="0"/>
                                </a:rPr>
                                <m:t>𝑟𝑜𝑢𝑡𝑒</m:t>
                              </m:r>
                            </m:sub>
                          </m:sSub>
                        </m:e>
                        <m:mo separator="true">,</m:mo>
                        <m:e>
                          <m:sSub>
                            <m:sSubPr>
                              <m:ctrlPr>
                                <a:rPr lang="zh-CN" altLang="en-US" sz="1400" i="1">
                                  <a:solidFill>
                                    <a:schemeClr val="bg1"/>
                                  </a:solidFill>
                                  <a:latin typeface="Cambria Math" panose="02040503050406030204" pitchFamily="18" charset="0"/>
                                </a:rPr>
                              </m:ctrlPr>
                            </m:sSubPr>
                            <m:e>
                              <m:r>
                                <a:rPr lang="zh-CN" altLang="en-US" sz="1400" i="1">
                                  <a:solidFill>
                                    <a:schemeClr val="bg1"/>
                                  </a:solidFill>
                                  <a:latin typeface="Cambria Math" panose="02040503050406030204" pitchFamily="18" charset="0"/>
                                </a:rPr>
                                <m:t>𝑟</m:t>
                              </m:r>
                            </m:e>
                            <m:sub>
                              <m:r>
                                <a:rPr lang="zh-CN" altLang="en-US" sz="1400" i="1">
                                  <a:solidFill>
                                    <a:schemeClr val="bg1"/>
                                  </a:solidFill>
                                  <a:latin typeface="Cambria Math" panose="02040503050406030204" pitchFamily="18" charset="0"/>
                                </a:rPr>
                                <m:t>𝑡𝑟𝑢𝑒</m:t>
                              </m:r>
                            </m:sub>
                          </m:sSub>
                        </m:e>
                      </m:d>
                    </m:oMath>
                  </m:oMathPara>
                </a14:m>
                <a:endParaRPr lang="zh-CN" altLang="en-US" sz="1400" dirty="0"/>
              </a:p>
            </p:txBody>
          </p:sp>
        </mc:Choice>
        <mc:Fallback>
          <p:sp>
            <p:nvSpPr>
              <p:cNvPr id="116" name="文本框 115">
                <a:extLst>
                  <a:ext uri="{FF2B5EF4-FFF2-40B4-BE49-F238E27FC236}">
                    <a16:creationId xmlns:a16="http://schemas.microsoft.com/office/drawing/2014/main" id="{DCDB0AE8-E304-B723-BB17-C90681ABF9D3}"/>
                  </a:ext>
                </a:extLst>
              </p:cNvPr>
              <p:cNvSpPr txBox="1">
                <a:spLocks noRot="1" noChangeAspect="1" noMove="1" noResize="1" noEditPoints="1" noAdjustHandles="1" noChangeArrowheads="1" noChangeShapeType="1" noTextEdit="1"/>
              </p:cNvSpPr>
              <p:nvPr/>
            </p:nvSpPr>
            <p:spPr>
              <a:xfrm>
                <a:off x="5173688" y="5116630"/>
                <a:ext cx="6243170" cy="340671"/>
              </a:xfrm>
              <a:prstGeom prst="rect">
                <a:avLst/>
              </a:prstGeom>
              <a:blipFill>
                <a:blip r:embed="rId18"/>
                <a:stretch>
                  <a:fillRect/>
                </a:stretch>
              </a:blipFill>
            </p:spPr>
            <p:txBody>
              <a:bodyPr/>
              <a:lstStyle/>
              <a:p>
                <a:r>
                  <a:rPr lang="zh-CN" altLang="en-US">
                    <a:noFill/>
                  </a:rPr>
                  <a:t> </a:t>
                </a:r>
              </a:p>
            </p:txBody>
          </p:sp>
        </mc:Fallback>
      </mc:AlternateContent>
      <p:sp>
        <p:nvSpPr>
          <p:cNvPr id="118" name="文本框 117">
            <a:extLst>
              <a:ext uri="{FF2B5EF4-FFF2-40B4-BE49-F238E27FC236}">
                <a16:creationId xmlns:a16="http://schemas.microsoft.com/office/drawing/2014/main" id="{6B7F537A-A8A1-05E9-E78C-A6D15935440C}"/>
              </a:ext>
            </a:extLst>
          </p:cNvPr>
          <p:cNvSpPr txBox="1"/>
          <p:nvPr/>
        </p:nvSpPr>
        <p:spPr>
          <a:xfrm>
            <a:off x="371614" y="5616666"/>
            <a:ext cx="10430225" cy="643061"/>
          </a:xfrm>
          <a:prstGeom prst="rect">
            <a:avLst/>
          </a:prstGeom>
          <a:noFill/>
        </p:spPr>
        <p:txBody>
          <a:bodyPr wrap="square">
            <a:spAutoFit/>
          </a:bodyPr>
          <a:lstStyle/>
          <a:p>
            <a:pPr indent="304800" algn="l">
              <a:lnSpc>
                <a:spcPts val="2200"/>
              </a:lnSpc>
              <a:buNone/>
            </a:pPr>
            <a:r>
              <a:rPr lang="zh-CN" altLang="zh-CN" sz="1200" kern="100" dirty="0">
                <a:solidFill>
                  <a:schemeClr val="bg1"/>
                </a:solidFill>
                <a:latin typeface="Times New Roman" panose="02020603050405020304" pitchFamily="18" charset="0"/>
                <a:ea typeface="宋体" panose="02010600030101010101" pitchFamily="2" charset="-122"/>
              </a:rPr>
              <a:t>通过这种多任务相互辅助机制，拥塞分类任务能促使模型关注</a:t>
            </a:r>
            <a:r>
              <a:rPr lang="en-US" altLang="zh-CN" sz="1200" kern="100" dirty="0">
                <a:solidFill>
                  <a:schemeClr val="bg1"/>
                </a:solidFill>
                <a:latin typeface="Times New Roman" panose="02020603050405020304" pitchFamily="18" charset="0"/>
                <a:ea typeface="宋体" panose="02010600030101010101" pitchFamily="2" charset="-122"/>
              </a:rPr>
              <a:t>RTT</a:t>
            </a:r>
            <a:r>
              <a:rPr lang="zh-CN" altLang="zh-CN" sz="1200" kern="100" dirty="0">
                <a:solidFill>
                  <a:schemeClr val="bg1"/>
                </a:solidFill>
                <a:latin typeface="Times New Roman" panose="02020603050405020304" pitchFamily="18" charset="0"/>
                <a:ea typeface="宋体" panose="02010600030101010101" pitchFamily="2" charset="-122"/>
              </a:rPr>
              <a:t>的长尾分布，而路由预测任务能帮助模型区分由路径突变引起的延迟跳变，从而显著提升整体预测精度。</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C9F82-13F3-4F78-EAED-1D1618969E12}"/>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A8487693-8DA6-E0CE-4BCC-6910A65FEC14}"/>
              </a:ext>
            </a:extLst>
          </p:cNvPr>
          <p:cNvSpPr txBox="1"/>
          <p:nvPr/>
        </p:nvSpPr>
        <p:spPr>
          <a:xfrm>
            <a:off x="5058224" y="2754676"/>
            <a:ext cx="5609776" cy="1895584"/>
          </a:xfrm>
          <a:prstGeom prst="rect">
            <a:avLst/>
          </a:prstGeom>
          <a:noFill/>
        </p:spPr>
        <p:txBody>
          <a:bodyPr wrap="square" rtlCol="0">
            <a:spAutoFit/>
          </a:bodyPr>
          <a:lstStyle/>
          <a:p>
            <a:pPr algn="l"/>
            <a:r>
              <a:rPr lang="en-US" altLang="zh-CN" sz="3402" dirty="0">
                <a:solidFill>
                  <a:schemeClr val="bg1"/>
                </a:solidFill>
                <a:latin typeface="字魂59号-创粗黑" panose="00000500000000000000" pitchFamily="2" charset="-122"/>
                <a:ea typeface="字魂59号-创粗黑" panose="00000500000000000000" pitchFamily="2" charset="-122"/>
              </a:rPr>
              <a:t>04.</a:t>
            </a:r>
          </a:p>
          <a:p>
            <a:pPr algn="l"/>
            <a:r>
              <a:rPr lang="zh-CN" altLang="en-US" sz="4158" b="1" dirty="0">
                <a:solidFill>
                  <a:srgbClr val="1EE2F4"/>
                </a:solidFill>
                <a:latin typeface="字魂59号-创粗黑" panose="00000500000000000000" pitchFamily="2" charset="-122"/>
                <a:ea typeface="字魂59号-创粗黑" panose="00000500000000000000" pitchFamily="2" charset="-122"/>
              </a:rPr>
              <a:t>实验环境设计</a:t>
            </a:r>
          </a:p>
          <a:p>
            <a:pPr algn="l"/>
            <a:endParaRPr lang="en-US" altLang="zh-CN" sz="4158" b="1" dirty="0">
              <a:solidFill>
                <a:srgbClr val="1EE2F4"/>
              </a:solidFill>
              <a:latin typeface="字魂59号-创粗黑" panose="00000500000000000000" pitchFamily="2" charset="-122"/>
              <a:ea typeface="字魂59号-创粗黑" panose="00000500000000000000" pitchFamily="2" charset="-122"/>
            </a:endParaRPr>
          </a:p>
        </p:txBody>
      </p:sp>
      <p:pic>
        <p:nvPicPr>
          <p:cNvPr id="9" name="图片 8" descr="09">
            <a:extLst>
              <a:ext uri="{FF2B5EF4-FFF2-40B4-BE49-F238E27FC236}">
                <a16:creationId xmlns:a16="http://schemas.microsoft.com/office/drawing/2014/main" id="{B107134A-6EA1-7E90-4700-65C22E487F9C}"/>
              </a:ext>
            </a:extLst>
          </p:cNvPr>
          <p:cNvPicPr>
            <a:picLocks noChangeAspect="1"/>
          </p:cNvPicPr>
          <p:nvPr/>
        </p:nvPicPr>
        <p:blipFill>
          <a:blip r:embed="rId4"/>
          <a:stretch>
            <a:fillRect/>
          </a:stretch>
        </p:blipFill>
        <p:spPr>
          <a:xfrm flipH="1" flipV="1">
            <a:off x="19289" y="1379437"/>
            <a:ext cx="6117765" cy="5086937"/>
          </a:xfrm>
          <a:prstGeom prst="rect">
            <a:avLst/>
          </a:prstGeom>
        </p:spPr>
      </p:pic>
    </p:spTree>
    <p:custDataLst>
      <p:tags r:id="rId1"/>
    </p:custDataLst>
    <p:extLst>
      <p:ext uri="{BB962C8B-B14F-4D97-AF65-F5344CB8AC3E}">
        <p14:creationId xmlns:p14="http://schemas.microsoft.com/office/powerpoint/2010/main" val="2902082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145CA-604C-5682-70EC-D9C5C527683F}"/>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E6B8D2A9-BC15-FD83-4B40-F2B186BD56DB}"/>
              </a:ext>
            </a:extLst>
          </p:cNvPr>
          <p:cNvGrpSpPr/>
          <p:nvPr/>
        </p:nvGrpSpPr>
        <p:grpSpPr>
          <a:xfrm>
            <a:off x="-7712" y="-5400"/>
            <a:ext cx="9869066" cy="2197259"/>
            <a:chOff x="-13" y="-9"/>
            <a:chExt cx="16448" cy="3662"/>
          </a:xfrm>
        </p:grpSpPr>
        <p:grpSp>
          <p:nvGrpSpPr>
            <p:cNvPr id="6" name="组合 5">
              <a:extLst>
                <a:ext uri="{FF2B5EF4-FFF2-40B4-BE49-F238E27FC236}">
                  <a16:creationId xmlns:a16="http://schemas.microsoft.com/office/drawing/2014/main" id="{132B51B4-79A0-8E14-34A3-A61F833C22BC}"/>
                </a:ext>
              </a:extLst>
            </p:cNvPr>
            <p:cNvGrpSpPr/>
            <p:nvPr/>
          </p:nvGrpSpPr>
          <p:grpSpPr>
            <a:xfrm>
              <a:off x="1712" y="1132"/>
              <a:ext cx="14723" cy="2000"/>
              <a:chOff x="2444" y="1069"/>
              <a:chExt cx="14723" cy="2000"/>
            </a:xfrm>
          </p:grpSpPr>
          <p:sp>
            <p:nvSpPr>
              <p:cNvPr id="15" name="文本框 14">
                <a:extLst>
                  <a:ext uri="{FF2B5EF4-FFF2-40B4-BE49-F238E27FC236}">
                    <a16:creationId xmlns:a16="http://schemas.microsoft.com/office/drawing/2014/main" id="{DF505A1D-AC4C-28B1-8521-EB23BB9BFD2F}"/>
                  </a:ext>
                </a:extLst>
              </p:cNvPr>
              <p:cNvSpPr txBox="1"/>
              <p:nvPr/>
            </p:nvSpPr>
            <p:spPr>
              <a:xfrm>
                <a:off x="2444" y="1069"/>
                <a:ext cx="14713" cy="2000"/>
              </a:xfrm>
              <a:prstGeom prst="rect">
                <a:avLst/>
              </a:prstGeom>
              <a:noFill/>
            </p:spPr>
            <p:txBody>
              <a:bodyPr wrap="square" rtlCol="0">
                <a:spAutoFit/>
              </a:bodyPr>
              <a:lstStyle/>
              <a:p>
                <a:r>
                  <a:rPr lang="en-US" altLang="zh-CN" sz="3600" b="1" dirty="0">
                    <a:solidFill>
                      <a:srgbClr val="1EE2F4"/>
                    </a:solidFill>
                    <a:latin typeface="字魂59号-创粗黑" panose="00000500000000000000" pitchFamily="2" charset="-122"/>
                    <a:ea typeface="字魂59号-创粗黑" panose="00000500000000000000" pitchFamily="2" charset="-122"/>
                  </a:rPr>
                  <a:t>4.</a:t>
                </a:r>
                <a:r>
                  <a:rPr lang="zh-CN" altLang="en-US" sz="3600" b="1" dirty="0">
                    <a:solidFill>
                      <a:srgbClr val="1EE2F4"/>
                    </a:solidFill>
                    <a:latin typeface="字魂59号-创粗黑" panose="00000500000000000000" pitchFamily="2" charset="-122"/>
                    <a:ea typeface="字魂59号-创粗黑" panose="00000500000000000000" pitchFamily="2" charset="-122"/>
                  </a:rPr>
                  <a:t>实验方案设计</a:t>
                </a:r>
              </a:p>
              <a:p>
                <a:endParaRPr lang="zh-CN" altLang="en-US" sz="3600" b="1" dirty="0">
                  <a:solidFill>
                    <a:srgbClr val="1EE2F4"/>
                  </a:solidFill>
                  <a:latin typeface="字魂59号-创粗黑" panose="00000500000000000000" pitchFamily="2" charset="-122"/>
                  <a:ea typeface="字魂59号-创粗黑" panose="00000500000000000000" pitchFamily="2" charset="-122"/>
                </a:endParaRPr>
              </a:p>
            </p:txBody>
          </p:sp>
          <p:sp>
            <p:nvSpPr>
              <p:cNvPr id="10" name="文本框 9">
                <a:extLst>
                  <a:ext uri="{FF2B5EF4-FFF2-40B4-BE49-F238E27FC236}">
                    <a16:creationId xmlns:a16="http://schemas.microsoft.com/office/drawing/2014/main" id="{5A0D61B8-70C5-4C09-BCEF-DB997ECCDEB2}"/>
                  </a:ext>
                </a:extLst>
              </p:cNvPr>
              <p:cNvSpPr txBox="1"/>
              <p:nvPr/>
            </p:nvSpPr>
            <p:spPr>
              <a:xfrm>
                <a:off x="2454" y="1980"/>
                <a:ext cx="14713" cy="493"/>
              </a:xfrm>
              <a:prstGeom prst="rect">
                <a:avLst/>
              </a:prstGeom>
              <a:noFill/>
            </p:spPr>
            <p:txBody>
              <a:bodyPr wrap="square" rtlCol="0">
                <a:spAutoFit/>
              </a:bodyPr>
              <a:lstStyle/>
              <a:p>
                <a:pPr algn="l"/>
                <a:r>
                  <a:rPr lang="zh-CN" altLang="en-US" sz="1323" dirty="0">
                    <a:solidFill>
                      <a:srgbClr val="1EE2F4"/>
                    </a:solidFill>
                    <a:latin typeface="字魂59号-创粗黑" panose="00000500000000000000" pitchFamily="2" charset="-122"/>
                    <a:ea typeface="字魂59号-创粗黑" panose="00000500000000000000" pitchFamily="2" charset="-122"/>
                  </a:rPr>
                  <a:t>网络架构的“黑盒化”演进与细粒度感知需求</a:t>
                </a:r>
              </a:p>
            </p:txBody>
          </p:sp>
        </p:grpSp>
        <p:pic>
          <p:nvPicPr>
            <p:cNvPr id="5" name="图片 4" descr="10">
              <a:extLst>
                <a:ext uri="{FF2B5EF4-FFF2-40B4-BE49-F238E27FC236}">
                  <a16:creationId xmlns:a16="http://schemas.microsoft.com/office/drawing/2014/main" id="{518076CE-7C5D-3DA5-7B93-DE2D44F14FAD}"/>
                </a:ext>
              </a:extLst>
            </p:cNvPr>
            <p:cNvPicPr>
              <a:picLocks noChangeAspect="1"/>
            </p:cNvPicPr>
            <p:nvPr/>
          </p:nvPicPr>
          <p:blipFill>
            <a:blip r:embed="rId4"/>
            <a:stretch>
              <a:fillRect/>
            </a:stretch>
          </p:blipFill>
          <p:spPr>
            <a:xfrm rot="16200000" flipV="1">
              <a:off x="-856" y="834"/>
              <a:ext cx="3662" cy="1975"/>
            </a:xfrm>
            <a:prstGeom prst="rect">
              <a:avLst/>
            </a:prstGeom>
          </p:spPr>
        </p:pic>
      </p:grpSp>
      <p:pic>
        <p:nvPicPr>
          <p:cNvPr id="8" name="图片 7" descr="10">
            <a:extLst>
              <a:ext uri="{FF2B5EF4-FFF2-40B4-BE49-F238E27FC236}">
                <a16:creationId xmlns:a16="http://schemas.microsoft.com/office/drawing/2014/main" id="{C8050F6F-549B-0527-67C2-E8499BCC4CB0}"/>
              </a:ext>
            </a:extLst>
          </p:cNvPr>
          <p:cNvPicPr>
            <a:picLocks noChangeAspect="1"/>
          </p:cNvPicPr>
          <p:nvPr/>
        </p:nvPicPr>
        <p:blipFill>
          <a:blip r:embed="rId4"/>
          <a:stretch>
            <a:fillRect/>
          </a:stretch>
        </p:blipFill>
        <p:spPr>
          <a:xfrm flipH="1">
            <a:off x="0" y="2515268"/>
            <a:ext cx="7352599" cy="3964907"/>
          </a:xfrm>
          <a:prstGeom prst="rect">
            <a:avLst/>
          </a:prstGeom>
        </p:spPr>
      </p:pic>
      <p:sp>
        <p:nvSpPr>
          <p:cNvPr id="3" name="文本框 2">
            <a:extLst>
              <a:ext uri="{FF2B5EF4-FFF2-40B4-BE49-F238E27FC236}">
                <a16:creationId xmlns:a16="http://schemas.microsoft.com/office/drawing/2014/main" id="{812F1099-EA55-0249-F7AA-AC7B5A4AE656}"/>
              </a:ext>
            </a:extLst>
          </p:cNvPr>
          <p:cNvSpPr txBox="1"/>
          <p:nvPr/>
        </p:nvSpPr>
        <p:spPr>
          <a:xfrm>
            <a:off x="428203" y="1621088"/>
            <a:ext cx="5013132" cy="4859087"/>
          </a:xfrm>
          <a:prstGeom prst="rect">
            <a:avLst/>
          </a:prstGeom>
          <a:noFill/>
        </p:spPr>
        <p:txBody>
          <a:bodyPr wrap="square">
            <a:spAutoFit/>
          </a:bodyPr>
          <a:lstStyle/>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1</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）数据集与预处理流程</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indent="304800" algn="l">
              <a:lnSpc>
                <a:spcPts val="2200"/>
              </a:lnSpc>
              <a:buNone/>
            </a:pP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利用</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MATLAB</a:t>
            </a:r>
            <a:r>
              <a:rPr lang="zh-CN" altLang="en-US"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进行初步数据清洗与统计分析，</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实验采用</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RIPE Atlas</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公开数据集，包含全球探针的高频</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ICMP Ping</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RTT</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序列）与</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Traceroute</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（路由拓扑）数据。针对数据特征，设计如下三阶段预处理流水线：</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基础清洗：采用</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IQR</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法剔除物理层瞬时噪声，利用</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Z-score</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统一不同链路的量纲，并辅以滑动窗口平滑以保持序列连续性。</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多视图增强：构建自监督输入。对</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RTT</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序列施加掩码与抖动生成时域视图，对</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Traceroute</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序列进行子图采样生成空域视图。</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分布张量化：利用</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Softmax</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直方图映射技术，将连续</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RTT</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数值离散化为</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PMF</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（概率质量函数）序列，保留长尾分布特征。</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2</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）数据准备阶段</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完成</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RIPE Atlas</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数据的采集、清洗、视图增强及训练</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测试集划分。</a:t>
            </a:r>
            <a:endPar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endParaRPr>
          </a:p>
          <a:p>
            <a:pPr indent="304800">
              <a:lnSpc>
                <a:spcPts val="2200"/>
              </a:lnSpc>
            </a:pPr>
            <a:r>
              <a:rPr lang="zh-CN"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）表征学习阶段</a:t>
            </a:r>
            <a:endParaRPr lang="zh-CN" altLang="zh-CN" sz="1200" kern="100" dirty="0">
              <a:solidFill>
                <a:schemeClr val="bg1"/>
              </a:solidFill>
              <a:latin typeface="等线" panose="02010600030101010101" pitchFamily="2" charset="-122"/>
              <a:cs typeface="Times New Roman" panose="02020603050405020304" pitchFamily="18" charset="0"/>
            </a:endParaRPr>
          </a:p>
          <a:p>
            <a:pPr indent="304800">
              <a:lnSpc>
                <a:spcPts val="2200"/>
              </a:lnSpc>
            </a:pPr>
            <a:r>
              <a:rPr lang="zh-CN" altLang="en-US"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基于</a:t>
            </a:r>
            <a:r>
              <a:rPr lang="en-US"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PyTorch 1.10+</a:t>
            </a:r>
            <a:r>
              <a:rPr lang="zh-CN" altLang="en-US"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框架搭建</a:t>
            </a:r>
            <a:r>
              <a:rPr lang="en-US"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Transformer</a:t>
            </a:r>
            <a:r>
              <a:rPr lang="zh-CN" altLang="en-US"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与</a:t>
            </a:r>
            <a:r>
              <a:rPr lang="en-US"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TCN</a:t>
            </a:r>
            <a:r>
              <a:rPr lang="zh-CN" altLang="en-US"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深度学习模型。</a:t>
            </a:r>
            <a:r>
              <a:rPr lang="zh-CN"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构建双流</a:t>
            </a:r>
            <a:r>
              <a:rPr lang="en-US"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Transformer</a:t>
            </a:r>
            <a:r>
              <a:rPr lang="zh-CN"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孪生网络，利用</a:t>
            </a:r>
            <a:r>
              <a:rPr lang="en-US"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InfoNCE</a:t>
            </a:r>
            <a:r>
              <a:rPr lang="zh-CN" altLang="zh-CN" sz="1200"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损失函数在无标签增强数据上进行预训练，提取解耦拥塞与路由特征的状态嵌入向量。</a:t>
            </a:r>
            <a:endParaRPr lang="zh-CN" altLang="zh-CN" sz="1200" kern="100" dirty="0">
              <a:solidFill>
                <a:schemeClr val="bg1"/>
              </a:solidFill>
              <a:latin typeface="等线" panose="02010600030101010101" pitchFamily="2" charset="-122"/>
              <a:cs typeface="Times New Roman" panose="02020603050405020304" pitchFamily="18" charset="0"/>
            </a:endParaRPr>
          </a:p>
          <a:p>
            <a:pPr indent="304800" algn="l">
              <a:lnSpc>
                <a:spcPts val="2200"/>
              </a:lnSpc>
              <a:buNone/>
            </a:pP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CDD1B920-41FA-927F-0546-55852EEB25D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58471" y="1378357"/>
            <a:ext cx="5765675" cy="2621580"/>
          </a:xfrm>
          <a:prstGeom prst="rect">
            <a:avLst/>
          </a:prstGeom>
        </p:spPr>
      </p:pic>
      <p:sp>
        <p:nvSpPr>
          <p:cNvPr id="11" name="文本框 10">
            <a:extLst>
              <a:ext uri="{FF2B5EF4-FFF2-40B4-BE49-F238E27FC236}">
                <a16:creationId xmlns:a16="http://schemas.microsoft.com/office/drawing/2014/main" id="{CCDA1061-7F6F-E594-0F8B-8744A7E821B4}"/>
              </a:ext>
            </a:extLst>
          </p:cNvPr>
          <p:cNvSpPr txBox="1"/>
          <p:nvPr/>
        </p:nvSpPr>
        <p:spPr>
          <a:xfrm>
            <a:off x="5638305" y="4084488"/>
            <a:ext cx="5765674" cy="2034660"/>
          </a:xfrm>
          <a:prstGeom prst="rect">
            <a:avLst/>
          </a:prstGeom>
          <a:noFill/>
        </p:spPr>
        <p:txBody>
          <a:bodyPr wrap="square">
            <a:spAutoFit/>
          </a:bodyPr>
          <a:lstStyle/>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4</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）预测建模阶段</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构建</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PMF-Net</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模型。将“状态嵌入向量”作为全局上下文，与</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PMF</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分布特征融合，输入</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TCN</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网络进行长时序建模，通过多任务头联合输出</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RTT</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趋势、拥塞等级及路由漂移概率。</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5</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）评估对比阶段</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p>
            <a:pPr indent="304800" algn="l">
              <a:lnSpc>
                <a:spcPts val="2200"/>
              </a:lnSpc>
              <a:buNone/>
            </a:pP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基于</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RMSE</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（数值精度）、</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KL</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散度（分布拟合度）及</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F1-Score</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（异常识别率）指标，与</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LSTM</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a:t>
            </a:r>
            <a:r>
              <a:rPr lang="en-US"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DeepAR</a:t>
            </a:r>
            <a:r>
              <a:rPr lang="zh-CN" altLang="zh-CN" sz="1200" kern="100" dirty="0">
                <a:solidFill>
                  <a:schemeClr val="bg1"/>
                </a:solidFill>
                <a:effectLst/>
                <a:latin typeface="Times New Roman" panose="02020603050405020304" pitchFamily="18" charset="0"/>
                <a:ea typeface="宋体" panose="02010600030101010101" pitchFamily="2" charset="-122"/>
                <a:cs typeface="宋体" panose="02010600030101010101" pitchFamily="2" charset="-122"/>
              </a:rPr>
              <a:t>等基线模型进行性能对比。</a:t>
            </a:r>
            <a:endParaRPr lang="zh-CN" altLang="zh-CN" sz="12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425825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8B32-DF22-57F1-FB3A-A8DEFA185BC8}"/>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B592262E-DD8F-2350-7053-A8E0BBBEB9D6}"/>
              </a:ext>
            </a:extLst>
          </p:cNvPr>
          <p:cNvSpPr txBox="1"/>
          <p:nvPr/>
        </p:nvSpPr>
        <p:spPr>
          <a:xfrm>
            <a:off x="5058224" y="2754676"/>
            <a:ext cx="5609776" cy="1895584"/>
          </a:xfrm>
          <a:prstGeom prst="rect">
            <a:avLst/>
          </a:prstGeom>
          <a:noFill/>
        </p:spPr>
        <p:txBody>
          <a:bodyPr wrap="square" rtlCol="0">
            <a:spAutoFit/>
          </a:bodyPr>
          <a:lstStyle/>
          <a:p>
            <a:pPr algn="l"/>
            <a:r>
              <a:rPr lang="en-US" altLang="zh-CN" sz="3402" dirty="0">
                <a:solidFill>
                  <a:schemeClr val="bg1"/>
                </a:solidFill>
                <a:latin typeface="字魂59号-创粗黑" panose="00000500000000000000" pitchFamily="2" charset="-122"/>
                <a:ea typeface="字魂59号-创粗黑" panose="00000500000000000000" pitchFamily="2" charset="-122"/>
              </a:rPr>
              <a:t>05.</a:t>
            </a:r>
          </a:p>
          <a:p>
            <a:pPr algn="l"/>
            <a:r>
              <a:rPr lang="zh-CN" altLang="en-US" sz="4158" b="1" dirty="0">
                <a:solidFill>
                  <a:srgbClr val="1EE2F4"/>
                </a:solidFill>
                <a:latin typeface="字魂59号-创粗黑" panose="00000500000000000000" pitchFamily="2" charset="-122"/>
                <a:ea typeface="字魂59号-创粗黑" panose="00000500000000000000" pitchFamily="2" charset="-122"/>
              </a:rPr>
              <a:t>预期成果</a:t>
            </a:r>
          </a:p>
          <a:p>
            <a:pPr algn="l"/>
            <a:endParaRPr lang="en-US" altLang="zh-CN" sz="4158" b="1" dirty="0">
              <a:solidFill>
                <a:srgbClr val="1EE2F4"/>
              </a:solidFill>
              <a:latin typeface="字魂59号-创粗黑" panose="00000500000000000000" pitchFamily="2" charset="-122"/>
              <a:ea typeface="字魂59号-创粗黑" panose="00000500000000000000" pitchFamily="2" charset="-122"/>
            </a:endParaRPr>
          </a:p>
        </p:txBody>
      </p:sp>
      <p:pic>
        <p:nvPicPr>
          <p:cNvPr id="9" name="图片 8" descr="09">
            <a:extLst>
              <a:ext uri="{FF2B5EF4-FFF2-40B4-BE49-F238E27FC236}">
                <a16:creationId xmlns:a16="http://schemas.microsoft.com/office/drawing/2014/main" id="{5B788CF5-9E37-5435-14C1-3096A64582A7}"/>
              </a:ext>
            </a:extLst>
          </p:cNvPr>
          <p:cNvPicPr>
            <a:picLocks noChangeAspect="1"/>
          </p:cNvPicPr>
          <p:nvPr/>
        </p:nvPicPr>
        <p:blipFill>
          <a:blip r:embed="rId4"/>
          <a:stretch>
            <a:fillRect/>
          </a:stretch>
        </p:blipFill>
        <p:spPr>
          <a:xfrm flipH="1" flipV="1">
            <a:off x="19289" y="1379437"/>
            <a:ext cx="6117765" cy="5086937"/>
          </a:xfrm>
          <a:prstGeom prst="rect">
            <a:avLst/>
          </a:prstGeom>
        </p:spPr>
      </p:pic>
    </p:spTree>
    <p:custDataLst>
      <p:tags r:id="rId1"/>
    </p:custDataLst>
    <p:extLst>
      <p:ext uri="{BB962C8B-B14F-4D97-AF65-F5344CB8AC3E}">
        <p14:creationId xmlns:p14="http://schemas.microsoft.com/office/powerpoint/2010/main" val="3284825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0EE85-5A8B-AE5C-A1D5-C40D87854BFB}"/>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0A1ED586-1ED4-BE34-5202-05449310886E}"/>
              </a:ext>
            </a:extLst>
          </p:cNvPr>
          <p:cNvGrpSpPr/>
          <p:nvPr/>
        </p:nvGrpSpPr>
        <p:grpSpPr>
          <a:xfrm>
            <a:off x="0" y="0"/>
            <a:ext cx="9863066" cy="2197259"/>
            <a:chOff x="-13" y="-9"/>
            <a:chExt cx="16438" cy="3662"/>
          </a:xfrm>
        </p:grpSpPr>
        <p:grpSp>
          <p:nvGrpSpPr>
            <p:cNvPr id="6" name="组合 5">
              <a:extLst>
                <a:ext uri="{FF2B5EF4-FFF2-40B4-BE49-F238E27FC236}">
                  <a16:creationId xmlns:a16="http://schemas.microsoft.com/office/drawing/2014/main" id="{48ED71E5-1DE8-AA67-3ADE-9B0A90C6AEE6}"/>
                </a:ext>
              </a:extLst>
            </p:cNvPr>
            <p:cNvGrpSpPr/>
            <p:nvPr/>
          </p:nvGrpSpPr>
          <p:grpSpPr>
            <a:xfrm>
              <a:off x="1712" y="1132"/>
              <a:ext cx="14713" cy="1391"/>
              <a:chOff x="2444" y="1069"/>
              <a:chExt cx="14713" cy="1391"/>
            </a:xfrm>
          </p:grpSpPr>
          <p:sp>
            <p:nvSpPr>
              <p:cNvPr id="15" name="文本框 14">
                <a:extLst>
                  <a:ext uri="{FF2B5EF4-FFF2-40B4-BE49-F238E27FC236}">
                    <a16:creationId xmlns:a16="http://schemas.microsoft.com/office/drawing/2014/main" id="{DC2D6625-2705-19B6-C0EE-3B5B9C009116}"/>
                  </a:ext>
                </a:extLst>
              </p:cNvPr>
              <p:cNvSpPr txBox="1"/>
              <p:nvPr/>
            </p:nvSpPr>
            <p:spPr>
              <a:xfrm>
                <a:off x="2444" y="1069"/>
                <a:ext cx="14713" cy="1077"/>
              </a:xfrm>
              <a:prstGeom prst="rect">
                <a:avLst/>
              </a:prstGeom>
              <a:noFill/>
            </p:spPr>
            <p:txBody>
              <a:bodyPr wrap="square" rtlCol="0">
                <a:spAutoFit/>
              </a:bodyPr>
              <a:lstStyle/>
              <a:p>
                <a:r>
                  <a:rPr lang="en-US" altLang="zh-CN" sz="3600" b="1" dirty="0">
                    <a:solidFill>
                      <a:srgbClr val="1EE2F4"/>
                    </a:solidFill>
                    <a:latin typeface="字魂59号-创粗黑" panose="00000500000000000000" pitchFamily="2" charset="-122"/>
                    <a:ea typeface="字魂59号-创粗黑" panose="00000500000000000000" pitchFamily="2" charset="-122"/>
                  </a:rPr>
                  <a:t>5.</a:t>
                </a:r>
                <a:r>
                  <a:rPr lang="zh-CN" altLang="en-US" sz="3600" b="1" dirty="0">
                    <a:solidFill>
                      <a:srgbClr val="1EE2F4"/>
                    </a:solidFill>
                    <a:latin typeface="字魂59号-创粗黑" panose="00000500000000000000" pitchFamily="2" charset="-122"/>
                    <a:ea typeface="字魂59号-创粗黑" panose="00000500000000000000" pitchFamily="2" charset="-122"/>
                  </a:rPr>
                  <a:t>预期成果</a:t>
                </a:r>
                <a:endParaRPr lang="en-US" altLang="zh-CN" sz="3600" b="1" dirty="0">
                  <a:solidFill>
                    <a:srgbClr val="1EE2F4"/>
                  </a:solidFill>
                  <a:latin typeface="字魂59号-创粗黑" panose="00000500000000000000" pitchFamily="2" charset="-122"/>
                  <a:ea typeface="字魂59号-创粗黑" panose="00000500000000000000" pitchFamily="2" charset="-122"/>
                </a:endParaRPr>
              </a:p>
            </p:txBody>
          </p:sp>
          <p:sp>
            <p:nvSpPr>
              <p:cNvPr id="10" name="文本框 9">
                <a:extLst>
                  <a:ext uri="{FF2B5EF4-FFF2-40B4-BE49-F238E27FC236}">
                    <a16:creationId xmlns:a16="http://schemas.microsoft.com/office/drawing/2014/main" id="{258A07CA-AFAD-F283-E600-7A0CEBEEFE72}"/>
                  </a:ext>
                </a:extLst>
              </p:cNvPr>
              <p:cNvSpPr txBox="1"/>
              <p:nvPr/>
            </p:nvSpPr>
            <p:spPr>
              <a:xfrm>
                <a:off x="2444" y="1967"/>
                <a:ext cx="14713" cy="493"/>
              </a:xfrm>
              <a:prstGeom prst="rect">
                <a:avLst/>
              </a:prstGeom>
              <a:noFill/>
            </p:spPr>
            <p:txBody>
              <a:bodyPr wrap="square" rtlCol="0">
                <a:spAutoFit/>
              </a:bodyPr>
              <a:lstStyle/>
              <a:p>
                <a:pPr algn="l"/>
                <a:r>
                  <a:rPr lang="zh-CN" altLang="en-US" sz="1323" dirty="0">
                    <a:solidFill>
                      <a:srgbClr val="1EE2F4"/>
                    </a:solidFill>
                    <a:latin typeface="字魂59号-创粗黑" panose="00000500000000000000" pitchFamily="2" charset="-122"/>
                    <a:ea typeface="字魂59号-创粗黑" panose="00000500000000000000" pitchFamily="2" charset="-122"/>
                  </a:rPr>
                  <a:t>基于对比学习的网络延迟预测方法研究</a:t>
                </a:r>
              </a:p>
            </p:txBody>
          </p:sp>
        </p:grpSp>
        <p:pic>
          <p:nvPicPr>
            <p:cNvPr id="5" name="图片 4" descr="10">
              <a:extLst>
                <a:ext uri="{FF2B5EF4-FFF2-40B4-BE49-F238E27FC236}">
                  <a16:creationId xmlns:a16="http://schemas.microsoft.com/office/drawing/2014/main" id="{FBEC4D58-BFF2-0949-FF6D-5E00F73700DA}"/>
                </a:ext>
              </a:extLst>
            </p:cNvPr>
            <p:cNvPicPr>
              <a:picLocks noChangeAspect="1"/>
            </p:cNvPicPr>
            <p:nvPr/>
          </p:nvPicPr>
          <p:blipFill>
            <a:blip r:embed="rId4"/>
            <a:stretch>
              <a:fillRect/>
            </a:stretch>
          </p:blipFill>
          <p:spPr>
            <a:xfrm rot="16200000" flipV="1">
              <a:off x="-856" y="834"/>
              <a:ext cx="3662" cy="1975"/>
            </a:xfrm>
            <a:prstGeom prst="rect">
              <a:avLst/>
            </a:prstGeom>
          </p:spPr>
        </p:pic>
      </p:grpSp>
      <p:pic>
        <p:nvPicPr>
          <p:cNvPr id="8" name="图片 7" descr="10">
            <a:extLst>
              <a:ext uri="{FF2B5EF4-FFF2-40B4-BE49-F238E27FC236}">
                <a16:creationId xmlns:a16="http://schemas.microsoft.com/office/drawing/2014/main" id="{467836DB-8591-5E94-37E5-F469C7FD6A84}"/>
              </a:ext>
            </a:extLst>
          </p:cNvPr>
          <p:cNvPicPr>
            <a:picLocks noChangeAspect="1"/>
          </p:cNvPicPr>
          <p:nvPr/>
        </p:nvPicPr>
        <p:blipFill>
          <a:blip r:embed="rId4"/>
          <a:stretch>
            <a:fillRect/>
          </a:stretch>
        </p:blipFill>
        <p:spPr>
          <a:xfrm flipH="1">
            <a:off x="-7112" y="2548268"/>
            <a:ext cx="7352599" cy="3964907"/>
          </a:xfrm>
          <a:prstGeom prst="rect">
            <a:avLst/>
          </a:prstGeom>
        </p:spPr>
      </p:pic>
      <p:sp>
        <p:nvSpPr>
          <p:cNvPr id="12" name="文本框 11">
            <a:extLst>
              <a:ext uri="{FF2B5EF4-FFF2-40B4-BE49-F238E27FC236}">
                <a16:creationId xmlns:a16="http://schemas.microsoft.com/office/drawing/2014/main" id="{49CB5690-3F28-8807-4099-BDB3B2B12AA5}"/>
              </a:ext>
            </a:extLst>
          </p:cNvPr>
          <p:cNvSpPr txBox="1"/>
          <p:nvPr/>
        </p:nvSpPr>
        <p:spPr>
          <a:xfrm>
            <a:off x="1035028" y="1941588"/>
            <a:ext cx="10059392" cy="2238241"/>
          </a:xfrm>
          <a:prstGeom prst="rect">
            <a:avLst/>
          </a:prstGeom>
          <a:noFill/>
        </p:spPr>
        <p:txBody>
          <a:bodyPr wrap="square">
            <a:spAutoFit/>
          </a:bodyPr>
          <a:lstStyle/>
          <a:p>
            <a:pPr marL="342900" lvl="0" indent="-342900" algn="just">
              <a:lnSpc>
                <a:spcPct val="150000"/>
              </a:lnSpc>
              <a:buFont typeface="+mj-lt"/>
              <a:buAutoNum type="arabicParenBoth"/>
              <a:tabLst>
                <a:tab pos="266700" algn="l"/>
              </a:tabLst>
            </a:pPr>
            <a:r>
              <a:rPr lang="zh-CN" altLang="zh-CN" sz="2400" kern="100" dirty="0">
                <a:solidFill>
                  <a:schemeClr val="bg1"/>
                </a:solidFill>
                <a:effectLst/>
                <a:latin typeface="Times New Roman" panose="02020603050405020304" pitchFamily="18" charset="0"/>
                <a:ea typeface="宋体" panose="02010600030101010101" pitchFamily="2" charset="-122"/>
              </a:rPr>
              <a:t>提出一种基于时空多视图对比学习的路径状态表征算法</a:t>
            </a:r>
          </a:p>
          <a:p>
            <a:pPr marL="342900" lvl="0" indent="-342900" algn="just">
              <a:lnSpc>
                <a:spcPct val="150000"/>
              </a:lnSpc>
              <a:buFont typeface="+mj-lt"/>
              <a:buAutoNum type="arabicParenBoth"/>
              <a:tabLst>
                <a:tab pos="266700" algn="l"/>
              </a:tabLst>
            </a:pPr>
            <a:r>
              <a:rPr lang="zh-CN" altLang="zh-CN" sz="2400" kern="100" dirty="0">
                <a:solidFill>
                  <a:schemeClr val="bg1"/>
                </a:solidFill>
                <a:effectLst/>
                <a:latin typeface="Times New Roman" panose="02020603050405020304" pitchFamily="18" charset="0"/>
                <a:ea typeface="宋体" panose="02010600030101010101" pitchFamily="2" charset="-122"/>
              </a:rPr>
              <a:t>设计一种基于微结构分布感知的</a:t>
            </a:r>
            <a:r>
              <a:rPr lang="en-US" altLang="zh-CN" sz="2400" kern="100" dirty="0">
                <a:solidFill>
                  <a:schemeClr val="bg1"/>
                </a:solidFill>
                <a:effectLst/>
                <a:latin typeface="Times New Roman" panose="02020603050405020304" pitchFamily="18" charset="0"/>
                <a:ea typeface="宋体" panose="02010600030101010101" pitchFamily="2" charset="-122"/>
              </a:rPr>
              <a:t>PMF-Net</a:t>
            </a:r>
            <a:r>
              <a:rPr lang="zh-CN" altLang="zh-CN" sz="2400" kern="100" dirty="0">
                <a:solidFill>
                  <a:schemeClr val="bg1"/>
                </a:solidFill>
                <a:effectLst/>
                <a:latin typeface="Times New Roman" panose="02020603050405020304" pitchFamily="18" charset="0"/>
                <a:ea typeface="宋体" panose="02010600030101010101" pitchFamily="2" charset="-122"/>
              </a:rPr>
              <a:t>网络性能预测模型</a:t>
            </a:r>
          </a:p>
          <a:p>
            <a:pPr marL="342900" lvl="0" indent="-342900" algn="just">
              <a:lnSpc>
                <a:spcPct val="150000"/>
              </a:lnSpc>
              <a:buFont typeface="+mj-lt"/>
              <a:buAutoNum type="arabicParenBoth"/>
              <a:tabLst>
                <a:tab pos="266700" algn="l"/>
              </a:tabLst>
            </a:pPr>
            <a:r>
              <a:rPr lang="zh-CN" altLang="zh-CN" sz="2400" kern="100" dirty="0">
                <a:solidFill>
                  <a:schemeClr val="bg1"/>
                </a:solidFill>
                <a:effectLst/>
                <a:latin typeface="Times New Roman" panose="02020603050405020304" pitchFamily="18" charset="0"/>
                <a:ea typeface="宋体" panose="02010600030101010101" pitchFamily="2" charset="-122"/>
              </a:rPr>
              <a:t>通过对比实验验证所提方法的可行性和有效性</a:t>
            </a:r>
          </a:p>
          <a:p>
            <a:pPr marL="342900" lvl="0" indent="-342900" algn="just">
              <a:lnSpc>
                <a:spcPct val="150000"/>
              </a:lnSpc>
              <a:buFont typeface="+mj-lt"/>
              <a:buAutoNum type="arabicParenBoth"/>
              <a:tabLst>
                <a:tab pos="266700" algn="l"/>
              </a:tabLst>
            </a:pPr>
            <a:r>
              <a:rPr lang="zh-CN" altLang="zh-CN" sz="2400" kern="100" dirty="0">
                <a:solidFill>
                  <a:schemeClr val="bg1"/>
                </a:solidFill>
                <a:effectLst/>
                <a:latin typeface="Times New Roman" panose="02020603050405020304" pitchFamily="18" charset="0"/>
                <a:ea typeface="宋体" panose="02010600030101010101" pitchFamily="2" charset="-122"/>
              </a:rPr>
              <a:t>撰写硕士学位论文，完成毕业答辩</a:t>
            </a:r>
          </a:p>
        </p:txBody>
      </p:sp>
    </p:spTree>
    <p:custDataLst>
      <p:tags r:id="rId1"/>
    </p:custDataLst>
    <p:extLst>
      <p:ext uri="{BB962C8B-B14F-4D97-AF65-F5344CB8AC3E}">
        <p14:creationId xmlns:p14="http://schemas.microsoft.com/office/powerpoint/2010/main" val="2928100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10"/>
          <p:cNvSpPr/>
          <p:nvPr/>
        </p:nvSpPr>
        <p:spPr>
          <a:xfrm>
            <a:off x="-5156" y="5142533"/>
            <a:ext cx="11547312" cy="2408465"/>
          </a:xfrm>
          <a:custGeom>
            <a:avLst/>
            <a:gdLst>
              <a:gd name="connisteX0" fmla="*/ 0 w 12220575"/>
              <a:gd name="connsiteY0" fmla="*/ 2548890 h 2548890"/>
              <a:gd name="connisteX1" fmla="*/ 2287270 w 12220575"/>
              <a:gd name="connsiteY1" fmla="*/ 1083945 h 2548890"/>
              <a:gd name="connisteX2" fmla="*/ 4612640 w 12220575"/>
              <a:gd name="connsiteY2" fmla="*/ 895350 h 2548890"/>
              <a:gd name="connisteX3" fmla="*/ 6464935 w 12220575"/>
              <a:gd name="connsiteY3" fmla="*/ 63500 h 2548890"/>
              <a:gd name="connisteX4" fmla="*/ 8525510 w 12220575"/>
              <a:gd name="connsiteY4" fmla="*/ 261620 h 2548890"/>
              <a:gd name="connisteX5" fmla="*/ 10623550 w 12220575"/>
              <a:gd name="connsiteY5" fmla="*/ 1377315 h 2548890"/>
              <a:gd name="connisteX6" fmla="*/ 12220575 w 12220575"/>
              <a:gd name="connsiteY6" fmla="*/ 725170 h 254889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12220575" h="2548891">
                <a:moveTo>
                  <a:pt x="0" y="2548891"/>
                </a:moveTo>
                <a:cubicBezTo>
                  <a:pt x="410845" y="2259966"/>
                  <a:pt x="1364615" y="1414781"/>
                  <a:pt x="2287270" y="1083946"/>
                </a:cubicBezTo>
                <a:cubicBezTo>
                  <a:pt x="3209925" y="753111"/>
                  <a:pt x="3776980" y="1099186"/>
                  <a:pt x="4612640" y="895351"/>
                </a:cubicBezTo>
                <a:cubicBezTo>
                  <a:pt x="5448300" y="691516"/>
                  <a:pt x="5682615" y="190501"/>
                  <a:pt x="6464935" y="63501"/>
                </a:cubicBezTo>
                <a:cubicBezTo>
                  <a:pt x="7247255" y="-63499"/>
                  <a:pt x="7693660" y="-1269"/>
                  <a:pt x="8525510" y="261621"/>
                </a:cubicBezTo>
                <a:cubicBezTo>
                  <a:pt x="9357360" y="524511"/>
                  <a:pt x="9884410" y="1284606"/>
                  <a:pt x="10623550" y="1377316"/>
                </a:cubicBezTo>
                <a:cubicBezTo>
                  <a:pt x="11362690" y="1470026"/>
                  <a:pt x="11943080" y="878206"/>
                  <a:pt x="12220575" y="725171"/>
                </a:cubicBezTo>
              </a:path>
            </a:pathLst>
          </a:custGeom>
          <a:noFill/>
          <a:ln w="28575" cmpd="sng">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7" dirty="0">
              <a:ea typeface="字魂59号-创粗黑" panose="00000500000000000000" pitchFamily="2" charset="-122"/>
            </a:endParaRPr>
          </a:p>
        </p:txBody>
      </p:sp>
      <p:pic>
        <p:nvPicPr>
          <p:cNvPr id="4" name="图片 3" descr="22"/>
          <p:cNvPicPr>
            <a:picLocks noChangeAspect="1"/>
          </p:cNvPicPr>
          <p:nvPr/>
        </p:nvPicPr>
        <p:blipFill>
          <a:blip r:embed="rId4"/>
          <a:stretch>
            <a:fillRect/>
          </a:stretch>
        </p:blipFill>
        <p:spPr>
          <a:xfrm>
            <a:off x="549403" y="-997828"/>
            <a:ext cx="10421081" cy="2882478"/>
          </a:xfrm>
          <a:prstGeom prst="rect">
            <a:avLst/>
          </a:prstGeom>
        </p:spPr>
      </p:pic>
      <p:sp>
        <p:nvSpPr>
          <p:cNvPr id="21" name="文本框 20"/>
          <p:cNvSpPr txBox="1"/>
          <p:nvPr/>
        </p:nvSpPr>
        <p:spPr>
          <a:xfrm>
            <a:off x="2085122" y="2223903"/>
            <a:ext cx="7461115" cy="218636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4536" b="1" dirty="0">
                <a:solidFill>
                  <a:srgbClr val="1EE2F4"/>
                </a:solidFill>
                <a:latin typeface="字魂59号-创粗黑" panose="00000500000000000000" pitchFamily="2" charset="-122"/>
                <a:ea typeface="字魂59号-创粗黑" panose="00000500000000000000" pitchFamily="2" charset="-122"/>
                <a:sym typeface="+mn-ea"/>
              </a:rPr>
              <a:t>感谢聆听</a:t>
            </a:r>
            <a:endParaRPr lang="en-US" altLang="zh-CN" sz="4536" b="1" dirty="0">
              <a:solidFill>
                <a:srgbClr val="1EE2F4"/>
              </a:solidFill>
              <a:latin typeface="字魂59号-创粗黑" panose="00000500000000000000" pitchFamily="2" charset="-122"/>
              <a:ea typeface="字魂59号-创粗黑" panose="00000500000000000000" pitchFamily="2" charset="-122"/>
              <a:sym typeface="+mn-ea"/>
            </a:endParaRPr>
          </a:p>
          <a:p>
            <a:pPr algn="ctr"/>
            <a:endParaRPr lang="en-US" altLang="zh-CN" sz="4536" b="1" dirty="0">
              <a:solidFill>
                <a:srgbClr val="1EE2F4"/>
              </a:solidFill>
              <a:latin typeface="字魂59号-创粗黑" panose="00000500000000000000" pitchFamily="2" charset="-122"/>
              <a:ea typeface="字魂59号-创粗黑" panose="00000500000000000000" pitchFamily="2" charset="-122"/>
              <a:sym typeface="+mn-ea"/>
            </a:endParaRPr>
          </a:p>
          <a:p>
            <a:pPr algn="ctr"/>
            <a:r>
              <a:rPr lang="zh-CN" altLang="en-US" sz="4536" b="1" dirty="0">
                <a:solidFill>
                  <a:srgbClr val="1EE2F4"/>
                </a:solidFill>
                <a:latin typeface="字魂59号-创粗黑" panose="00000500000000000000" pitchFamily="2" charset="-122"/>
                <a:ea typeface="字魂59号-创粗黑" panose="00000500000000000000" pitchFamily="2" charset="-122"/>
                <a:sym typeface="+mn-ea"/>
              </a:rPr>
              <a:t>请各位导师批评指正</a:t>
            </a:r>
            <a:endParaRPr lang="en-US" altLang="zh-CN" sz="4536" b="1" dirty="0">
              <a:solidFill>
                <a:srgbClr val="1EE2F4"/>
              </a:solidFill>
              <a:latin typeface="字魂59号-创粗黑" panose="00000500000000000000" pitchFamily="2" charset="-122"/>
              <a:ea typeface="字魂59号-创粗黑" panose="00000500000000000000" pitchFamily="2" charset="-122"/>
              <a:sym typeface="+mn-ea"/>
            </a:endParaRPr>
          </a:p>
        </p:txBody>
      </p:sp>
      <p:sp>
        <p:nvSpPr>
          <p:cNvPr id="12" name="任意多边形 11"/>
          <p:cNvSpPr/>
          <p:nvPr/>
        </p:nvSpPr>
        <p:spPr>
          <a:xfrm flipH="1">
            <a:off x="-5156" y="4749525"/>
            <a:ext cx="11547312" cy="2801476"/>
          </a:xfrm>
          <a:custGeom>
            <a:avLst/>
            <a:gdLst>
              <a:gd name="connisteX0" fmla="*/ 0 w 12220575"/>
              <a:gd name="connsiteY0" fmla="*/ 2548890 h 2548890"/>
              <a:gd name="connisteX1" fmla="*/ 2287270 w 12220575"/>
              <a:gd name="connsiteY1" fmla="*/ 1083945 h 2548890"/>
              <a:gd name="connisteX2" fmla="*/ 4612640 w 12220575"/>
              <a:gd name="connsiteY2" fmla="*/ 895350 h 2548890"/>
              <a:gd name="connisteX3" fmla="*/ 6464935 w 12220575"/>
              <a:gd name="connsiteY3" fmla="*/ 63500 h 2548890"/>
              <a:gd name="connisteX4" fmla="*/ 8525510 w 12220575"/>
              <a:gd name="connsiteY4" fmla="*/ 261620 h 2548890"/>
              <a:gd name="connisteX5" fmla="*/ 10623550 w 12220575"/>
              <a:gd name="connsiteY5" fmla="*/ 1377315 h 2548890"/>
              <a:gd name="connisteX6" fmla="*/ 12220575 w 12220575"/>
              <a:gd name="connsiteY6" fmla="*/ 725170 h 254889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12220575" h="2548891">
                <a:moveTo>
                  <a:pt x="0" y="2548891"/>
                </a:moveTo>
                <a:cubicBezTo>
                  <a:pt x="410845" y="2259966"/>
                  <a:pt x="1364615" y="1414781"/>
                  <a:pt x="2287270" y="1083946"/>
                </a:cubicBezTo>
                <a:cubicBezTo>
                  <a:pt x="3209925" y="753111"/>
                  <a:pt x="3776980" y="1099186"/>
                  <a:pt x="4612640" y="895351"/>
                </a:cubicBezTo>
                <a:cubicBezTo>
                  <a:pt x="5448300" y="691516"/>
                  <a:pt x="5682615" y="190501"/>
                  <a:pt x="6464935" y="63501"/>
                </a:cubicBezTo>
                <a:cubicBezTo>
                  <a:pt x="7247255" y="-63499"/>
                  <a:pt x="7693660" y="-1269"/>
                  <a:pt x="8525510" y="261621"/>
                </a:cubicBezTo>
                <a:cubicBezTo>
                  <a:pt x="9357360" y="524511"/>
                  <a:pt x="9884410" y="1284606"/>
                  <a:pt x="10623550" y="1377316"/>
                </a:cubicBezTo>
                <a:cubicBezTo>
                  <a:pt x="11362690" y="1470026"/>
                  <a:pt x="11943080" y="878206"/>
                  <a:pt x="12220575" y="725171"/>
                </a:cubicBezTo>
              </a:path>
            </a:pathLst>
          </a:custGeom>
          <a:noFill/>
          <a:ln w="28575" cmpd="sng">
            <a:solidFill>
              <a:schemeClr val="bg1">
                <a:alpha val="26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7" dirty="0">
              <a:ea typeface="字魂59号-创粗黑" panose="00000500000000000000"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5G来了"/>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第一PPT，www.1ppt.com">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1020</TotalTime>
  <Words>1991</Words>
  <Application>Microsoft Office PowerPoint</Application>
  <PresentationFormat>自定义</PresentationFormat>
  <Paragraphs>133</Paragraphs>
  <Slides>17</Slides>
  <Notes>17</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17</vt:i4>
      </vt:variant>
    </vt:vector>
  </HeadingPairs>
  <TitlesOfParts>
    <vt:vector size="27" baseType="lpstr">
      <vt:lpstr>等线</vt:lpstr>
      <vt:lpstr>微软雅黑</vt:lpstr>
      <vt:lpstr>字魂59号-创粗黑</vt:lpstr>
      <vt:lpstr>Arial</vt:lpstr>
      <vt:lpstr>Calibri</vt:lpstr>
      <vt:lpstr>Calibri Light</vt:lpstr>
      <vt:lpstr>Cambria Math</vt:lpstr>
      <vt:lpstr>Times New Roman</vt:lpstr>
      <vt:lpstr>第一PPT，www.1ppt.com</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5G主题</dc:title>
  <dc:creator>第一PPT</dc:creator>
  <cp:keywords>www.1ppt.com</cp:keywords>
  <dc:description>www.1ppt.com</dc:description>
  <cp:lastModifiedBy>行走的面包树</cp:lastModifiedBy>
  <cp:revision>129</cp:revision>
  <dcterms:created xsi:type="dcterms:W3CDTF">2019-04-30T15:06:07Z</dcterms:created>
  <dcterms:modified xsi:type="dcterms:W3CDTF">2025-12-28T14:30:16Z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2052-11.1.0.8573</vt:lpwstr>
  </property>
</Properties>
</file>