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2" d="100"/>
          <a:sy n="82" d="100"/>
        </p:scale>
        <p:origin x="12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8366A1-490D-4EA6-91EB-25DAF03421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B6C9"/>
          </a:solidFill>
          <a:ln w="12700">
            <a:solidFill>
              <a:srgbClr val="1FB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0FEC1C-F539-4A84-B62F-0392FA8A462C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850" b="1">
                <a:solidFill>
                  <a:srgbClr val="8FC5FF"/>
                </a:solidFill>
                <a:latin typeface="Microsoft YaHei"/>
                <a:ea typeface="Microsoft YaHei"/>
                <a:cs typeface="Microsoft YaHei"/>
              </a:rPr>
              <a:t>TECHNICAL DEFENSE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09EFBEF-41EF-4883-ACCE-53F2AD3820A3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9966960" cy="51206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2100" b="1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Agent Runtime </a:t>
            </a:r>
            <a:r>
              <a:rPr sz="2100" b="1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思想的企业知识库智能客服系统工程化实践</a:t>
            </a:r>
            <a:endParaRPr sz="21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C23FBB7-FBB4-4408-BE01-5DF60C97402D}"/>
              </a:ext>
            </a:extLst>
          </p:cNvPr>
          <p:cNvSpPr>
            <a:spLocks noGrp="1"/>
          </p:cNvSpPr>
          <p:nvPr/>
        </p:nvSpPr>
        <p:spPr>
          <a:xfrm>
            <a:off x="502920" y="1261872"/>
            <a:ext cx="11064240" cy="0"/>
          </a:xfrm>
          <a:prstGeom prst="line">
            <a:avLst/>
          </a:prstGeom>
          <a:noFill/>
          <a:ln w="12700">
            <a:solidFill>
              <a:srgbClr val="2B39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19021A3-7C26-419F-A3E3-E46C0305BF19}"/>
              </a:ext>
            </a:extLst>
          </p:cNvPr>
          <p:cNvSpPr>
            <a:spLocks noGrp="1"/>
          </p:cNvSpPr>
          <p:nvPr/>
        </p:nvSpPr>
        <p:spPr>
          <a:xfrm>
            <a:off x="8686800" y="6510528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738195"/>
                </a:solidFill>
                <a:latin typeface="Microsoft YaHei"/>
                <a:ea typeface="Microsoft YaHei"/>
                <a:cs typeface="Microsoft YaHei"/>
              </a:rPr>
              <a:t>华为AI应用开发技术答辩 · 01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286B37A-FF68-4B1C-9D3A-1E9FCB53B7A2}"/>
              </a:ext>
            </a:extLst>
          </p:cNvPr>
          <p:cNvSpPr>
            <a:spLocks noGrp="1"/>
          </p:cNvSpPr>
          <p:nvPr/>
        </p:nvSpPr>
        <p:spPr>
          <a:xfrm>
            <a:off x="658368" y="1609344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王文慧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5059C14-CCD5-4F3C-A031-C64BEC0B5C09}"/>
              </a:ext>
            </a:extLst>
          </p:cNvPr>
          <p:cNvSpPr>
            <a:spLocks noGrp="1"/>
          </p:cNvSpPr>
          <p:nvPr/>
        </p:nvSpPr>
        <p:spPr>
          <a:xfrm>
            <a:off x="658368" y="2267712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30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华为 AI 应用开发 · 技术面试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A806AB0-870D-44BE-BC52-55179E5012AE}"/>
              </a:ext>
            </a:extLst>
          </p:cNvPr>
          <p:cNvSpPr>
            <a:spLocks noGrp="1"/>
          </p:cNvSpPr>
          <p:nvPr/>
        </p:nvSpPr>
        <p:spPr>
          <a:xfrm>
            <a:off x="658368" y="29077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173B64"/>
          </a:solidFill>
          <a:ln w="12700">
            <a:solidFill>
              <a:srgbClr val="173B6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4C73301-BAB7-46E8-894A-E44DFC69FB52}"/>
              </a:ext>
            </a:extLst>
          </p:cNvPr>
          <p:cNvSpPr>
            <a:spLocks noGrp="1"/>
          </p:cNvSpPr>
          <p:nvPr/>
        </p:nvSpPr>
        <p:spPr>
          <a:xfrm>
            <a:off x="731520" y="2994660"/>
            <a:ext cx="1088136" cy="12801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30" b="1">
                <a:solidFill>
                  <a:srgbClr val="BBD9FF"/>
                </a:solidFill>
                <a:latin typeface="Microsoft YaHei"/>
                <a:ea typeface="Microsoft YaHei"/>
                <a:cs typeface="Microsoft YaHei"/>
              </a:rPr>
              <a:t>Agent Runtime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9069449-986B-404E-B384-A6D3DF7CE51E}"/>
              </a:ext>
            </a:extLst>
          </p:cNvPr>
          <p:cNvSpPr>
            <a:spLocks noGrp="1"/>
          </p:cNvSpPr>
          <p:nvPr/>
        </p:nvSpPr>
        <p:spPr>
          <a:xfrm>
            <a:off x="2258568" y="2907792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173B64"/>
          </a:solidFill>
          <a:ln w="12700">
            <a:solidFill>
              <a:srgbClr val="173B6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5F39350-E13D-4758-9BA8-16FFF9CC177C}"/>
              </a:ext>
            </a:extLst>
          </p:cNvPr>
          <p:cNvSpPr>
            <a:spLocks noGrp="1"/>
          </p:cNvSpPr>
          <p:nvPr/>
        </p:nvSpPr>
        <p:spPr>
          <a:xfrm>
            <a:off x="2331720" y="2994660"/>
            <a:ext cx="1225296" cy="12801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30" b="1">
                <a:solidFill>
                  <a:srgbClr val="BBD9FF"/>
                </a:solidFill>
                <a:latin typeface="Microsoft YaHei"/>
                <a:ea typeface="Microsoft YaHei"/>
                <a:cs typeface="Microsoft YaHei"/>
              </a:rPr>
              <a:t>Nanobot 源码拆解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7D9FB27-60A1-4FDA-B2D3-374F7FF40D08}"/>
              </a:ext>
            </a:extLst>
          </p:cNvPr>
          <p:cNvSpPr>
            <a:spLocks noGrp="1"/>
          </p:cNvSpPr>
          <p:nvPr/>
        </p:nvSpPr>
        <p:spPr>
          <a:xfrm>
            <a:off x="3858768" y="29077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173B64"/>
          </a:solidFill>
          <a:ln w="12700">
            <a:solidFill>
              <a:srgbClr val="173B6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18119AE-5086-4167-9E11-CA0A08A10723}"/>
              </a:ext>
            </a:extLst>
          </p:cNvPr>
          <p:cNvSpPr>
            <a:spLocks noGrp="1"/>
          </p:cNvSpPr>
          <p:nvPr/>
        </p:nvSpPr>
        <p:spPr>
          <a:xfrm>
            <a:off x="3931920" y="2994660"/>
            <a:ext cx="1088136" cy="12801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30" b="1">
                <a:solidFill>
                  <a:srgbClr val="BBD9FF"/>
                </a:solidFill>
                <a:latin typeface="Microsoft YaHei"/>
                <a:ea typeface="Microsoft YaHei"/>
                <a:cs typeface="Microsoft YaHei"/>
              </a:rPr>
              <a:t>MCP / Tool Router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8635065-5B88-424F-9516-AC43ABA728CE}"/>
              </a:ext>
            </a:extLst>
          </p:cNvPr>
          <p:cNvSpPr>
            <a:spLocks noGrp="1"/>
          </p:cNvSpPr>
          <p:nvPr/>
        </p:nvSpPr>
        <p:spPr>
          <a:xfrm>
            <a:off x="5458968" y="29077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173B64"/>
          </a:solidFill>
          <a:ln w="12700">
            <a:solidFill>
              <a:srgbClr val="173B6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16AEFAA-B925-4C4F-9361-2D81CA678C18}"/>
              </a:ext>
            </a:extLst>
          </p:cNvPr>
          <p:cNvSpPr>
            <a:spLocks noGrp="1"/>
          </p:cNvSpPr>
          <p:nvPr/>
        </p:nvSpPr>
        <p:spPr>
          <a:xfrm>
            <a:off x="5532120" y="2994660"/>
            <a:ext cx="1088136" cy="12801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30" b="1">
                <a:solidFill>
                  <a:srgbClr val="BBD9FF"/>
                </a:solidFill>
                <a:latin typeface="Microsoft YaHei"/>
                <a:ea typeface="Microsoft YaHei"/>
                <a:cs typeface="Microsoft YaHei"/>
              </a:rPr>
              <a:t>AI Coding Agent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3E8D50D-56A5-4FAF-A749-9F1A08DDDACB}"/>
              </a:ext>
            </a:extLst>
          </p:cNvPr>
          <p:cNvSpPr>
            <a:spLocks noGrp="1"/>
          </p:cNvSpPr>
          <p:nvPr/>
        </p:nvSpPr>
        <p:spPr>
          <a:xfrm>
            <a:off x="7059168" y="2907792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173B64"/>
          </a:solidFill>
          <a:ln w="12700">
            <a:solidFill>
              <a:srgbClr val="173B6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D6191D4-6C80-4844-94AD-A845A8BED9AA}"/>
              </a:ext>
            </a:extLst>
          </p:cNvPr>
          <p:cNvSpPr>
            <a:spLocks noGrp="1"/>
          </p:cNvSpPr>
          <p:nvPr/>
        </p:nvSpPr>
        <p:spPr>
          <a:xfrm>
            <a:off x="7132320" y="2994660"/>
            <a:ext cx="1088136" cy="12801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30" b="1">
                <a:solidFill>
                  <a:srgbClr val="BBD9FF"/>
                </a:solidFill>
                <a:latin typeface="Microsoft YaHei"/>
                <a:ea typeface="Microsoft YaHei"/>
                <a:cs typeface="Microsoft YaHei"/>
              </a:rPr>
              <a:t>工程化落地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F61E04E-A341-48A9-BFC7-434C2FC7F0DE}"/>
              </a:ext>
            </a:extLst>
          </p:cNvPr>
          <p:cNvSpPr>
            <a:spLocks noGrp="1"/>
          </p:cNvSpPr>
          <p:nvPr/>
        </p:nvSpPr>
        <p:spPr>
          <a:xfrm>
            <a:off x="658368" y="431596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050" b="1">
                <a:solidFill>
                  <a:srgbClr val="8FC5FF"/>
                </a:solidFill>
                <a:latin typeface="Microsoft YaHei"/>
                <a:ea typeface="Microsoft YaHei"/>
                <a:cs typeface="Microsoft YaHei"/>
              </a:rPr>
              <a:t>答辩主线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C55606D-4E12-4018-B8D7-D2A8A775769B}"/>
              </a:ext>
            </a:extLst>
          </p:cNvPr>
          <p:cNvSpPr>
            <a:spLocks noGrp="1"/>
          </p:cNvSpPr>
          <p:nvPr/>
        </p:nvSpPr>
        <p:spPr>
          <a:xfrm>
            <a:off x="658368" y="4663440"/>
            <a:ext cx="7635240" cy="58521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 Agent Runtime </a:t>
            </a:r>
            <a:r>
              <a:rPr sz="1600" b="1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的可控执行闭环为切入，说明开源项目</a:t>
            </a: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Nanobot </a:t>
            </a:r>
            <a:r>
              <a:rPr sz="1600" b="1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的架构拆解、Java</a:t>
            </a: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多 Agent + RAG</a:t>
            </a:r>
            <a:r>
              <a:rPr lang="zh-CN" altLang="en-US" sz="1600" b="1">
                <a:solidFill>
                  <a:srgbClr val="FFFFFF"/>
                </a:solidFill>
                <a:ea typeface="Microsoft YaHei"/>
                <a:cs typeface="Microsoft YaHei"/>
              </a:rPr>
              <a:t>企业知识库智能客服系统</a:t>
            </a:r>
            <a:r>
              <a:rPr sz="1600" b="1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的工程实现的本地实现，以及</a:t>
            </a: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AI </a:t>
            </a:r>
            <a:r>
              <a:rPr sz="1600" b="1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应用工程化落地能力</a:t>
            </a: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F83B686-C3CE-46DB-A3A2-7FD0461FE424}"/>
              </a:ext>
            </a:extLst>
          </p:cNvPr>
          <p:cNvSpPr>
            <a:spLocks noGrp="1"/>
          </p:cNvSpPr>
          <p:nvPr/>
        </p:nvSpPr>
        <p:spPr>
          <a:xfrm rot="1500000">
            <a:off x="8321040" y="1508760"/>
            <a:ext cx="2514600" cy="2514600"/>
          </a:xfrm>
          <a:prstGeom prst="arc">
            <a:avLst/>
          </a:prstGeom>
          <a:noFill/>
          <a:ln w="2540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43A6D96-0717-4F60-8BC7-D01B1B317F4B}"/>
              </a:ext>
            </a:extLst>
          </p:cNvPr>
          <p:cNvSpPr>
            <a:spLocks noGrp="1"/>
          </p:cNvSpPr>
          <p:nvPr/>
        </p:nvSpPr>
        <p:spPr>
          <a:xfrm rot="7200000">
            <a:off x="8869680" y="1975104"/>
            <a:ext cx="2240280" cy="2240280"/>
          </a:xfrm>
          <a:prstGeom prst="arc">
            <a:avLst/>
          </a:prstGeom>
          <a:noFill/>
          <a:ln w="25400">
            <a:solidFill>
              <a:srgbClr val="1FB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7B79CD3-F659-48B1-8783-22161591BC72}"/>
              </a:ext>
            </a:extLst>
          </p:cNvPr>
          <p:cNvSpPr>
            <a:spLocks noGrp="1"/>
          </p:cNvSpPr>
          <p:nvPr/>
        </p:nvSpPr>
        <p:spPr>
          <a:xfrm>
            <a:off x="8613648" y="2359152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  <a:p>
            <a:pPr marL="0" indent="0" algn="ctr">
              <a:buNone/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Runtime</a:t>
            </a:r>
          </a:p>
        </p:txBody>
      </p:sp>
    </p:spTree>
    <p:extLst>
      <p:ext uri="{BB962C8B-B14F-4D97-AF65-F5344CB8AC3E}">
        <p14:creationId xmlns:p14="http://schemas.microsoft.com/office/powerpoint/2010/main" val="66034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CAC0CF-B4E0-4FFB-BEEE-22C5CFCA6F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B6C9"/>
          </a:solidFill>
          <a:ln w="12700">
            <a:solidFill>
              <a:srgbClr val="1FB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C615EB-8B73-4CD5-9797-854E0A8D3C9A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850" b="1">
                <a:solidFill>
                  <a:srgbClr val="8FC5FF"/>
                </a:solidFill>
                <a:latin typeface="Microsoft YaHei"/>
                <a:ea typeface="Microsoft YaHei"/>
                <a:cs typeface="Microsoft YaHei"/>
              </a:rPr>
              <a:t>ENTRY POINT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725B218-0E46-4C55-8069-62B58C6D282F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9966960" cy="51206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Runtime 的核心是可控执行闭环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74FAECE-5525-4953-9BB5-A31A115F2C4D}"/>
              </a:ext>
            </a:extLst>
          </p:cNvPr>
          <p:cNvSpPr>
            <a:spLocks noGrp="1"/>
          </p:cNvSpPr>
          <p:nvPr/>
        </p:nvSpPr>
        <p:spPr>
          <a:xfrm>
            <a:off x="502920" y="1261872"/>
            <a:ext cx="11064240" cy="0"/>
          </a:xfrm>
          <a:prstGeom prst="line">
            <a:avLst/>
          </a:prstGeom>
          <a:noFill/>
          <a:ln w="12700">
            <a:solidFill>
              <a:srgbClr val="2B39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06A2531-43E6-4177-89AA-8CF206E39C54}"/>
              </a:ext>
            </a:extLst>
          </p:cNvPr>
          <p:cNvSpPr>
            <a:spLocks noGrp="1"/>
          </p:cNvSpPr>
          <p:nvPr/>
        </p:nvSpPr>
        <p:spPr>
          <a:xfrm>
            <a:off x="8686800" y="6510528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738195"/>
                </a:solidFill>
                <a:latin typeface="Microsoft YaHei"/>
                <a:ea typeface="Microsoft YaHei"/>
                <a:cs typeface="Microsoft YaHei"/>
              </a:rPr>
              <a:t>华为AI应用开发技术答辩 · 02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5BD8F0E-2756-499B-BE98-C54D2E250D49}"/>
              </a:ext>
            </a:extLst>
          </p:cNvPr>
          <p:cNvSpPr>
            <a:spLocks noGrp="1"/>
          </p:cNvSpPr>
          <p:nvPr/>
        </p:nvSpPr>
        <p:spPr>
          <a:xfrm>
            <a:off x="658368" y="1536192"/>
            <a:ext cx="6903720" cy="4983480"/>
          </a:xfrm>
          <a:prstGeom prst="roundRect">
            <a:avLst>
              <a:gd name="adj" fmla="val 734"/>
            </a:avLst>
          </a:prstGeom>
          <a:solidFill>
            <a:srgbClr val="0B0D10"/>
          </a:solidFill>
          <a:ln w="12700">
            <a:solidFill>
              <a:srgbClr val="303A4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82496"/>
            <a:ext cx="6537960" cy="4617720"/>
          </a:xfrm>
          <a:prstGeom prst="rect">
            <a:avLst/>
          </a:prstGeom>
        </p:spPr>
      </p:pic>
      <p:sp>
        <p:nvSpPr>
          <p:cNvPr id="9" name="Shape 6">
            <a:extLst>
              <a:ext uri="{FF2B5EF4-FFF2-40B4-BE49-F238E27FC236}">
                <a16:creationId xmlns:a16="http://schemas.microsoft.com/office/drawing/2014/main" id="{B6946DCF-6FA3-47A7-87E6-97413C65EA77}"/>
              </a:ext>
            </a:extLst>
          </p:cNvPr>
          <p:cNvSpPr>
            <a:spLocks noGrp="1"/>
          </p:cNvSpPr>
          <p:nvPr/>
        </p:nvSpPr>
        <p:spPr>
          <a:xfrm>
            <a:off x="7882128" y="1719072"/>
            <a:ext cx="3383280" cy="841248"/>
          </a:xfrm>
          <a:prstGeom prst="roundRect">
            <a:avLst>
              <a:gd name="adj" fmla="val 5435"/>
            </a:avLst>
          </a:prstGeom>
          <a:solidFill>
            <a:srgbClr val="111B2A"/>
          </a:solidFill>
          <a:ln w="12700">
            <a:solidFill>
              <a:srgbClr val="293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C8159A1-A722-4C40-9236-18A6EFF4C9ED}"/>
              </a:ext>
            </a:extLst>
          </p:cNvPr>
          <p:cNvSpPr>
            <a:spLocks noGrp="1"/>
          </p:cNvSpPr>
          <p:nvPr/>
        </p:nvSpPr>
        <p:spPr>
          <a:xfrm>
            <a:off x="7882128" y="1719072"/>
            <a:ext cx="73152" cy="841248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11E5F09-EF81-4498-BEA6-79AAEC410F6A}"/>
              </a:ext>
            </a:extLst>
          </p:cNvPr>
          <p:cNvSpPr>
            <a:spLocks noGrp="1"/>
          </p:cNvSpPr>
          <p:nvPr/>
        </p:nvSpPr>
        <p:spPr>
          <a:xfrm>
            <a:off x="8083296" y="1883664"/>
            <a:ext cx="3072384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状态机入口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614DDA5-5E70-4FD8-B587-1AA9C6219D71}"/>
              </a:ext>
            </a:extLst>
          </p:cNvPr>
          <p:cNvSpPr>
            <a:spLocks noGrp="1"/>
          </p:cNvSpPr>
          <p:nvPr/>
        </p:nvSpPr>
        <p:spPr>
          <a:xfrm>
            <a:off x="8083296" y="2231136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loop.py 负责生命周期调度和上下文更新。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8CFDD73-A9BB-4049-B1FC-75E07335A6CF}"/>
              </a:ext>
            </a:extLst>
          </p:cNvPr>
          <p:cNvSpPr>
            <a:spLocks noGrp="1"/>
          </p:cNvSpPr>
          <p:nvPr/>
        </p:nvSpPr>
        <p:spPr>
          <a:xfrm>
            <a:off x="7882128" y="2761488"/>
            <a:ext cx="3383280" cy="841248"/>
          </a:xfrm>
          <a:prstGeom prst="roundRect">
            <a:avLst>
              <a:gd name="adj" fmla="val 5435"/>
            </a:avLst>
          </a:prstGeom>
          <a:solidFill>
            <a:srgbClr val="111B2A"/>
          </a:solidFill>
          <a:ln w="12700">
            <a:solidFill>
              <a:srgbClr val="293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8A4B4AC-4964-4E8B-9BA5-E05B7FF0F1B1}"/>
              </a:ext>
            </a:extLst>
          </p:cNvPr>
          <p:cNvSpPr>
            <a:spLocks noGrp="1"/>
          </p:cNvSpPr>
          <p:nvPr/>
        </p:nvSpPr>
        <p:spPr>
          <a:xfrm>
            <a:off x="7882128" y="2761488"/>
            <a:ext cx="73152" cy="841248"/>
          </a:xfrm>
          <a:prstGeom prst="rect">
            <a:avLst/>
          </a:prstGeom>
          <a:solidFill>
            <a:srgbClr val="1FB6C9"/>
          </a:solidFill>
          <a:ln w="12700">
            <a:solidFill>
              <a:srgbClr val="1FB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0597926-8497-4623-AC50-9A2C68B7F647}"/>
              </a:ext>
            </a:extLst>
          </p:cNvPr>
          <p:cNvSpPr>
            <a:spLocks noGrp="1"/>
          </p:cNvSpPr>
          <p:nvPr/>
        </p:nvSpPr>
        <p:spPr>
          <a:xfrm>
            <a:off x="8083296" y="2926080"/>
            <a:ext cx="3072384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ReAct 执行引擎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B21330A-73B2-4FCC-8879-1FD2F15E92EB}"/>
              </a:ext>
            </a:extLst>
          </p:cNvPr>
          <p:cNvSpPr>
            <a:spLocks noGrp="1"/>
          </p:cNvSpPr>
          <p:nvPr/>
        </p:nvSpPr>
        <p:spPr>
          <a:xfrm>
            <a:off x="8083296" y="3273552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runner.py 负责推理、工具选择、Observation 回填。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987DEC4-6DA3-46E7-A2BD-0C19D215B973}"/>
              </a:ext>
            </a:extLst>
          </p:cNvPr>
          <p:cNvSpPr>
            <a:spLocks noGrp="1"/>
          </p:cNvSpPr>
          <p:nvPr/>
        </p:nvSpPr>
        <p:spPr>
          <a:xfrm>
            <a:off x="7882128" y="3803904"/>
            <a:ext cx="3383280" cy="841248"/>
          </a:xfrm>
          <a:prstGeom prst="roundRect">
            <a:avLst>
              <a:gd name="adj" fmla="val 5435"/>
            </a:avLst>
          </a:prstGeom>
          <a:solidFill>
            <a:srgbClr val="111B2A"/>
          </a:solidFill>
          <a:ln w="12700">
            <a:solidFill>
              <a:srgbClr val="293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C71E2EFB-42A5-455A-BB34-272CF84C502E}"/>
              </a:ext>
            </a:extLst>
          </p:cNvPr>
          <p:cNvSpPr>
            <a:spLocks noGrp="1"/>
          </p:cNvSpPr>
          <p:nvPr/>
        </p:nvSpPr>
        <p:spPr>
          <a:xfrm>
            <a:off x="7882128" y="3803904"/>
            <a:ext cx="73152" cy="841248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15DAF58-09DD-4525-B258-1ACF0FD8B9FB}"/>
              </a:ext>
            </a:extLst>
          </p:cNvPr>
          <p:cNvSpPr>
            <a:spLocks noGrp="1"/>
          </p:cNvSpPr>
          <p:nvPr/>
        </p:nvSpPr>
        <p:spPr>
          <a:xfrm>
            <a:off x="8083296" y="3968496"/>
            <a:ext cx="3072384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能力路由网关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6B864F1-3E97-4AB6-9610-0217DD0E940E}"/>
              </a:ext>
            </a:extLst>
          </p:cNvPr>
          <p:cNvSpPr>
            <a:spLocks noGrp="1"/>
          </p:cNvSpPr>
          <p:nvPr/>
        </p:nvSpPr>
        <p:spPr>
          <a:xfrm>
            <a:off x="8083296" y="4315968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Registry 将本地 Tool、内置 Skill、远程 MCP 统一暴露。</a:t>
            </a: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AF87E4A-9207-4B47-9B27-311D38759902}"/>
              </a:ext>
            </a:extLst>
          </p:cNvPr>
          <p:cNvSpPr>
            <a:spLocks noGrp="1"/>
          </p:cNvSpPr>
          <p:nvPr/>
        </p:nvSpPr>
        <p:spPr>
          <a:xfrm>
            <a:off x="7882128" y="4846320"/>
            <a:ext cx="3383280" cy="841248"/>
          </a:xfrm>
          <a:prstGeom prst="roundRect">
            <a:avLst>
              <a:gd name="adj" fmla="val 5435"/>
            </a:avLst>
          </a:prstGeom>
          <a:solidFill>
            <a:srgbClr val="111B2A"/>
          </a:solidFill>
          <a:ln w="12700">
            <a:solidFill>
              <a:srgbClr val="293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B61CF7E9-F813-4308-9A8B-D4A59C9DEEF8}"/>
              </a:ext>
            </a:extLst>
          </p:cNvPr>
          <p:cNvSpPr>
            <a:spLocks noGrp="1"/>
          </p:cNvSpPr>
          <p:nvPr/>
        </p:nvSpPr>
        <p:spPr>
          <a:xfrm>
            <a:off x="7882128" y="4846320"/>
            <a:ext cx="73152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0617219-E0D6-4852-81CE-5726C21F1635}"/>
              </a:ext>
            </a:extLst>
          </p:cNvPr>
          <p:cNvSpPr>
            <a:spLocks noGrp="1"/>
          </p:cNvSpPr>
          <p:nvPr/>
        </p:nvSpPr>
        <p:spPr>
          <a:xfrm>
            <a:off x="8083296" y="5010912"/>
            <a:ext cx="3072384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结果回填闭环</a:t>
            </a: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2B7CA93-313E-4828-98FC-4050EA7019B7}"/>
              </a:ext>
            </a:extLst>
          </p:cNvPr>
          <p:cNvSpPr>
            <a:spLocks noGrp="1"/>
          </p:cNvSpPr>
          <p:nvPr/>
        </p:nvSpPr>
        <p:spPr>
          <a:xfrm>
            <a:off x="8083296" y="5358384"/>
            <a:ext cx="3072384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工具结果进入上下文，驱动下一轮决策或最终输出。</a:t>
            </a:r>
          </a:p>
        </p:txBody>
      </p:sp>
      <p:pic>
        <p:nvPicPr>
          <p:cNvPr id="25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536192"/>
            <a:ext cx="2491231" cy="193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022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E53595-FA01-4ECE-80BB-AF81AFB4DD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7B8B84-C42D-470A-8700-39865D343620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8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STRUCTURE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7D4972-1241-417C-A487-8C63C26E8BB8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9966960" cy="51206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21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答辩结构：架构观察 -&gt; 源码拆解 -&gt; 自研验证 -&gt; 工程落地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9F652E-ACBB-4FA5-B6B9-C4721F5D0049}"/>
              </a:ext>
            </a:extLst>
          </p:cNvPr>
          <p:cNvSpPr>
            <a:spLocks noGrp="1"/>
          </p:cNvSpPr>
          <p:nvPr/>
        </p:nvSpPr>
        <p:spPr>
          <a:xfrm>
            <a:off x="502920" y="1261872"/>
            <a:ext cx="1106424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2E14D58-1893-46B9-8F3F-CF1B650A6763}"/>
              </a:ext>
            </a:extLst>
          </p:cNvPr>
          <p:cNvSpPr>
            <a:spLocks noGrp="1"/>
          </p:cNvSpPr>
          <p:nvPr/>
        </p:nvSpPr>
        <p:spPr>
          <a:xfrm>
            <a:off x="8686800" y="6510528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7A8797"/>
                </a:solidFill>
                <a:latin typeface="Microsoft YaHei"/>
                <a:ea typeface="Microsoft YaHei"/>
                <a:cs typeface="Microsoft YaHei"/>
              </a:rPr>
              <a:t>华为AI应用开发技术答辩 · 03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F9894BF-0C92-4C81-8EB9-94EF95B0F575}"/>
              </a:ext>
            </a:extLst>
          </p:cNvPr>
          <p:cNvSpPr>
            <a:spLocks noGrp="1"/>
          </p:cNvSpPr>
          <p:nvPr/>
        </p:nvSpPr>
        <p:spPr>
          <a:xfrm>
            <a:off x="502920" y="4073653"/>
            <a:ext cx="22860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F262FB1-9F91-4F27-BFE3-A22464AF7BE1}"/>
              </a:ext>
            </a:extLst>
          </p:cNvPr>
          <p:cNvSpPr>
            <a:spLocks noGrp="1"/>
          </p:cNvSpPr>
          <p:nvPr/>
        </p:nvSpPr>
        <p:spPr>
          <a:xfrm>
            <a:off x="502920" y="4073653"/>
            <a:ext cx="73152" cy="22860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2539B5B-F698-4358-9731-878F3F8FCE8C}"/>
              </a:ext>
            </a:extLst>
          </p:cNvPr>
          <p:cNvSpPr>
            <a:spLocks noGrp="1"/>
          </p:cNvSpPr>
          <p:nvPr/>
        </p:nvSpPr>
        <p:spPr>
          <a:xfrm>
            <a:off x="704088" y="4238245"/>
            <a:ext cx="1975104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架构观察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0B86B75-FFF2-446D-B739-36420BD89818}"/>
              </a:ext>
            </a:extLst>
          </p:cNvPr>
          <p:cNvSpPr>
            <a:spLocks noGrp="1"/>
          </p:cNvSpPr>
          <p:nvPr/>
        </p:nvSpPr>
        <p:spPr>
          <a:xfrm>
            <a:off x="704088" y="4585717"/>
            <a:ext cx="1975104" cy="16642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200">
                <a:solidFill>
                  <a:srgbClr val="52647A"/>
                </a:solidFill>
                <a:latin typeface="Microsoft YaHei"/>
                <a:ea typeface="Microsoft YaHei"/>
                <a:cs typeface="Microsoft YaHei"/>
              </a:rPr>
              <a:t>从 Agent Runtime 闭环识别状态机、执行引擎、能力路由、上下文回填。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85D89AF-91F8-4D0F-893B-C8F3490B41DB}"/>
              </a:ext>
            </a:extLst>
          </p:cNvPr>
          <p:cNvSpPr>
            <a:spLocks noGrp="1"/>
          </p:cNvSpPr>
          <p:nvPr/>
        </p:nvSpPr>
        <p:spPr>
          <a:xfrm>
            <a:off x="2103120" y="5929885"/>
            <a:ext cx="438912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15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E2364BE-448F-49BE-A022-03A2CDE32EB9}"/>
              </a:ext>
            </a:extLst>
          </p:cNvPr>
          <p:cNvSpPr>
            <a:spLocks noGrp="1"/>
          </p:cNvSpPr>
          <p:nvPr/>
        </p:nvSpPr>
        <p:spPr>
          <a:xfrm>
            <a:off x="2862072" y="5216653"/>
            <a:ext cx="274320" cy="0"/>
          </a:xfrm>
          <a:prstGeom prst="line">
            <a:avLst/>
          </a:prstGeom>
          <a:noFill/>
          <a:ln w="15875">
            <a:solidFill>
              <a:srgbClr val="7A87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4B5FB72-3B9C-44E3-88D3-FB287747A422}"/>
              </a:ext>
            </a:extLst>
          </p:cNvPr>
          <p:cNvSpPr>
            <a:spLocks noGrp="1"/>
          </p:cNvSpPr>
          <p:nvPr/>
        </p:nvSpPr>
        <p:spPr>
          <a:xfrm>
            <a:off x="3291840" y="4073653"/>
            <a:ext cx="22860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0308E42-0DDD-4FBE-ACA1-F13BE898D9BF}"/>
              </a:ext>
            </a:extLst>
          </p:cNvPr>
          <p:cNvSpPr>
            <a:spLocks noGrp="1"/>
          </p:cNvSpPr>
          <p:nvPr/>
        </p:nvSpPr>
        <p:spPr>
          <a:xfrm>
            <a:off x="3291840" y="4073653"/>
            <a:ext cx="73152" cy="2286000"/>
          </a:xfrm>
          <a:prstGeom prst="rect">
            <a:avLst/>
          </a:prstGeom>
          <a:solidFill>
            <a:srgbClr val="1FB6C9"/>
          </a:solidFill>
          <a:ln w="12700">
            <a:solidFill>
              <a:srgbClr val="1FB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804A0A6-7FE3-4DDD-A752-904C360BC32B}"/>
              </a:ext>
            </a:extLst>
          </p:cNvPr>
          <p:cNvSpPr>
            <a:spLocks noGrp="1"/>
          </p:cNvSpPr>
          <p:nvPr/>
        </p:nvSpPr>
        <p:spPr>
          <a:xfrm>
            <a:off x="3493008" y="4238245"/>
            <a:ext cx="1975104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源码拆解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EE8373E-0AD5-43AF-93D0-0FAB8F0B1F48}"/>
              </a:ext>
            </a:extLst>
          </p:cNvPr>
          <p:cNvSpPr>
            <a:spLocks noGrp="1"/>
          </p:cNvSpPr>
          <p:nvPr/>
        </p:nvSpPr>
        <p:spPr>
          <a:xfrm>
            <a:off x="3493008" y="4585717"/>
            <a:ext cx="1975104" cy="16642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200">
                <a:solidFill>
                  <a:srgbClr val="52647A"/>
                </a:solidFill>
                <a:latin typeface="Microsoft YaHei"/>
                <a:ea typeface="Microsoft YaHei"/>
                <a:cs typeface="Microsoft YaHei"/>
              </a:rPr>
              <a:t>以 HKUDS/nanobot 为对象，分析轻量级 Agent Runtime 的模块边界。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07246C4-A62B-4538-9093-B522322EA0FB}"/>
              </a:ext>
            </a:extLst>
          </p:cNvPr>
          <p:cNvSpPr>
            <a:spLocks noGrp="1"/>
          </p:cNvSpPr>
          <p:nvPr/>
        </p:nvSpPr>
        <p:spPr>
          <a:xfrm>
            <a:off x="4892040" y="5929885"/>
            <a:ext cx="438912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1500" b="1">
                <a:solidFill>
                  <a:srgbClr val="1FB6C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A1B751D-9DEC-4347-813A-9753878CC8CD}"/>
              </a:ext>
            </a:extLst>
          </p:cNvPr>
          <p:cNvSpPr>
            <a:spLocks noGrp="1"/>
          </p:cNvSpPr>
          <p:nvPr/>
        </p:nvSpPr>
        <p:spPr>
          <a:xfrm>
            <a:off x="5650992" y="5216653"/>
            <a:ext cx="274320" cy="0"/>
          </a:xfrm>
          <a:prstGeom prst="line">
            <a:avLst/>
          </a:prstGeom>
          <a:noFill/>
          <a:ln w="15875">
            <a:solidFill>
              <a:srgbClr val="7A87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2751783-DFA8-4CD5-A16A-BC6504F0CB78}"/>
              </a:ext>
            </a:extLst>
          </p:cNvPr>
          <p:cNvSpPr>
            <a:spLocks noGrp="1"/>
          </p:cNvSpPr>
          <p:nvPr/>
        </p:nvSpPr>
        <p:spPr>
          <a:xfrm>
            <a:off x="6080760" y="4073653"/>
            <a:ext cx="22860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6C7732E-CB44-4E46-956F-33B25D80BE80}"/>
              </a:ext>
            </a:extLst>
          </p:cNvPr>
          <p:cNvSpPr>
            <a:spLocks noGrp="1"/>
          </p:cNvSpPr>
          <p:nvPr/>
        </p:nvSpPr>
        <p:spPr>
          <a:xfrm>
            <a:off x="6080760" y="4073653"/>
            <a:ext cx="73152" cy="2286000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3A38DD0-63D0-4172-97E0-B67BED4E77C1}"/>
              </a:ext>
            </a:extLst>
          </p:cNvPr>
          <p:cNvSpPr>
            <a:spLocks noGrp="1"/>
          </p:cNvSpPr>
          <p:nvPr/>
        </p:nvSpPr>
        <p:spPr>
          <a:xfrm>
            <a:off x="6281928" y="4238245"/>
            <a:ext cx="1975104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自研验证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D279E62-5519-442A-88C2-2D6B9F44EDBF}"/>
              </a:ext>
            </a:extLst>
          </p:cNvPr>
          <p:cNvSpPr>
            <a:spLocks noGrp="1"/>
          </p:cNvSpPr>
          <p:nvPr/>
        </p:nvSpPr>
        <p:spPr>
          <a:xfrm>
            <a:off x="6281928" y="4585717"/>
            <a:ext cx="1975104" cy="16642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200">
                <a:solidFill>
                  <a:srgbClr val="52647A"/>
                </a:solidFill>
                <a:latin typeface="Microsoft YaHei"/>
                <a:ea typeface="Microsoft YaHei"/>
                <a:cs typeface="Microsoft YaHei"/>
              </a:rPr>
              <a:t>以 Java Agent 原型验证状态机、上下文、工具路由和执行闭环。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361517A-62D1-4E6B-B282-963A022B7190}"/>
              </a:ext>
            </a:extLst>
          </p:cNvPr>
          <p:cNvSpPr>
            <a:spLocks noGrp="1"/>
          </p:cNvSpPr>
          <p:nvPr/>
        </p:nvSpPr>
        <p:spPr>
          <a:xfrm>
            <a:off x="7680960" y="5929885"/>
            <a:ext cx="438912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1500" b="1">
                <a:solidFill>
                  <a:srgbClr val="18A05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9B95F94-71F5-4C12-BD6E-8015E0086942}"/>
              </a:ext>
            </a:extLst>
          </p:cNvPr>
          <p:cNvSpPr>
            <a:spLocks noGrp="1"/>
          </p:cNvSpPr>
          <p:nvPr/>
        </p:nvSpPr>
        <p:spPr>
          <a:xfrm>
            <a:off x="8439912" y="5216653"/>
            <a:ext cx="274320" cy="0"/>
          </a:xfrm>
          <a:prstGeom prst="line">
            <a:avLst/>
          </a:prstGeom>
          <a:noFill/>
          <a:ln w="15875">
            <a:solidFill>
              <a:srgbClr val="7A879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6EAF6CA-A829-41CF-90A8-852405CBBFF7}"/>
              </a:ext>
            </a:extLst>
          </p:cNvPr>
          <p:cNvSpPr>
            <a:spLocks noGrp="1"/>
          </p:cNvSpPr>
          <p:nvPr/>
        </p:nvSpPr>
        <p:spPr>
          <a:xfrm>
            <a:off x="8869680" y="4073653"/>
            <a:ext cx="22860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47D608A-B762-4BF7-99FF-FA26B94B07F4}"/>
              </a:ext>
            </a:extLst>
          </p:cNvPr>
          <p:cNvSpPr>
            <a:spLocks noGrp="1"/>
          </p:cNvSpPr>
          <p:nvPr/>
        </p:nvSpPr>
        <p:spPr>
          <a:xfrm>
            <a:off x="8869680" y="4073653"/>
            <a:ext cx="73152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A41D1C6-246D-4485-B53E-9F9233FD3A74}"/>
              </a:ext>
            </a:extLst>
          </p:cNvPr>
          <p:cNvSpPr>
            <a:spLocks noGrp="1"/>
          </p:cNvSpPr>
          <p:nvPr/>
        </p:nvSpPr>
        <p:spPr>
          <a:xfrm>
            <a:off x="9070848" y="4238245"/>
            <a:ext cx="1975104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工程落地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A450A88-D433-4D11-9FC7-F563ED85347D}"/>
              </a:ext>
            </a:extLst>
          </p:cNvPr>
          <p:cNvSpPr>
            <a:spLocks noGrp="1"/>
          </p:cNvSpPr>
          <p:nvPr/>
        </p:nvSpPr>
        <p:spPr>
          <a:xfrm>
            <a:off x="9070848" y="4585717"/>
            <a:ext cx="1975104" cy="16642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200">
                <a:solidFill>
                  <a:srgbClr val="52647A"/>
                </a:solidFill>
                <a:latin typeface="Microsoft YaHei"/>
                <a:ea typeface="Microsoft YaHei"/>
                <a:cs typeface="Microsoft YaHei"/>
              </a:rPr>
              <a:t>回到 AI 应用开发：模型服务、工具权限、失败恢复、验证和交付。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7B9BDB3-3DB8-41A6-AA2B-E2929DD175B7}"/>
              </a:ext>
            </a:extLst>
          </p:cNvPr>
          <p:cNvSpPr>
            <a:spLocks noGrp="1"/>
          </p:cNvSpPr>
          <p:nvPr/>
        </p:nvSpPr>
        <p:spPr>
          <a:xfrm>
            <a:off x="10469880" y="5929885"/>
            <a:ext cx="438912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30" name="图片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489741"/>
            <a:ext cx="2870998" cy="1313774"/>
          </a:xfrm>
          <a:prstGeom prst="rect">
            <a:avLst/>
          </a:prstGeom>
        </p:spPr>
      </p:pic>
      <p:pic>
        <p:nvPicPr>
          <p:cNvPr id="31" name="图片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384242"/>
            <a:ext cx="2946586" cy="1460060"/>
          </a:xfrm>
          <a:prstGeom prst="rect">
            <a:avLst/>
          </a:prstGeom>
        </p:spPr>
      </p:pic>
      <p:pic>
        <p:nvPicPr>
          <p:cNvPr id="32" name="图片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889" y="1384242"/>
            <a:ext cx="2444444" cy="1840571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46637A51-882E-6E35-431A-0EAA60B343E4}"/>
              </a:ext>
            </a:extLst>
          </p:cNvPr>
          <p:cNvSpPr>
            <a:spLocks noGrp="1"/>
          </p:cNvSpPr>
          <p:nvPr/>
        </p:nvSpPr>
        <p:spPr>
          <a:xfrm>
            <a:off x="240030" y="3046399"/>
            <a:ext cx="61036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入口与引导程序 (Entrypoints)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38F23F5-EC36-D39D-7196-D20B0CFF1CFB}"/>
              </a:ext>
            </a:extLst>
          </p:cNvPr>
          <p:cNvSpPr>
            <a:spLocks noGrp="1"/>
          </p:cNvSpPr>
          <p:nvPr/>
        </p:nvSpPr>
        <p:spPr>
          <a:xfrm>
            <a:off x="240030" y="3429000"/>
            <a:ext cx="61036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0556F"/>
                </a:solidFill>
                <a:latin typeface="Microsoft YaHei"/>
                <a:ea typeface="Microsoft YaHei"/>
                <a:cs typeface="Microsoft YaHei"/>
              </a:rPr>
              <a:t>cli/ &amp; cli_apps/：命令行解析逻辑（如基于 Click 或 Typer），提供 nanobot start 等命令。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B73DBE3-574C-525D-095C-DE69924FD21B}"/>
              </a:ext>
            </a:extLst>
          </p:cNvPr>
          <p:cNvSpPr>
            <a:spLocks noGrp="1"/>
          </p:cNvSpPr>
          <p:nvPr/>
        </p:nvSpPr>
        <p:spPr>
          <a:xfrm>
            <a:off x="240030" y="3661145"/>
            <a:ext cx="99631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0556F"/>
                </a:solidFill>
                <a:latin typeface="Microsoft YaHei"/>
                <a:ea typeface="Microsoft YaHei"/>
                <a:cs typeface="Microsoft YaHei"/>
              </a:rPr>
              <a:t>nanobot.py &amp; __main__.py &amp; __init__.py：标准的 Python 包暴露点，使整个项目可以直接通过 python -m nanobot 启动，或作为 SDK 被第三方 Python 脚本 import 引用。</a:t>
            </a:r>
          </a:p>
        </p:txBody>
      </p:sp>
      <p:pic>
        <p:nvPicPr>
          <p:cNvPr id="55" name="图片 5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67" y="1467743"/>
            <a:ext cx="2771083" cy="121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04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7FB45550-B8C3-4204-BE3A-8A519D4C58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647DDA-AE04-415D-840B-52EFF34B6B11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ARCHITECTURE MAPPING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602351-4767-4E93-8BFC-54189094AB3D}"/>
              </a:ext>
            </a:extLst>
          </p:cNvPr>
          <p:cNvSpPr>
            <a:spLocks noGrp="1"/>
          </p:cNvSpPr>
          <p:nvPr/>
        </p:nvSpPr>
        <p:spPr>
          <a:xfrm>
            <a:off x="361950" y="628650"/>
            <a:ext cx="1047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2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从 Nanobot Runtime </a:t>
            </a:r>
            <a:r>
              <a:rPr sz="2250" b="1" err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思想到</a:t>
            </a:r>
            <a:r>
              <a:rPr lang="zh-CN" altLang="en-US" sz="2250" b="1">
                <a:solidFill>
                  <a:srgbClr val="162236"/>
                </a:solidFill>
                <a:latin typeface="Microsoft YaHei"/>
                <a:ea typeface="Microsoft YaHei"/>
              </a:rPr>
              <a:t>企业知识库智能客服系统</a:t>
            </a:r>
            <a:endParaRPr sz="2250" b="1">
              <a:solidFill>
                <a:srgbClr val="162236"/>
              </a:solidFill>
              <a:latin typeface="Microsoft YaHei"/>
              <a:ea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C393C0-ABB2-4E2D-ABF6-E3FADFEC0A49}"/>
              </a:ext>
            </a:extLst>
          </p:cNvPr>
          <p:cNvSpPr>
            <a:spLocks noGrp="1"/>
          </p:cNvSpPr>
          <p:nvPr/>
        </p:nvSpPr>
        <p:spPr>
          <a:xfrm>
            <a:off x="361950" y="1200150"/>
            <a:ext cx="11468100" cy="11430"/>
          </a:xfrm>
          <a:prstGeom prst="rect">
            <a:avLst/>
          </a:prstGeom>
          <a:solidFill>
            <a:srgbClr val="D7E1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33FFA7-34AE-4C92-BAF0-81462CC31AEC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239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7AF03B-735D-417E-B67E-43CF14748FD3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66675" cy="552450"/>
          </a:xfrm>
          <a:prstGeom prst="rect">
            <a:avLst/>
          </a:prstGeom>
          <a:solidFill>
            <a:srgbClr val="1769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E250DC-1C5B-4859-92B7-ABC7C0BF4C69}"/>
              </a:ext>
            </a:extLst>
          </p:cNvPr>
          <p:cNvSpPr>
            <a:spLocks noGrp="1"/>
          </p:cNvSpPr>
          <p:nvPr/>
        </p:nvSpPr>
        <p:spPr>
          <a:xfrm>
            <a:off x="781050" y="16383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err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状态机调度</a:t>
            </a:r>
            <a:endParaRPr sz="1400" b="1">
              <a:solidFill>
                <a:srgbClr val="1769E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FA8638-4B17-4C84-AE5C-5334C07A4EF6}"/>
              </a:ext>
            </a:extLst>
          </p:cNvPr>
          <p:cNvSpPr>
            <a:spLocks noGrp="1"/>
          </p:cNvSpPr>
          <p:nvPr/>
        </p:nvSpPr>
        <p:spPr>
          <a:xfrm>
            <a:off x="2381250" y="1628775"/>
            <a:ext cx="2714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loop / AgentLoop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A41824-3E16-40CA-A66D-A0D53879EF35}"/>
              </a:ext>
            </a:extLst>
          </p:cNvPr>
          <p:cNvSpPr>
            <a:spLocks noGrp="1"/>
          </p:cNvSpPr>
          <p:nvPr/>
        </p:nvSpPr>
        <p:spPr>
          <a:xfrm>
            <a:off x="6191250" y="1552575"/>
            <a:ext cx="514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CustomerServiceAgentStateMachine</a:t>
            </a:r>
            <a:endParaRPr sz="1050" b="0">
              <a:solidFill>
                <a:srgbClr val="36506D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88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用 </a:t>
            </a: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AgentState</a:t>
            </a:r>
            <a:r>
              <a:rPr sz="10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r>
              <a:rPr sz="10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 RECEIVED 到 COMPLETED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E5A0E7-3021-47C9-8651-47AF08984E21}"/>
              </a:ext>
            </a:extLst>
          </p:cNvPr>
          <p:cNvSpPr>
            <a:spLocks noGrp="1"/>
          </p:cNvSpPr>
          <p:nvPr/>
        </p:nvSpPr>
        <p:spPr>
          <a:xfrm>
            <a:off x="552450" y="2209800"/>
            <a:ext cx="11239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AAFBA8-4895-45DE-A318-0BDA82BB95C3}"/>
              </a:ext>
            </a:extLst>
          </p:cNvPr>
          <p:cNvSpPr>
            <a:spLocks noGrp="1"/>
          </p:cNvSpPr>
          <p:nvPr/>
        </p:nvSpPr>
        <p:spPr>
          <a:xfrm>
            <a:off x="552450" y="2209800"/>
            <a:ext cx="66675" cy="552450"/>
          </a:xfrm>
          <a:prstGeom prst="rect">
            <a:avLst/>
          </a:prstGeom>
          <a:solidFill>
            <a:srgbClr val="25B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3EDA1F-3BB1-4F21-BEBB-3FEDA5EA008D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B8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err="1">
                <a:solidFill>
                  <a:srgbClr val="25B8C7"/>
                </a:solidFill>
                <a:latin typeface="Microsoft YaHei"/>
                <a:ea typeface="Microsoft YaHei"/>
                <a:cs typeface="Microsoft YaHei"/>
              </a:rPr>
              <a:t>执行引擎</a:t>
            </a:r>
            <a:endParaRPr sz="1400" b="1">
              <a:solidFill>
                <a:srgbClr val="25B8C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4806DD7-2CF8-4393-A1C0-699551F2E703}"/>
              </a:ext>
            </a:extLst>
          </p:cNvPr>
          <p:cNvSpPr>
            <a:spLocks noGrp="1"/>
          </p:cNvSpPr>
          <p:nvPr/>
        </p:nvSpPr>
        <p:spPr>
          <a:xfrm>
            <a:off x="2381250" y="2371725"/>
            <a:ext cx="2714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Runner / </a:t>
            </a:r>
            <a:r>
              <a:rPr sz="1200" b="0" err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ReAct</a:t>
            </a:r>
            <a:endParaRPr sz="1200" b="0">
              <a:solidFill>
                <a:srgbClr val="16223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301026-72CA-4D5C-B819-A269B344A0A5}"/>
              </a:ext>
            </a:extLst>
          </p:cNvPr>
          <p:cNvSpPr>
            <a:spLocks noGrp="1"/>
          </p:cNvSpPr>
          <p:nvPr/>
        </p:nvSpPr>
        <p:spPr>
          <a:xfrm>
            <a:off x="6191250" y="2295525"/>
            <a:ext cx="514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KnowledgeCustomerService.chat</a:t>
            </a:r>
            <a:r>
              <a:rPr sz="10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()</a:t>
            </a:r>
          </a:p>
          <a:p>
            <a:pPr algn="l">
              <a:defRPr sz="788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串起</a:t>
            </a:r>
            <a:r>
              <a:rPr sz="10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Memory、Agent、RAG、Prompt、Audit</a:t>
            </a:r>
            <a:endParaRPr sz="1050" b="0">
              <a:solidFill>
                <a:srgbClr val="36506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B71BFD-0570-4DE1-BA8A-2D624ABB1BD7}"/>
              </a:ext>
            </a:extLst>
          </p:cNvPr>
          <p:cNvSpPr>
            <a:spLocks noGrp="1"/>
          </p:cNvSpPr>
          <p:nvPr/>
        </p:nvSpPr>
        <p:spPr>
          <a:xfrm>
            <a:off x="552450" y="2952750"/>
            <a:ext cx="11239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18B5D8C-8FD7-4688-B270-24747E578E84}"/>
              </a:ext>
            </a:extLst>
          </p:cNvPr>
          <p:cNvSpPr>
            <a:spLocks noGrp="1"/>
          </p:cNvSpPr>
          <p:nvPr/>
        </p:nvSpPr>
        <p:spPr>
          <a:xfrm>
            <a:off x="552450" y="2952750"/>
            <a:ext cx="66675" cy="552450"/>
          </a:xfrm>
          <a:prstGeom prst="rect">
            <a:avLst/>
          </a:prstGeom>
          <a:solidFill>
            <a:srgbClr val="18A7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A86AD28-7BE9-49A4-A31A-EA0638C3A7DF}"/>
              </a:ext>
            </a:extLst>
          </p:cNvPr>
          <p:cNvSpPr>
            <a:spLocks noGrp="1"/>
          </p:cNvSpPr>
          <p:nvPr/>
        </p:nvSpPr>
        <p:spPr>
          <a:xfrm>
            <a:off x="781050" y="31242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A7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err="1">
                <a:solidFill>
                  <a:srgbClr val="18A766"/>
                </a:solidFill>
                <a:latin typeface="Microsoft YaHei"/>
                <a:ea typeface="Microsoft YaHei"/>
                <a:cs typeface="Microsoft YaHei"/>
              </a:rPr>
              <a:t>能力网关</a:t>
            </a:r>
            <a:endParaRPr sz="1400" b="1">
              <a:solidFill>
                <a:srgbClr val="18A7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4F15DF-E421-4BB4-A9FF-B0149377A7E5}"/>
              </a:ext>
            </a:extLst>
          </p:cNvPr>
          <p:cNvSpPr>
            <a:spLocks noGrp="1"/>
          </p:cNvSpPr>
          <p:nvPr/>
        </p:nvSpPr>
        <p:spPr>
          <a:xfrm>
            <a:off x="2381250" y="3114675"/>
            <a:ext cx="2714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Tool / Skill / MCP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2F6BF31-5129-47A0-BD1C-1BCF27084C60}"/>
              </a:ext>
            </a:extLst>
          </p:cNvPr>
          <p:cNvSpPr>
            <a:spLocks noGrp="1"/>
          </p:cNvSpPr>
          <p:nvPr/>
        </p:nvSpPr>
        <p:spPr>
          <a:xfrm>
            <a:off x="6191250" y="3038475"/>
            <a:ext cx="514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ToolRouter</a:t>
            </a:r>
            <a:r>
              <a:rPr sz="10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VectorStore</a:t>
            </a:r>
            <a:r>
              <a:rPr sz="10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PromptAnswerGenerator</a:t>
            </a:r>
            <a:endParaRPr sz="1050" b="0">
              <a:solidFill>
                <a:srgbClr val="36506D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88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Tool </a:t>
            </a: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已实现；Skill</a:t>
            </a:r>
            <a:r>
              <a:rPr sz="10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落为</a:t>
            </a:r>
            <a:r>
              <a:rPr sz="10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 Prompt </a:t>
            </a: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策略；MCP</a:t>
            </a:r>
            <a:r>
              <a:rPr sz="10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 以 Adapter </a:t>
            </a: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预留</a:t>
            </a:r>
            <a:endParaRPr sz="1050" b="0">
              <a:solidFill>
                <a:srgbClr val="36506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FDC3777-82F4-452E-A396-01DCB9342BC4}"/>
              </a:ext>
            </a:extLst>
          </p:cNvPr>
          <p:cNvSpPr>
            <a:spLocks noGrp="1"/>
          </p:cNvSpPr>
          <p:nvPr/>
        </p:nvSpPr>
        <p:spPr>
          <a:xfrm>
            <a:off x="552450" y="3695700"/>
            <a:ext cx="11239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6247E9-A985-4832-9DDA-77FA650DDEDC}"/>
              </a:ext>
            </a:extLst>
          </p:cNvPr>
          <p:cNvSpPr>
            <a:spLocks noGrp="1"/>
          </p:cNvSpPr>
          <p:nvPr/>
        </p:nvSpPr>
        <p:spPr>
          <a:xfrm>
            <a:off x="552450" y="3695700"/>
            <a:ext cx="66675" cy="552450"/>
          </a:xfrm>
          <a:prstGeom prst="rect">
            <a:avLst/>
          </a:prstGeom>
          <a:solidFill>
            <a:srgbClr val="F59A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36B0FF7-C5DB-41E5-8C90-01156B0F374C}"/>
              </a:ext>
            </a:extLst>
          </p:cNvPr>
          <p:cNvSpPr>
            <a:spLocks noGrp="1"/>
          </p:cNvSpPr>
          <p:nvPr/>
        </p:nvSpPr>
        <p:spPr>
          <a:xfrm>
            <a:off x="781050" y="38671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59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err="1">
                <a:solidFill>
                  <a:srgbClr val="F59A00"/>
                </a:solidFill>
                <a:latin typeface="Microsoft YaHei"/>
                <a:ea typeface="Microsoft YaHei"/>
                <a:cs typeface="Microsoft YaHei"/>
              </a:rPr>
              <a:t>上下文记忆</a:t>
            </a:r>
            <a:endParaRPr sz="1400" b="1">
              <a:solidFill>
                <a:srgbClr val="F59A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551106F-1818-406E-9402-245427E0DC78}"/>
              </a:ext>
            </a:extLst>
          </p:cNvPr>
          <p:cNvSpPr>
            <a:spLocks noGrp="1"/>
          </p:cNvSpPr>
          <p:nvPr/>
        </p:nvSpPr>
        <p:spPr>
          <a:xfrm>
            <a:off x="2381250" y="3857625"/>
            <a:ext cx="2714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Memory / Compression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25E0C22-6F37-4A76-8E5E-47968522B428}"/>
              </a:ext>
            </a:extLst>
          </p:cNvPr>
          <p:cNvSpPr>
            <a:spLocks noGrp="1"/>
          </p:cNvSpPr>
          <p:nvPr/>
        </p:nvSpPr>
        <p:spPr>
          <a:xfrm>
            <a:off x="6191250" y="3781425"/>
            <a:ext cx="514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ConversationSessionState</a:t>
            </a:r>
            <a:r>
              <a:rPr sz="10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 + Redis</a:t>
            </a:r>
          </a:p>
          <a:p>
            <a:pPr algn="l">
              <a:defRPr sz="788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summary、activeIntent、status、turns</a:t>
            </a:r>
            <a:endParaRPr sz="1050" b="0">
              <a:solidFill>
                <a:srgbClr val="36506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EB31D27-9C79-4DC8-90BD-9DC3910C2478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11239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58507C8-B075-4CEE-B872-BED0DEEF38A2}"/>
              </a:ext>
            </a:extLst>
          </p:cNvPr>
          <p:cNvSpPr>
            <a:spLocks noGrp="1"/>
          </p:cNvSpPr>
          <p:nvPr/>
        </p:nvSpPr>
        <p:spPr>
          <a:xfrm>
            <a:off x="552450" y="4438650"/>
            <a:ext cx="66675" cy="552450"/>
          </a:xfrm>
          <a:prstGeom prst="rect">
            <a:avLst/>
          </a:prstGeom>
          <a:solidFill>
            <a:srgbClr val="1769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CE978DE-B7ED-43D9-A14D-77F5AC3697C4}"/>
              </a:ext>
            </a:extLst>
          </p:cNvPr>
          <p:cNvSpPr>
            <a:spLocks noGrp="1"/>
          </p:cNvSpPr>
          <p:nvPr/>
        </p:nvSpPr>
        <p:spPr>
          <a:xfrm>
            <a:off x="781050" y="46101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err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结果治理</a:t>
            </a:r>
            <a:endParaRPr sz="1400" b="1">
              <a:solidFill>
                <a:srgbClr val="1769E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934F9AC-A1EB-4996-956C-B1E233439448}"/>
              </a:ext>
            </a:extLst>
          </p:cNvPr>
          <p:cNvSpPr>
            <a:spLocks noGrp="1"/>
          </p:cNvSpPr>
          <p:nvPr/>
        </p:nvSpPr>
        <p:spPr>
          <a:xfrm>
            <a:off x="2381250" y="4600575"/>
            <a:ext cx="2714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Observation / Respond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1277121-8AC9-4038-ADAE-DB4DC3049A06}"/>
              </a:ext>
            </a:extLst>
          </p:cNvPr>
          <p:cNvSpPr>
            <a:spLocks noGrp="1"/>
          </p:cNvSpPr>
          <p:nvPr/>
        </p:nvSpPr>
        <p:spPr>
          <a:xfrm>
            <a:off x="6191250" y="4524375"/>
            <a:ext cx="514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trace + MySQL QA log + feedback</a:t>
            </a:r>
          </a:p>
          <a:p>
            <a:pPr algn="l">
              <a:defRPr sz="788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记录来源、置信度、Prompt</a:t>
            </a:r>
            <a:r>
              <a:rPr sz="10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策略和反馈</a:t>
            </a:r>
            <a:endParaRPr sz="1050" b="0">
              <a:solidFill>
                <a:srgbClr val="36506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1956A32-0920-4F8A-AC49-23B2408EFBBC}"/>
              </a:ext>
            </a:extLst>
          </p:cNvPr>
          <p:cNvSpPr>
            <a:spLocks noGrp="1"/>
          </p:cNvSpPr>
          <p:nvPr/>
        </p:nvSpPr>
        <p:spPr>
          <a:xfrm>
            <a:off x="1052208" y="5534025"/>
            <a:ext cx="952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err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过渡逻辑：Nanobot</a:t>
            </a:r>
            <a:r>
              <a:rPr sz="127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1" err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提供</a:t>
            </a:r>
            <a:r>
              <a:rPr sz="127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 Runtime </a:t>
            </a:r>
            <a:r>
              <a:rPr sz="1275" b="1" err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闭环思想，本项目把它落到企业知识库问答的工程链路</a:t>
            </a:r>
            <a:r>
              <a:rPr sz="127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6C49ACE2-AF71-1E63-CC68-194C6EFB40A3}"/>
              </a:ext>
            </a:extLst>
          </p:cNvPr>
          <p:cNvSpPr>
            <a:spLocks noGrp="1"/>
          </p:cNvSpPr>
          <p:nvPr/>
        </p:nvSpPr>
        <p:spPr>
          <a:xfrm>
            <a:off x="8686800" y="6510528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7A8797"/>
                </a:solidFill>
                <a:latin typeface="Microsoft YaHei"/>
                <a:ea typeface="Microsoft YaHei"/>
                <a:cs typeface="Microsoft YaHei"/>
              </a:rPr>
              <a:t>华为AI应用开发技术答辩 · 0</a:t>
            </a:r>
            <a:r>
              <a:rPr lang="en-US" sz="750">
                <a:solidFill>
                  <a:srgbClr val="7A879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750">
              <a:solidFill>
                <a:srgbClr val="7A8797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208259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A777C77F-F836-447A-943C-9EE5D57D67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69AAD8-B9A6-4EDA-87F8-71E8959265EB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MULTI AGENT CODE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18EC20-563A-4367-883F-29C73D266510}"/>
              </a:ext>
            </a:extLst>
          </p:cNvPr>
          <p:cNvSpPr>
            <a:spLocks noGrp="1"/>
          </p:cNvSpPr>
          <p:nvPr/>
        </p:nvSpPr>
        <p:spPr>
          <a:xfrm>
            <a:off x="361950" y="628650"/>
            <a:ext cx="1047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多 Agent 状态机：把复杂问答拆成可观察代码步骤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E8236C-9B6F-4584-A355-16EAAE159FBC}"/>
              </a:ext>
            </a:extLst>
          </p:cNvPr>
          <p:cNvSpPr>
            <a:spLocks noGrp="1"/>
          </p:cNvSpPr>
          <p:nvPr/>
        </p:nvSpPr>
        <p:spPr>
          <a:xfrm>
            <a:off x="361950" y="1200150"/>
            <a:ext cx="11468100" cy="11430"/>
          </a:xfrm>
          <a:prstGeom prst="rect">
            <a:avLst/>
          </a:prstGeom>
          <a:solidFill>
            <a:srgbClr val="D7E1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998764-6C85-46E5-9EFD-C8968BF641B3}"/>
              </a:ext>
            </a:extLst>
          </p:cNvPr>
          <p:cNvSpPr>
            <a:spLocks noGrp="1"/>
          </p:cNvSpPr>
          <p:nvPr/>
        </p:nvSpPr>
        <p:spPr>
          <a:xfrm>
            <a:off x="666750" y="1466850"/>
            <a:ext cx="285750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0C0FFD-23B3-4ABB-9A17-D1565A04957C}"/>
              </a:ext>
            </a:extLst>
          </p:cNvPr>
          <p:cNvSpPr>
            <a:spLocks noGrp="1"/>
          </p:cNvSpPr>
          <p:nvPr/>
        </p:nvSpPr>
        <p:spPr>
          <a:xfrm>
            <a:off x="666750" y="1466850"/>
            <a:ext cx="66675" cy="1162050"/>
          </a:xfrm>
          <a:prstGeom prst="rect">
            <a:avLst/>
          </a:prstGeom>
          <a:solidFill>
            <a:srgbClr val="1769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49E734-520C-4209-883A-79432103F7A5}"/>
              </a:ext>
            </a:extLst>
          </p:cNvPr>
          <p:cNvSpPr>
            <a:spLocks noGrp="1"/>
          </p:cNvSpPr>
          <p:nvPr/>
        </p:nvSpPr>
        <p:spPr>
          <a:xfrm>
            <a:off x="876300" y="1638300"/>
            <a:ext cx="2514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IntentRecognitionAgent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4FA63D-25B3-414A-B403-A7C43720E589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24955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输入：resolvedQuestion + conversation</a:t>
            </a:r>
          </a:p>
          <a:p>
            <a:pPr algn="l">
              <a:def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输出：IntentResult</a:t>
            </a:r>
          </a:p>
          <a:p>
            <a:pPr algn="l">
              <a:def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处理：识别售后 / 知识问答 / 连续追问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CF67DE-4638-466C-860E-132EA5FC6593}"/>
              </a:ext>
            </a:extLst>
          </p:cNvPr>
          <p:cNvSpPr>
            <a:spLocks noGrp="1"/>
          </p:cNvSpPr>
          <p:nvPr/>
        </p:nvSpPr>
        <p:spPr>
          <a:xfrm>
            <a:off x="3733800" y="19335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938C0E-1CA9-4241-8D72-762BBCB7DDE6}"/>
              </a:ext>
            </a:extLst>
          </p:cNvPr>
          <p:cNvSpPr>
            <a:spLocks noGrp="1"/>
          </p:cNvSpPr>
          <p:nvPr/>
        </p:nvSpPr>
        <p:spPr>
          <a:xfrm>
            <a:off x="4286250" y="1466850"/>
            <a:ext cx="285750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5BA804-C052-4301-AB4F-542BAEC6F30C}"/>
              </a:ext>
            </a:extLst>
          </p:cNvPr>
          <p:cNvSpPr>
            <a:spLocks noGrp="1"/>
          </p:cNvSpPr>
          <p:nvPr/>
        </p:nvSpPr>
        <p:spPr>
          <a:xfrm>
            <a:off x="4286250" y="1466850"/>
            <a:ext cx="66675" cy="1162050"/>
          </a:xfrm>
          <a:prstGeom prst="rect">
            <a:avLst/>
          </a:prstGeom>
          <a:solidFill>
            <a:srgbClr val="18A7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4E6D7CE-2A85-43DF-8FB9-01A3754ECE3C}"/>
              </a:ext>
            </a:extLst>
          </p:cNvPr>
          <p:cNvSpPr>
            <a:spLocks noGrp="1"/>
          </p:cNvSpPr>
          <p:nvPr/>
        </p:nvSpPr>
        <p:spPr>
          <a:xfrm>
            <a:off x="4495800" y="1638300"/>
            <a:ext cx="2514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KnowledgeRetrievalAgent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B3A942-41B0-44DD-9564-B2F895BF8189}"/>
              </a:ext>
            </a:extLst>
          </p:cNvPr>
          <p:cNvSpPr>
            <a:spLocks noGrp="1"/>
          </p:cNvSpPr>
          <p:nvPr/>
        </p:nvSpPr>
        <p:spPr>
          <a:xfrm>
            <a:off x="4495800" y="1943100"/>
            <a:ext cx="24955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调用：KnowledgeRepository.search</a:t>
            </a:r>
            <a:r>
              <a: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()</a:t>
            </a:r>
          </a:p>
          <a:p>
            <a:pPr algn="l">
              <a:def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参数：query、intentName、topK</a:t>
            </a:r>
            <a:r>
              <a: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=3</a:t>
            </a:r>
          </a:p>
          <a:p>
            <a:pPr algn="l">
              <a:def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 err="1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结果写入：AgentContext.retrievedChunks</a:t>
            </a:r>
            <a:endParaRPr sz="810" b="0">
              <a:solidFill>
                <a:srgbClr val="36506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701A0DA-8B9A-4A18-AE12-3F08DBBA7F85}"/>
              </a:ext>
            </a:extLst>
          </p:cNvPr>
          <p:cNvSpPr>
            <a:spLocks noGrp="1"/>
          </p:cNvSpPr>
          <p:nvPr/>
        </p:nvSpPr>
        <p:spPr>
          <a:xfrm>
            <a:off x="7353300" y="19335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AB169E-E210-415D-A1FD-9A02524038E7}"/>
              </a:ext>
            </a:extLst>
          </p:cNvPr>
          <p:cNvSpPr>
            <a:spLocks noGrp="1"/>
          </p:cNvSpPr>
          <p:nvPr/>
        </p:nvSpPr>
        <p:spPr>
          <a:xfrm>
            <a:off x="7905750" y="1466850"/>
            <a:ext cx="285750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1CB384-7E9E-49CD-A3D1-4EAC05A48AFF}"/>
              </a:ext>
            </a:extLst>
          </p:cNvPr>
          <p:cNvSpPr>
            <a:spLocks noGrp="1"/>
          </p:cNvSpPr>
          <p:nvPr/>
        </p:nvSpPr>
        <p:spPr>
          <a:xfrm>
            <a:off x="7905750" y="1466850"/>
            <a:ext cx="66675" cy="1162050"/>
          </a:xfrm>
          <a:prstGeom prst="rect">
            <a:avLst/>
          </a:prstGeom>
          <a:solidFill>
            <a:srgbClr val="F59A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7087ADD-1191-40DE-AD40-AA8A71F168D4}"/>
              </a:ext>
            </a:extLst>
          </p:cNvPr>
          <p:cNvSpPr>
            <a:spLocks noGrp="1"/>
          </p:cNvSpPr>
          <p:nvPr/>
        </p:nvSpPr>
        <p:spPr>
          <a:xfrm>
            <a:off x="8115300" y="1638300"/>
            <a:ext cx="2514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AnswerGenerationAgent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C5A51B-7682-4A72-9486-4CAF0A165FF9}"/>
              </a:ext>
            </a:extLst>
          </p:cNvPr>
          <p:cNvSpPr>
            <a:spLocks noGrp="1"/>
          </p:cNvSpPr>
          <p:nvPr/>
        </p:nvSpPr>
        <p:spPr>
          <a:xfrm>
            <a:off x="8115300" y="1943100"/>
            <a:ext cx="24955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构造：GroundedPrompt</a:t>
            </a:r>
          </a:p>
          <a:p>
            <a:pPr algn="l">
              <a:def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执行：evidence-only / Qwen 生成</a:t>
            </a:r>
          </a:p>
          <a:p>
            <a:pPr algn="l">
              <a:def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治理：低置信度进入受控回答策略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C0188A5-4511-4092-84C6-47525D0496DC}"/>
              </a:ext>
            </a:extLst>
          </p:cNvPr>
          <p:cNvSpPr>
            <a:spLocks noGrp="1"/>
          </p:cNvSpPr>
          <p:nvPr/>
        </p:nvSpPr>
        <p:spPr>
          <a:xfrm>
            <a:off x="666750" y="32194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状态流转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98DA338-D859-43C6-93B5-A66BBEFC3F15}"/>
              </a:ext>
            </a:extLst>
          </p:cNvPr>
          <p:cNvSpPr>
            <a:spLocks noGrp="1"/>
          </p:cNvSpPr>
          <p:nvPr/>
        </p:nvSpPr>
        <p:spPr>
          <a:xfrm>
            <a:off x="666750" y="3705225"/>
            <a:ext cx="138112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A03F273-81E8-4107-A1BD-C088EA46334A}"/>
              </a:ext>
            </a:extLst>
          </p:cNvPr>
          <p:cNvSpPr>
            <a:spLocks noGrp="1"/>
          </p:cNvSpPr>
          <p:nvPr/>
        </p:nvSpPr>
        <p:spPr>
          <a:xfrm>
            <a:off x="666750" y="3705225"/>
            <a:ext cx="66675" cy="361950"/>
          </a:xfrm>
          <a:prstGeom prst="rect">
            <a:avLst/>
          </a:prstGeom>
          <a:solidFill>
            <a:srgbClr val="1769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9BB0BD-5369-4C0C-90C0-FCFA7F6A4B32}"/>
              </a:ext>
            </a:extLst>
          </p:cNvPr>
          <p:cNvSpPr>
            <a:spLocks noGrp="1"/>
          </p:cNvSpPr>
          <p:nvPr/>
        </p:nvSpPr>
        <p:spPr>
          <a:xfrm>
            <a:off x="838200" y="3810000"/>
            <a:ext cx="11144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RECEIVED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2760E66-D8D0-497C-84DE-D586CB6494E2}"/>
              </a:ext>
            </a:extLst>
          </p:cNvPr>
          <p:cNvSpPr>
            <a:spLocks noGrp="1"/>
          </p:cNvSpPr>
          <p:nvPr/>
        </p:nvSpPr>
        <p:spPr>
          <a:xfrm>
            <a:off x="2143125" y="378142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D6BCBCD-EB8E-46B9-BA69-FCB6B024B365}"/>
              </a:ext>
            </a:extLst>
          </p:cNvPr>
          <p:cNvSpPr>
            <a:spLocks noGrp="1"/>
          </p:cNvSpPr>
          <p:nvPr/>
        </p:nvSpPr>
        <p:spPr>
          <a:xfrm>
            <a:off x="2524125" y="3705225"/>
            <a:ext cx="1809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35EBD27-ABB3-43DF-8CCF-BCE8340B2D0C}"/>
              </a:ext>
            </a:extLst>
          </p:cNvPr>
          <p:cNvSpPr>
            <a:spLocks noGrp="1"/>
          </p:cNvSpPr>
          <p:nvPr/>
        </p:nvSpPr>
        <p:spPr>
          <a:xfrm>
            <a:off x="2524125" y="3705225"/>
            <a:ext cx="66675" cy="361950"/>
          </a:xfrm>
          <a:prstGeom prst="rect">
            <a:avLst/>
          </a:prstGeom>
          <a:solidFill>
            <a:srgbClr val="25B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72984F1-1079-422C-A1D6-008E78173137}"/>
              </a:ext>
            </a:extLst>
          </p:cNvPr>
          <p:cNvSpPr>
            <a:spLocks noGrp="1"/>
          </p:cNvSpPr>
          <p:nvPr/>
        </p:nvSpPr>
        <p:spPr>
          <a:xfrm>
            <a:off x="2695575" y="3810000"/>
            <a:ext cx="1543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INTENT_RECOGNIZED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370711C-D1C5-4205-B15D-00B45EE856BC}"/>
              </a:ext>
            </a:extLst>
          </p:cNvPr>
          <p:cNvSpPr>
            <a:spLocks noGrp="1"/>
          </p:cNvSpPr>
          <p:nvPr/>
        </p:nvSpPr>
        <p:spPr>
          <a:xfrm>
            <a:off x="4429125" y="378142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BB5A7EB-BF13-4AC4-83FD-08B35FD37FCD}"/>
              </a:ext>
            </a:extLst>
          </p:cNvPr>
          <p:cNvSpPr>
            <a:spLocks noGrp="1"/>
          </p:cNvSpPr>
          <p:nvPr/>
        </p:nvSpPr>
        <p:spPr>
          <a:xfrm>
            <a:off x="4810125" y="3705225"/>
            <a:ext cx="195262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67A4816-44D4-4165-905C-FC6977F5DF39}"/>
              </a:ext>
            </a:extLst>
          </p:cNvPr>
          <p:cNvSpPr>
            <a:spLocks noGrp="1"/>
          </p:cNvSpPr>
          <p:nvPr/>
        </p:nvSpPr>
        <p:spPr>
          <a:xfrm>
            <a:off x="4810125" y="3705225"/>
            <a:ext cx="66675" cy="361950"/>
          </a:xfrm>
          <a:prstGeom prst="rect">
            <a:avLst/>
          </a:prstGeom>
          <a:solidFill>
            <a:srgbClr val="18A7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FD72B77-0A44-4D52-9623-8201191CCB1C}"/>
              </a:ext>
            </a:extLst>
          </p:cNvPr>
          <p:cNvSpPr>
            <a:spLocks noGrp="1"/>
          </p:cNvSpPr>
          <p:nvPr/>
        </p:nvSpPr>
        <p:spPr>
          <a:xfrm>
            <a:off x="4981575" y="3810000"/>
            <a:ext cx="16859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KNOWLEDGE_RETRIEVED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888AED2-D607-45FF-8E98-C3493DC6B5F4}"/>
              </a:ext>
            </a:extLst>
          </p:cNvPr>
          <p:cNvSpPr>
            <a:spLocks noGrp="1"/>
          </p:cNvSpPr>
          <p:nvPr/>
        </p:nvSpPr>
        <p:spPr>
          <a:xfrm>
            <a:off x="6858000" y="378142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FF29730-8C2F-4B08-8006-A9B3A7B95F1A}"/>
              </a:ext>
            </a:extLst>
          </p:cNvPr>
          <p:cNvSpPr>
            <a:spLocks noGrp="1"/>
          </p:cNvSpPr>
          <p:nvPr/>
        </p:nvSpPr>
        <p:spPr>
          <a:xfrm>
            <a:off x="7239000" y="3705225"/>
            <a:ext cx="176212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B2918B0-2F98-4E84-827D-515A4AA18706}"/>
              </a:ext>
            </a:extLst>
          </p:cNvPr>
          <p:cNvSpPr>
            <a:spLocks noGrp="1"/>
          </p:cNvSpPr>
          <p:nvPr/>
        </p:nvSpPr>
        <p:spPr>
          <a:xfrm>
            <a:off x="7239000" y="3705225"/>
            <a:ext cx="66675" cy="361950"/>
          </a:xfrm>
          <a:prstGeom prst="rect">
            <a:avLst/>
          </a:prstGeom>
          <a:solidFill>
            <a:srgbClr val="F59A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F258DBC-083D-4B11-8691-74E7A556CE52}"/>
              </a:ext>
            </a:extLst>
          </p:cNvPr>
          <p:cNvSpPr>
            <a:spLocks noGrp="1"/>
          </p:cNvSpPr>
          <p:nvPr/>
        </p:nvSpPr>
        <p:spPr>
          <a:xfrm>
            <a:off x="7410450" y="3810000"/>
            <a:ext cx="14954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ANSWER_GENERATED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E80411B-20B2-4869-B2B7-10738154DD7A}"/>
              </a:ext>
            </a:extLst>
          </p:cNvPr>
          <p:cNvSpPr>
            <a:spLocks noGrp="1"/>
          </p:cNvSpPr>
          <p:nvPr/>
        </p:nvSpPr>
        <p:spPr>
          <a:xfrm>
            <a:off x="9096375" y="378142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374DC61-56EE-419F-A76B-3B0692112C63}"/>
              </a:ext>
            </a:extLst>
          </p:cNvPr>
          <p:cNvSpPr>
            <a:spLocks noGrp="1"/>
          </p:cNvSpPr>
          <p:nvPr/>
        </p:nvSpPr>
        <p:spPr>
          <a:xfrm>
            <a:off x="9477375" y="3705225"/>
            <a:ext cx="138112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4A4AFC3-5342-4E74-828F-33118D9FBCAC}"/>
              </a:ext>
            </a:extLst>
          </p:cNvPr>
          <p:cNvSpPr>
            <a:spLocks noGrp="1"/>
          </p:cNvSpPr>
          <p:nvPr/>
        </p:nvSpPr>
        <p:spPr>
          <a:xfrm>
            <a:off x="9477375" y="3705225"/>
            <a:ext cx="66675" cy="361950"/>
          </a:xfrm>
          <a:prstGeom prst="rect">
            <a:avLst/>
          </a:prstGeom>
          <a:solidFill>
            <a:srgbClr val="1769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6B7EBDF-7DC8-4C2A-AF73-B47173DA7491}"/>
              </a:ext>
            </a:extLst>
          </p:cNvPr>
          <p:cNvSpPr>
            <a:spLocks noGrp="1"/>
          </p:cNvSpPr>
          <p:nvPr/>
        </p:nvSpPr>
        <p:spPr>
          <a:xfrm>
            <a:off x="9648825" y="3810000"/>
            <a:ext cx="11144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COMPLETED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A1D1D8-E27C-40BB-83AE-2C9AF7C10FD8}"/>
              </a:ext>
            </a:extLst>
          </p:cNvPr>
          <p:cNvSpPr>
            <a:spLocks noGrp="1"/>
          </p:cNvSpPr>
          <p:nvPr/>
        </p:nvSpPr>
        <p:spPr>
          <a:xfrm>
            <a:off x="666750" y="4819650"/>
            <a:ext cx="40957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01003D4-A775-427A-9E6C-3F5A28CA7D3F}"/>
              </a:ext>
            </a:extLst>
          </p:cNvPr>
          <p:cNvSpPr>
            <a:spLocks noGrp="1"/>
          </p:cNvSpPr>
          <p:nvPr/>
        </p:nvSpPr>
        <p:spPr>
          <a:xfrm>
            <a:off x="666750" y="4819650"/>
            <a:ext cx="66675" cy="895350"/>
          </a:xfrm>
          <a:prstGeom prst="rect">
            <a:avLst/>
          </a:prstGeom>
          <a:solidFill>
            <a:srgbClr val="1769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3F4BDD1-9454-4073-A620-C724E00F1D2D}"/>
              </a:ext>
            </a:extLst>
          </p:cNvPr>
          <p:cNvSpPr>
            <a:spLocks noGrp="1"/>
          </p:cNvSpPr>
          <p:nvPr/>
        </p:nvSpPr>
        <p:spPr>
          <a:xfrm>
            <a:off x="876300" y="4991100"/>
            <a:ext cx="3752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核心实现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8E01E38-C95B-453C-A490-34B9E4683F29}"/>
              </a:ext>
            </a:extLst>
          </p:cNvPr>
          <p:cNvSpPr>
            <a:spLocks noGrp="1"/>
          </p:cNvSpPr>
          <p:nvPr/>
        </p:nvSpPr>
        <p:spPr>
          <a:xfrm>
            <a:off x="876300" y="5295900"/>
            <a:ext cx="3733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79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9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CustomerServiceAgentStateMachine 使用 EnumMap&lt;AgentState, Agent&gt; 保存状态到 Agent 的映射；run() 方法用 while 循环推动状态前进。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29C3A58-7932-4141-BEA1-E56974BC2F6B}"/>
              </a:ext>
            </a:extLst>
          </p:cNvPr>
          <p:cNvSpPr>
            <a:spLocks noGrp="1"/>
          </p:cNvSpPr>
          <p:nvPr/>
        </p:nvSpPr>
        <p:spPr>
          <a:xfrm>
            <a:off x="5219700" y="4819650"/>
            <a:ext cx="5048250" cy="914400"/>
          </a:xfrm>
          <a:prstGeom prst="rect">
            <a:avLst/>
          </a:prstGeom>
          <a:solidFill>
            <a:srgbClr val="081827"/>
          </a:solidFill>
          <a:ln w="9525">
            <a:solidFill>
              <a:srgbClr val="2342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069E433-7695-4EB6-871B-427C177B0051}"/>
              </a:ext>
            </a:extLst>
          </p:cNvPr>
          <p:cNvSpPr>
            <a:spLocks noGrp="1"/>
          </p:cNvSpPr>
          <p:nvPr/>
        </p:nvSpPr>
        <p:spPr>
          <a:xfrm>
            <a:off x="5372100" y="4933950"/>
            <a:ext cx="474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8E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8EC5FF"/>
                </a:solidFill>
                <a:latin typeface="Microsoft YaHei"/>
                <a:ea typeface="Microsoft YaHei"/>
                <a:cs typeface="Microsoft YaHei"/>
              </a:rPr>
              <a:t>trace / 多 Agent </a:t>
            </a:r>
            <a:r>
              <a:rPr sz="788" b="1" err="1">
                <a:solidFill>
                  <a:srgbClr val="8EC5FF"/>
                </a:solidFill>
                <a:latin typeface="Microsoft YaHei"/>
                <a:ea typeface="Microsoft YaHei"/>
                <a:cs typeface="Microsoft YaHei"/>
              </a:rPr>
              <a:t>可观测链路</a:t>
            </a:r>
            <a:endParaRPr sz="788" b="1">
              <a:solidFill>
                <a:srgbClr val="8EC5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53F670D-DC89-4816-B72A-4E0ADB677FAA}"/>
              </a:ext>
            </a:extLst>
          </p:cNvPr>
          <p:cNvSpPr>
            <a:spLocks noGrp="1"/>
          </p:cNvSpPr>
          <p:nvPr/>
        </p:nvSpPr>
        <p:spPr>
          <a:xfrm>
            <a:off x="5372100" y="5181600"/>
            <a:ext cx="4743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0">
                <a:solidFill>
                  <a:srgbClr val="E0ECF8"/>
                </a:solidFill>
                <a:latin typeface="Consolas"/>
                <a:ea typeface="Consolas"/>
                <a:cs typeface="Consolas"/>
              </a:defRPr>
            </a:pPr>
            <a:r>
              <a:rPr sz="705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request_received</a:t>
            </a:r>
            <a:r>
              <a:rPr sz="705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 -&gt; </a:t>
            </a:r>
            <a:r>
              <a:rPr sz="705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memory_initialized</a:t>
            </a:r>
            <a:endParaRPr sz="705" b="0">
              <a:solidFill>
                <a:srgbClr val="E0ECF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05" b="0">
                <a:solidFill>
                  <a:srgbClr val="E0ECF8"/>
                </a:solidFill>
                <a:latin typeface="Consolas"/>
                <a:ea typeface="Consolas"/>
                <a:cs typeface="Consolas"/>
              </a:defRPr>
            </a:pPr>
            <a:r>
              <a:rPr sz="705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intent_recognized</a:t>
            </a:r>
            <a:r>
              <a:rPr sz="705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 -&gt; </a:t>
            </a:r>
            <a:r>
              <a:rPr sz="705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knowledge_retrieved</a:t>
            </a:r>
            <a:endParaRPr sz="705" b="0">
              <a:solidFill>
                <a:srgbClr val="E0ECF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05" b="0">
                <a:solidFill>
                  <a:srgbClr val="E0ECF8"/>
                </a:solidFill>
                <a:latin typeface="Consolas"/>
                <a:ea typeface="Consolas"/>
                <a:cs typeface="Consolas"/>
              </a:defRPr>
            </a:pPr>
            <a:r>
              <a:rPr sz="705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grounded_prompt_built</a:t>
            </a:r>
            <a:r>
              <a:rPr sz="705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 -&gt; </a:t>
            </a:r>
            <a:r>
              <a:rPr sz="705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prompt_policy:evidence_only</a:t>
            </a:r>
            <a:endParaRPr sz="705" b="0">
              <a:solidFill>
                <a:srgbClr val="E0ECF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05" b="0">
                <a:solidFill>
                  <a:srgbClr val="E0ECF8"/>
                </a:solidFill>
                <a:latin typeface="Consolas"/>
                <a:ea typeface="Consolas"/>
                <a:cs typeface="Consolas"/>
              </a:defRPr>
            </a:pPr>
            <a:r>
              <a:rPr sz="705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answer_generated</a:t>
            </a:r>
            <a:r>
              <a:rPr sz="705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 -&gt; </a:t>
            </a:r>
            <a:r>
              <a:rPr sz="705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qa_log_written</a:t>
            </a:r>
            <a:endParaRPr sz="705" b="0">
              <a:solidFill>
                <a:srgbClr val="E0ECF8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D8EE51E-3A12-4029-BBFB-FE930376B4B6}"/>
              </a:ext>
            </a:extLst>
          </p:cNvPr>
          <p:cNvSpPr>
            <a:spLocks noGrp="1"/>
          </p:cNvSpPr>
          <p:nvPr/>
        </p:nvSpPr>
        <p:spPr>
          <a:xfrm>
            <a:off x="1333500" y="6019800"/>
            <a:ext cx="952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多 Agent 不是为了堆概念，而是让意图、检索、生成、治理各自可替换、可追踪、可优化。</a:t>
            </a:r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DAFD015A-3CEB-A4AE-1843-EBF6E36AA449}"/>
              </a:ext>
            </a:extLst>
          </p:cNvPr>
          <p:cNvSpPr>
            <a:spLocks noGrp="1"/>
          </p:cNvSpPr>
          <p:nvPr/>
        </p:nvSpPr>
        <p:spPr>
          <a:xfrm>
            <a:off x="8686800" y="6510528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7A8797"/>
                </a:solidFill>
                <a:latin typeface="Microsoft YaHei"/>
                <a:ea typeface="Microsoft YaHei"/>
                <a:cs typeface="Microsoft YaHei"/>
              </a:rPr>
              <a:t>华为AI应用开发技术答辩 · 0</a:t>
            </a:r>
            <a:r>
              <a:rPr lang="en-US" sz="750">
                <a:solidFill>
                  <a:srgbClr val="7A8797"/>
                </a:solidFill>
                <a:latin typeface="Microsoft YaHei"/>
                <a:ea typeface="Microsoft YaHei"/>
                <a:cs typeface="Microsoft YaHei"/>
              </a:rPr>
              <a:t>5</a:t>
            </a:r>
            <a:endParaRPr sz="750">
              <a:solidFill>
                <a:srgbClr val="7A8797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10468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2970B9AD-D901-4A75-BB0E-BDCE9EADE4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8DD00D-B553-4F6A-A527-8FF2D65FA019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RAG PIPELINE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6A4E3C-69B5-4ADE-B87B-2B8027DA87EA}"/>
              </a:ext>
            </a:extLst>
          </p:cNvPr>
          <p:cNvSpPr>
            <a:spLocks noGrp="1"/>
          </p:cNvSpPr>
          <p:nvPr/>
        </p:nvSpPr>
        <p:spPr>
          <a:xfrm>
            <a:off x="361950" y="628650"/>
            <a:ext cx="1047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RAG / Milvus：真实文档入库后完成 TopK 语义召回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31B748-7FD5-4A0D-A9FB-7C347439C3D9}"/>
              </a:ext>
            </a:extLst>
          </p:cNvPr>
          <p:cNvSpPr>
            <a:spLocks noGrp="1"/>
          </p:cNvSpPr>
          <p:nvPr/>
        </p:nvSpPr>
        <p:spPr>
          <a:xfrm>
            <a:off x="361950" y="1200150"/>
            <a:ext cx="11468100" cy="11430"/>
          </a:xfrm>
          <a:prstGeom prst="rect">
            <a:avLst/>
          </a:prstGeom>
          <a:solidFill>
            <a:srgbClr val="D7E1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008463-02D7-457B-B691-7168726A269D}"/>
              </a:ext>
            </a:extLst>
          </p:cNvPr>
          <p:cNvSpPr>
            <a:spLocks noGrp="1"/>
          </p:cNvSpPr>
          <p:nvPr/>
        </p:nvSpPr>
        <p:spPr>
          <a:xfrm>
            <a:off x="628650" y="14097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离线入库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D8D798-F456-4AF0-94F6-27C85E5B7FB5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20193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3F4EB6-057C-4F57-BAA7-65ECB9A4CAFD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742950"/>
          </a:xfrm>
          <a:prstGeom prst="rect">
            <a:avLst/>
          </a:prstGeom>
          <a:solidFill>
            <a:srgbClr val="1769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5068CA-4A2D-4C23-AE94-134B25A9D298}"/>
              </a:ext>
            </a:extLst>
          </p:cNvPr>
          <p:cNvSpPr>
            <a:spLocks noGrp="1"/>
          </p:cNvSpPr>
          <p:nvPr/>
        </p:nvSpPr>
        <p:spPr>
          <a:xfrm>
            <a:off x="971550" y="201930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err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真实</a:t>
            </a:r>
            <a:r>
              <a:rPr sz="10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 Markdown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C1BB3B-45AF-4B41-8F39-495D27E5F134}"/>
              </a:ext>
            </a:extLst>
          </p:cNvPr>
          <p:cNvSpPr>
            <a:spLocks noGrp="1"/>
          </p:cNvSpPr>
          <p:nvPr/>
        </p:nvSpPr>
        <p:spPr>
          <a:xfrm>
            <a:off x="971550" y="2324100"/>
            <a:ext cx="1657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69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DocumentUploadChecks</a:t>
            </a:r>
          </a:p>
          <a:p>
            <a:pPr algn="l">
              <a:defRPr sz="69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真实技术文档入库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AD8018-0674-41D8-8295-FB63D4730CE6}"/>
              </a:ext>
            </a:extLst>
          </p:cNvPr>
          <p:cNvSpPr>
            <a:spLocks noGrp="1"/>
          </p:cNvSpPr>
          <p:nvPr/>
        </p:nvSpPr>
        <p:spPr>
          <a:xfrm>
            <a:off x="2857500" y="213360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CE8B6B-1F56-4388-A6DD-D9A34F978620}"/>
              </a:ext>
            </a:extLst>
          </p:cNvPr>
          <p:cNvSpPr>
            <a:spLocks noGrp="1"/>
          </p:cNvSpPr>
          <p:nvPr/>
        </p:nvSpPr>
        <p:spPr>
          <a:xfrm>
            <a:off x="3286125" y="1847850"/>
            <a:ext cx="20193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128B0C-3AAF-4C29-A876-ACE2FFAABF96}"/>
              </a:ext>
            </a:extLst>
          </p:cNvPr>
          <p:cNvSpPr>
            <a:spLocks noGrp="1"/>
          </p:cNvSpPr>
          <p:nvPr/>
        </p:nvSpPr>
        <p:spPr>
          <a:xfrm>
            <a:off x="3286125" y="1847850"/>
            <a:ext cx="66675" cy="742950"/>
          </a:xfrm>
          <a:prstGeom prst="rect">
            <a:avLst/>
          </a:prstGeom>
          <a:solidFill>
            <a:srgbClr val="25B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9F5139-9164-4FAB-8344-94AF39954799}"/>
              </a:ext>
            </a:extLst>
          </p:cNvPr>
          <p:cNvSpPr>
            <a:spLocks noGrp="1"/>
          </p:cNvSpPr>
          <p:nvPr/>
        </p:nvSpPr>
        <p:spPr>
          <a:xfrm>
            <a:off x="3495675" y="201930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Chunk 切分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E13410-6AD4-4E17-87F2-B589BA30453A}"/>
              </a:ext>
            </a:extLst>
          </p:cNvPr>
          <p:cNvSpPr>
            <a:spLocks noGrp="1"/>
          </p:cNvSpPr>
          <p:nvPr/>
        </p:nvSpPr>
        <p:spPr>
          <a:xfrm>
            <a:off x="3495675" y="2324100"/>
            <a:ext cx="1657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69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DocumentChunker</a:t>
            </a:r>
          </a:p>
          <a:p>
            <a:pPr algn="l">
              <a:defRPr sz="69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UTF-8 字节安全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E43776-5B2F-4CF3-B4F6-ABFCD5F1EBFD}"/>
              </a:ext>
            </a:extLst>
          </p:cNvPr>
          <p:cNvSpPr>
            <a:spLocks noGrp="1"/>
          </p:cNvSpPr>
          <p:nvPr/>
        </p:nvSpPr>
        <p:spPr>
          <a:xfrm>
            <a:off x="5381625" y="213360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972BA7-3CA9-4A4B-8795-98404030F1CE}"/>
              </a:ext>
            </a:extLst>
          </p:cNvPr>
          <p:cNvSpPr>
            <a:spLocks noGrp="1"/>
          </p:cNvSpPr>
          <p:nvPr/>
        </p:nvSpPr>
        <p:spPr>
          <a:xfrm>
            <a:off x="5810250" y="1847850"/>
            <a:ext cx="20193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CB2701F-EE73-4879-8CC5-5D4AD24896E2}"/>
              </a:ext>
            </a:extLst>
          </p:cNvPr>
          <p:cNvSpPr>
            <a:spLocks noGrp="1"/>
          </p:cNvSpPr>
          <p:nvPr/>
        </p:nvSpPr>
        <p:spPr>
          <a:xfrm>
            <a:off x="5810250" y="1847850"/>
            <a:ext cx="66675" cy="742950"/>
          </a:xfrm>
          <a:prstGeom prst="rect">
            <a:avLst/>
          </a:prstGeom>
          <a:solidFill>
            <a:srgbClr val="18A7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46EF413-3D9A-403B-8C40-B3F92AB2F795}"/>
              </a:ext>
            </a:extLst>
          </p:cNvPr>
          <p:cNvSpPr>
            <a:spLocks noGrp="1"/>
          </p:cNvSpPr>
          <p:nvPr/>
        </p:nvSpPr>
        <p:spPr>
          <a:xfrm>
            <a:off x="6019800" y="201930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Embedding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F08DBA4-0D2E-47BE-AEE0-967195D943A5}"/>
              </a:ext>
            </a:extLst>
          </p:cNvPr>
          <p:cNvSpPr>
            <a:spLocks noGrp="1"/>
          </p:cNvSpPr>
          <p:nvPr/>
        </p:nvSpPr>
        <p:spPr>
          <a:xfrm>
            <a:off x="6019800" y="2324100"/>
            <a:ext cx="1657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69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EmbeddingModel</a:t>
            </a:r>
          </a:p>
          <a:p>
            <a:pPr algn="l">
              <a:defRPr sz="69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Hashing / Qwen 适配器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5FCEE8-48E5-47A2-AF2F-2A646E88B0AD}"/>
              </a:ext>
            </a:extLst>
          </p:cNvPr>
          <p:cNvSpPr>
            <a:spLocks noGrp="1"/>
          </p:cNvSpPr>
          <p:nvPr/>
        </p:nvSpPr>
        <p:spPr>
          <a:xfrm>
            <a:off x="7905750" y="213360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F256EF-62B6-4528-B3B3-F26566FACE41}"/>
              </a:ext>
            </a:extLst>
          </p:cNvPr>
          <p:cNvSpPr>
            <a:spLocks noGrp="1"/>
          </p:cNvSpPr>
          <p:nvPr/>
        </p:nvSpPr>
        <p:spPr>
          <a:xfrm>
            <a:off x="8334375" y="1847850"/>
            <a:ext cx="20193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B6740B-BE38-4775-86D6-45DC2E0EE783}"/>
              </a:ext>
            </a:extLst>
          </p:cNvPr>
          <p:cNvSpPr>
            <a:spLocks noGrp="1"/>
          </p:cNvSpPr>
          <p:nvPr/>
        </p:nvSpPr>
        <p:spPr>
          <a:xfrm>
            <a:off x="8334375" y="1847850"/>
            <a:ext cx="66675" cy="742950"/>
          </a:xfrm>
          <a:prstGeom prst="rect">
            <a:avLst/>
          </a:prstGeom>
          <a:solidFill>
            <a:srgbClr val="F59A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15D8A9C-EC71-4EE2-9B78-459A844B9A88}"/>
              </a:ext>
            </a:extLst>
          </p:cNvPr>
          <p:cNvSpPr>
            <a:spLocks noGrp="1"/>
          </p:cNvSpPr>
          <p:nvPr/>
        </p:nvSpPr>
        <p:spPr>
          <a:xfrm>
            <a:off x="8543925" y="201930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Milvus upsert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BDB15EC-DFB6-47A5-A276-03BC981DA149}"/>
              </a:ext>
            </a:extLst>
          </p:cNvPr>
          <p:cNvSpPr>
            <a:spLocks noGrp="1"/>
          </p:cNvSpPr>
          <p:nvPr/>
        </p:nvSpPr>
        <p:spPr>
          <a:xfrm>
            <a:off x="8543925" y="2324100"/>
            <a:ext cx="1657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69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VectorStore.upsert</a:t>
            </a:r>
          </a:p>
          <a:p>
            <a:pPr algn="l">
              <a:defRPr sz="69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chunk + metadata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B2FBC55-8ECC-4096-8C61-601C78E22211}"/>
              </a:ext>
            </a:extLst>
          </p:cNvPr>
          <p:cNvSpPr>
            <a:spLocks noGrp="1"/>
          </p:cNvSpPr>
          <p:nvPr/>
        </p:nvSpPr>
        <p:spPr>
          <a:xfrm>
            <a:off x="628650" y="31051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在线召回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5898EFC-2319-4E28-8F5F-8C10C6E59F91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20193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B39B5E0-3C85-4B61-8285-09BC406DC6EF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66675" cy="742950"/>
          </a:xfrm>
          <a:prstGeom prst="rect">
            <a:avLst/>
          </a:prstGeom>
          <a:solidFill>
            <a:srgbClr val="1769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34F7A69-8656-45F2-AF0E-11A34C71F41C}"/>
              </a:ext>
            </a:extLst>
          </p:cNvPr>
          <p:cNvSpPr>
            <a:spLocks noGrp="1"/>
          </p:cNvSpPr>
          <p:nvPr/>
        </p:nvSpPr>
        <p:spPr>
          <a:xfrm>
            <a:off x="971550" y="371475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用户问题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08F934-09B9-45F7-BF98-490094514948}"/>
              </a:ext>
            </a:extLst>
          </p:cNvPr>
          <p:cNvSpPr>
            <a:spLocks noGrp="1"/>
          </p:cNvSpPr>
          <p:nvPr/>
        </p:nvSpPr>
        <p:spPr>
          <a:xfrm>
            <a:off x="971550" y="4019550"/>
            <a:ext cx="1657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resolveQuestion()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2AF3C7E-B81E-4445-90EA-0B4F2AF32E07}"/>
              </a:ext>
            </a:extLst>
          </p:cNvPr>
          <p:cNvSpPr>
            <a:spLocks noGrp="1"/>
          </p:cNvSpPr>
          <p:nvPr/>
        </p:nvSpPr>
        <p:spPr>
          <a:xfrm>
            <a:off x="2857500" y="382905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181AE36-B6B1-49A9-A64E-1B7B78D9AC41}"/>
              </a:ext>
            </a:extLst>
          </p:cNvPr>
          <p:cNvSpPr>
            <a:spLocks noGrp="1"/>
          </p:cNvSpPr>
          <p:nvPr/>
        </p:nvSpPr>
        <p:spPr>
          <a:xfrm>
            <a:off x="3286125" y="3543300"/>
            <a:ext cx="20193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2ED331A-5AEC-4A73-92D1-647CDC534BCB}"/>
              </a:ext>
            </a:extLst>
          </p:cNvPr>
          <p:cNvSpPr>
            <a:spLocks noGrp="1"/>
          </p:cNvSpPr>
          <p:nvPr/>
        </p:nvSpPr>
        <p:spPr>
          <a:xfrm>
            <a:off x="3286125" y="3543300"/>
            <a:ext cx="66675" cy="742950"/>
          </a:xfrm>
          <a:prstGeom prst="rect">
            <a:avLst/>
          </a:prstGeom>
          <a:solidFill>
            <a:srgbClr val="18A7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64E5FB8-5BFE-41A4-AEA9-D9AE371829BD}"/>
              </a:ext>
            </a:extLst>
          </p:cNvPr>
          <p:cNvSpPr>
            <a:spLocks noGrp="1"/>
          </p:cNvSpPr>
          <p:nvPr/>
        </p:nvSpPr>
        <p:spPr>
          <a:xfrm>
            <a:off x="3495675" y="371475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向量检索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42DDE8B-BE7A-4C46-AAE7-3DCD90A3CD6C}"/>
              </a:ext>
            </a:extLst>
          </p:cNvPr>
          <p:cNvSpPr>
            <a:spLocks noGrp="1"/>
          </p:cNvSpPr>
          <p:nvPr/>
        </p:nvSpPr>
        <p:spPr>
          <a:xfrm>
            <a:off x="3495675" y="4019550"/>
            <a:ext cx="1657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Milvus TopK</a:t>
            </a:r>
          </a:p>
          <a:p>
            <a:pPr algn="l">
              <a:def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intent filter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2970C09-8785-49E8-AB30-74DA38534006}"/>
              </a:ext>
            </a:extLst>
          </p:cNvPr>
          <p:cNvSpPr>
            <a:spLocks noGrp="1"/>
          </p:cNvSpPr>
          <p:nvPr/>
        </p:nvSpPr>
        <p:spPr>
          <a:xfrm>
            <a:off x="5381625" y="382905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8582B20-5B45-49AE-8FBF-FB4CC699453D}"/>
              </a:ext>
            </a:extLst>
          </p:cNvPr>
          <p:cNvSpPr>
            <a:spLocks noGrp="1"/>
          </p:cNvSpPr>
          <p:nvPr/>
        </p:nvSpPr>
        <p:spPr>
          <a:xfrm>
            <a:off x="5810250" y="3543300"/>
            <a:ext cx="20193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2797659-471C-4B56-AB7D-4D6E2DFA32CB}"/>
              </a:ext>
            </a:extLst>
          </p:cNvPr>
          <p:cNvSpPr>
            <a:spLocks noGrp="1"/>
          </p:cNvSpPr>
          <p:nvPr/>
        </p:nvSpPr>
        <p:spPr>
          <a:xfrm>
            <a:off x="5810250" y="3543300"/>
            <a:ext cx="66675" cy="742950"/>
          </a:xfrm>
          <a:prstGeom prst="rect">
            <a:avLst/>
          </a:prstGeom>
          <a:solidFill>
            <a:srgbClr val="F59A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A17094E-72A0-4142-9395-C99BB0C07900}"/>
              </a:ext>
            </a:extLst>
          </p:cNvPr>
          <p:cNvSpPr>
            <a:spLocks noGrp="1"/>
          </p:cNvSpPr>
          <p:nvPr/>
        </p:nvSpPr>
        <p:spPr>
          <a:xfrm>
            <a:off x="6019800" y="371475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证据片段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B5D5D96-CAF3-4A01-9949-42D8B0FA3989}"/>
              </a:ext>
            </a:extLst>
          </p:cNvPr>
          <p:cNvSpPr>
            <a:spLocks noGrp="1"/>
          </p:cNvSpPr>
          <p:nvPr/>
        </p:nvSpPr>
        <p:spPr>
          <a:xfrm>
            <a:off x="6019800" y="4019550"/>
            <a:ext cx="1657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documentId + score</a:t>
            </a:r>
          </a:p>
          <a:p>
            <a:pPr algn="l">
              <a:def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KnowledgeChunk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18B5384-6A90-410F-8314-3F10B6546929}"/>
              </a:ext>
            </a:extLst>
          </p:cNvPr>
          <p:cNvSpPr>
            <a:spLocks noGrp="1"/>
          </p:cNvSpPr>
          <p:nvPr/>
        </p:nvSpPr>
        <p:spPr>
          <a:xfrm>
            <a:off x="7905750" y="382905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7B65A37-C42D-4F54-B5FE-435740E40626}"/>
              </a:ext>
            </a:extLst>
          </p:cNvPr>
          <p:cNvSpPr>
            <a:spLocks noGrp="1"/>
          </p:cNvSpPr>
          <p:nvPr/>
        </p:nvSpPr>
        <p:spPr>
          <a:xfrm>
            <a:off x="8334375" y="3543300"/>
            <a:ext cx="20193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B4B413C-D6CE-4A8C-9825-F76DE4ACFF74}"/>
              </a:ext>
            </a:extLst>
          </p:cNvPr>
          <p:cNvSpPr>
            <a:spLocks noGrp="1"/>
          </p:cNvSpPr>
          <p:nvPr/>
        </p:nvSpPr>
        <p:spPr>
          <a:xfrm>
            <a:off x="8334375" y="3543300"/>
            <a:ext cx="66675" cy="742950"/>
          </a:xfrm>
          <a:prstGeom prst="rect">
            <a:avLst/>
          </a:prstGeom>
          <a:solidFill>
            <a:srgbClr val="25B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9AFA0BF-11D8-4D14-9E3B-19C0BD82DC13}"/>
              </a:ext>
            </a:extLst>
          </p:cNvPr>
          <p:cNvSpPr>
            <a:spLocks noGrp="1"/>
          </p:cNvSpPr>
          <p:nvPr/>
        </p:nvSpPr>
        <p:spPr>
          <a:xfrm>
            <a:off x="8543925" y="3714750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受控生成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59B7D73-BF54-4334-BA2E-C560330B126A}"/>
              </a:ext>
            </a:extLst>
          </p:cNvPr>
          <p:cNvSpPr>
            <a:spLocks noGrp="1"/>
          </p:cNvSpPr>
          <p:nvPr/>
        </p:nvSpPr>
        <p:spPr>
          <a:xfrm>
            <a:off x="8543925" y="4019550"/>
            <a:ext cx="1657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GroundedPrompt</a:t>
            </a:r>
          </a:p>
          <a:p>
            <a:pPr algn="l">
              <a:def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source ids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FAC4FD2-D079-4F4D-8DA1-1822B0378BCF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4857750" cy="1104900"/>
          </a:xfrm>
          <a:prstGeom prst="rect">
            <a:avLst/>
          </a:prstGeom>
          <a:solidFill>
            <a:srgbClr val="081827"/>
          </a:solidFill>
          <a:ln w="9525">
            <a:solidFill>
              <a:srgbClr val="2342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6889478-DB3C-4324-B17E-9FA89BA9A7D1}"/>
              </a:ext>
            </a:extLst>
          </p:cNvPr>
          <p:cNvSpPr>
            <a:spLocks noGrp="1"/>
          </p:cNvSpPr>
          <p:nvPr/>
        </p:nvSpPr>
        <p:spPr>
          <a:xfrm>
            <a:off x="838200" y="4924425"/>
            <a:ext cx="455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8E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8EC5FF"/>
                </a:solidFill>
                <a:latin typeface="Microsoft YaHei"/>
                <a:ea typeface="Microsoft YaHei"/>
                <a:cs typeface="Microsoft YaHei"/>
              </a:rPr>
              <a:t>真实文档上传 + Milvus 验证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E5A9B4D-2FC9-43E8-878F-C76F5F9BAD5C}"/>
              </a:ext>
            </a:extLst>
          </p:cNvPr>
          <p:cNvSpPr>
            <a:spLocks noGrp="1"/>
          </p:cNvSpPr>
          <p:nvPr/>
        </p:nvSpPr>
        <p:spPr>
          <a:xfrm>
            <a:off x="838200" y="5172075"/>
            <a:ext cx="45529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0">
                <a:solidFill>
                  <a:srgbClr val="E0ECF8"/>
                </a:solidFill>
                <a:latin typeface="Consolas"/>
                <a:ea typeface="Consolas"/>
                <a:cs typeface="Consolas"/>
              </a:defRPr>
            </a:pPr>
            <a:r>
              <a:rPr sz="705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uploadedDocumentId</a:t>
            </a:r>
            <a:r>
              <a:rPr sz="705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=DOC-UPLOAD-NANOBOT-GUIDE</a:t>
            </a:r>
          </a:p>
          <a:p>
            <a:pPr algn="l">
              <a:defRPr sz="705" b="0">
                <a:solidFill>
                  <a:srgbClr val="E0ECF8"/>
                </a:solidFill>
                <a:latin typeface="Consolas"/>
                <a:ea typeface="Consolas"/>
                <a:cs typeface="Consolas"/>
              </a:defRPr>
            </a:pPr>
            <a:r>
              <a:rPr sz="705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chunkCount</a:t>
            </a:r>
            <a:r>
              <a:rPr sz="705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=85</a:t>
            </a:r>
          </a:p>
          <a:p>
            <a:pPr algn="l">
              <a:defRPr sz="705" b="0">
                <a:solidFill>
                  <a:srgbClr val="E0ECF8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confidence=0.8164966</a:t>
            </a:r>
          </a:p>
          <a:p>
            <a:pPr algn="l">
              <a:defRPr sz="705" b="0">
                <a:solidFill>
                  <a:srgbClr val="E0ECF8"/>
                </a:solidFill>
                <a:latin typeface="Consolas"/>
                <a:ea typeface="Consolas"/>
                <a:cs typeface="Consolas"/>
              </a:defRPr>
            </a:pPr>
            <a:r>
              <a:rPr sz="705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sources=[DOC-UPLOAD-NANOBOT-GUIDE]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9AB9E22-5590-479D-8926-24D3578ED6DC}"/>
              </a:ext>
            </a:extLst>
          </p:cNvPr>
          <p:cNvSpPr>
            <a:spLocks noGrp="1"/>
          </p:cNvSpPr>
          <p:nvPr/>
        </p:nvSpPr>
        <p:spPr>
          <a:xfrm>
            <a:off x="6019800" y="4810125"/>
            <a:ext cx="44767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98C9707-714C-4F17-9BBC-480B707FD0BE}"/>
              </a:ext>
            </a:extLst>
          </p:cNvPr>
          <p:cNvSpPr>
            <a:spLocks noGrp="1"/>
          </p:cNvSpPr>
          <p:nvPr/>
        </p:nvSpPr>
        <p:spPr>
          <a:xfrm>
            <a:off x="6019800" y="4810125"/>
            <a:ext cx="66675" cy="1104900"/>
          </a:xfrm>
          <a:prstGeom prst="rect">
            <a:avLst/>
          </a:prstGeom>
          <a:solidFill>
            <a:srgbClr val="F59A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63936A7-A17A-465A-BDBD-4E818A758FCB}"/>
              </a:ext>
            </a:extLst>
          </p:cNvPr>
          <p:cNvSpPr>
            <a:spLocks noGrp="1"/>
          </p:cNvSpPr>
          <p:nvPr/>
        </p:nvSpPr>
        <p:spPr>
          <a:xfrm>
            <a:off x="6229350" y="4981575"/>
            <a:ext cx="413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真实工程问题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E817250-7CAF-4740-B8D3-84D3F9A3B1E7}"/>
              </a:ext>
            </a:extLst>
          </p:cNvPr>
          <p:cNvSpPr>
            <a:spLocks noGrp="1"/>
          </p:cNvSpPr>
          <p:nvPr/>
        </p:nvSpPr>
        <p:spPr>
          <a:xfrm>
            <a:off x="6229350" y="5286375"/>
            <a:ext cx="4114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79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9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中文 Markdown 入 Milvus 时遇到 VARCHAR UTF-8 字节长度限制；已在 DocumentChunker 补充字节级安全切分，避免中文 / 英文 / Markdown 混排文档写入失败。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8847FFB-4C07-443B-9ED6-1AEF376D5333}"/>
              </a:ext>
            </a:extLst>
          </p:cNvPr>
          <p:cNvSpPr>
            <a:spLocks noGrp="1"/>
          </p:cNvSpPr>
          <p:nvPr/>
        </p:nvSpPr>
        <p:spPr>
          <a:xfrm>
            <a:off x="828675" y="6265545"/>
            <a:ext cx="952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err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知识不是写死在答案里，而是经过入库、向量召回、证据约束后再生成</a:t>
            </a:r>
            <a:r>
              <a:rPr sz="127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5" name="Text 4">
            <a:extLst>
              <a:ext uri="{FF2B5EF4-FFF2-40B4-BE49-F238E27FC236}">
                <a16:creationId xmlns:a16="http://schemas.microsoft.com/office/drawing/2014/main" id="{CC34CB32-C705-EB6A-5F5A-43ECD8AD5AD3}"/>
              </a:ext>
            </a:extLst>
          </p:cNvPr>
          <p:cNvSpPr>
            <a:spLocks noGrp="1"/>
          </p:cNvSpPr>
          <p:nvPr/>
        </p:nvSpPr>
        <p:spPr>
          <a:xfrm>
            <a:off x="8686800" y="6510528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7A8797"/>
                </a:solidFill>
                <a:latin typeface="Microsoft YaHei"/>
                <a:ea typeface="Microsoft YaHei"/>
                <a:cs typeface="Microsoft YaHei"/>
              </a:rPr>
              <a:t>华为AI应用开发技术答辩 · 0</a:t>
            </a:r>
            <a:r>
              <a:rPr lang="en-US" sz="750">
                <a:solidFill>
                  <a:srgbClr val="7A8797"/>
                </a:solidFill>
                <a:latin typeface="Microsoft YaHei"/>
                <a:ea typeface="Microsoft YaHei"/>
                <a:cs typeface="Microsoft YaHei"/>
              </a:rPr>
              <a:t>6</a:t>
            </a:r>
            <a:endParaRPr sz="750">
              <a:solidFill>
                <a:srgbClr val="7A8797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67989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3814F77D-ACE0-45B1-BA81-49C8EF5E83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EAA1D8-7AFD-46DA-8778-D82C007C769B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MEMORY &amp; GOVERNANCE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558789-4B41-44D0-9733-9CCEC775EC8B}"/>
              </a:ext>
            </a:extLst>
          </p:cNvPr>
          <p:cNvSpPr>
            <a:spLocks noGrp="1"/>
          </p:cNvSpPr>
          <p:nvPr/>
        </p:nvSpPr>
        <p:spPr>
          <a:xfrm>
            <a:off x="361950" y="628650"/>
            <a:ext cx="1047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Redis 记忆、Prompt 约束与 MySQL 审计形成结果治理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929C77-FC55-495B-9FDE-710BD7269C6E}"/>
              </a:ext>
            </a:extLst>
          </p:cNvPr>
          <p:cNvSpPr>
            <a:spLocks noGrp="1"/>
          </p:cNvSpPr>
          <p:nvPr/>
        </p:nvSpPr>
        <p:spPr>
          <a:xfrm>
            <a:off x="361950" y="1200150"/>
            <a:ext cx="11468100" cy="11430"/>
          </a:xfrm>
          <a:prstGeom prst="rect">
            <a:avLst/>
          </a:prstGeom>
          <a:solidFill>
            <a:srgbClr val="D7E1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6EDEBC-D9E2-4A35-B8E5-D7A889CAF816}"/>
              </a:ext>
            </a:extLst>
          </p:cNvPr>
          <p:cNvSpPr>
            <a:spLocks noGrp="1"/>
          </p:cNvSpPr>
          <p:nvPr/>
        </p:nvSpPr>
        <p:spPr>
          <a:xfrm>
            <a:off x="647700" y="1466850"/>
            <a:ext cx="2381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9EECB1-A292-4868-8EB6-BF0BD16EAAF1}"/>
              </a:ext>
            </a:extLst>
          </p:cNvPr>
          <p:cNvSpPr>
            <a:spLocks noGrp="1"/>
          </p:cNvSpPr>
          <p:nvPr/>
        </p:nvSpPr>
        <p:spPr>
          <a:xfrm>
            <a:off x="647700" y="1466850"/>
            <a:ext cx="66675" cy="1123950"/>
          </a:xfrm>
          <a:prstGeom prst="rect">
            <a:avLst/>
          </a:prstGeom>
          <a:solidFill>
            <a:srgbClr val="1769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F30BC0-C4CC-4590-9C78-B8CA5E994023}"/>
              </a:ext>
            </a:extLst>
          </p:cNvPr>
          <p:cNvSpPr>
            <a:spLocks noGrp="1"/>
          </p:cNvSpPr>
          <p:nvPr/>
        </p:nvSpPr>
        <p:spPr>
          <a:xfrm>
            <a:off x="857250" y="16383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Redis 多轮记忆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550BA1-5703-4D2D-9D11-3851978DBCE9}"/>
              </a:ext>
            </a:extLst>
          </p:cNvPr>
          <p:cNvSpPr>
            <a:spLocks noGrp="1"/>
          </p:cNvSpPr>
          <p:nvPr/>
        </p:nvSpPr>
        <p:spPr>
          <a:xfrm>
            <a:off x="857250" y="1943100"/>
            <a:ext cx="2019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key: customer-service:conversation:&lt;sessionId&gt;</a:t>
            </a:r>
          </a:p>
          <a:p>
            <a:pPr algn="l">
              <a:def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保存 summary、activeIntent、status、turns</a:t>
            </a:r>
          </a:p>
          <a:p>
            <a:pPr algn="l">
              <a:def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支持连续追问和会话状态恢复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96D036-BA8D-4B78-8281-259B91010108}"/>
              </a:ext>
            </a:extLst>
          </p:cNvPr>
          <p:cNvSpPr>
            <a:spLocks noGrp="1"/>
          </p:cNvSpPr>
          <p:nvPr/>
        </p:nvSpPr>
        <p:spPr>
          <a:xfrm>
            <a:off x="3314700" y="1466850"/>
            <a:ext cx="2381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2687E0-90C6-4CED-A0C2-56961F338180}"/>
              </a:ext>
            </a:extLst>
          </p:cNvPr>
          <p:cNvSpPr>
            <a:spLocks noGrp="1"/>
          </p:cNvSpPr>
          <p:nvPr/>
        </p:nvSpPr>
        <p:spPr>
          <a:xfrm>
            <a:off x="3314700" y="1466850"/>
            <a:ext cx="66675" cy="1123950"/>
          </a:xfrm>
          <a:prstGeom prst="rect">
            <a:avLst/>
          </a:prstGeom>
          <a:solidFill>
            <a:srgbClr val="18A7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19C54C-2B43-468D-8790-415624DA7F96}"/>
              </a:ext>
            </a:extLst>
          </p:cNvPr>
          <p:cNvSpPr>
            <a:spLocks noGrp="1"/>
          </p:cNvSpPr>
          <p:nvPr/>
        </p:nvSpPr>
        <p:spPr>
          <a:xfrm>
            <a:off x="3524250" y="16383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Prompt 内置 Skill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9871C1-1D78-4C06-9F33-A82471DEEE47}"/>
              </a:ext>
            </a:extLst>
          </p:cNvPr>
          <p:cNvSpPr>
            <a:spLocks noGrp="1"/>
          </p:cNvSpPr>
          <p:nvPr/>
        </p:nvSpPr>
        <p:spPr>
          <a:xfrm>
            <a:off x="3524250" y="1943100"/>
            <a:ext cx="2019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PromptTemplateBuilder</a:t>
            </a:r>
          </a:p>
          <a:p>
            <a:pPr algn="l">
              <a:def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注入 evidence block、source ids、confidence gate</a:t>
            </a:r>
          </a:p>
          <a:p>
            <a:pPr algn="l">
              <a:def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约束模型只能基于证据回答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A53670-B344-4360-ACA4-89F8212CF594}"/>
              </a:ext>
            </a:extLst>
          </p:cNvPr>
          <p:cNvSpPr>
            <a:spLocks noGrp="1"/>
          </p:cNvSpPr>
          <p:nvPr/>
        </p:nvSpPr>
        <p:spPr>
          <a:xfrm>
            <a:off x="5981700" y="1466850"/>
            <a:ext cx="2381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96AAA8-C133-4C73-8ABB-9B569ACD6C85}"/>
              </a:ext>
            </a:extLst>
          </p:cNvPr>
          <p:cNvSpPr>
            <a:spLocks noGrp="1"/>
          </p:cNvSpPr>
          <p:nvPr/>
        </p:nvSpPr>
        <p:spPr>
          <a:xfrm>
            <a:off x="5981700" y="1466850"/>
            <a:ext cx="66675" cy="1123950"/>
          </a:xfrm>
          <a:prstGeom prst="rect">
            <a:avLst/>
          </a:prstGeom>
          <a:solidFill>
            <a:srgbClr val="F59A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753B1B4-1FA5-43FA-A520-621E426C0031}"/>
              </a:ext>
            </a:extLst>
          </p:cNvPr>
          <p:cNvSpPr>
            <a:spLocks noGrp="1"/>
          </p:cNvSpPr>
          <p:nvPr/>
        </p:nvSpPr>
        <p:spPr>
          <a:xfrm>
            <a:off x="6191250" y="16383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MySQL 审计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638B9C6-8A3A-491F-A34C-A2D487E51C5F}"/>
              </a:ext>
            </a:extLst>
          </p:cNvPr>
          <p:cNvSpPr>
            <a:spLocks noGrp="1"/>
          </p:cNvSpPr>
          <p:nvPr/>
        </p:nvSpPr>
        <p:spPr>
          <a:xfrm>
            <a:off x="6191250" y="1943100"/>
            <a:ext cx="2019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MyBatisPlusKnowledgeAuditRepository</a:t>
            </a:r>
          </a:p>
          <a:p>
            <a:pPr algn="l">
              <a:def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管理文档元数据、QA 日志、用户反馈</a:t>
            </a:r>
          </a:p>
          <a:p>
            <a:pPr algn="l">
              <a:def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用于问题追踪和效果复盘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7BF62BC-2A18-4BF5-A1AD-CB91CD9C953D}"/>
              </a:ext>
            </a:extLst>
          </p:cNvPr>
          <p:cNvSpPr>
            <a:spLocks noGrp="1"/>
          </p:cNvSpPr>
          <p:nvPr/>
        </p:nvSpPr>
        <p:spPr>
          <a:xfrm>
            <a:off x="8648700" y="1466850"/>
            <a:ext cx="2381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81AB10-7D22-4952-BDEA-225ACC2EE3DD}"/>
              </a:ext>
            </a:extLst>
          </p:cNvPr>
          <p:cNvSpPr>
            <a:spLocks noGrp="1"/>
          </p:cNvSpPr>
          <p:nvPr/>
        </p:nvSpPr>
        <p:spPr>
          <a:xfrm>
            <a:off x="8648700" y="1466850"/>
            <a:ext cx="66675" cy="1123950"/>
          </a:xfrm>
          <a:prstGeom prst="rect">
            <a:avLst/>
          </a:prstGeom>
          <a:solidFill>
            <a:srgbClr val="25B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7D5825-14EE-42FF-BF61-F2754D2D34C6}"/>
              </a:ext>
            </a:extLst>
          </p:cNvPr>
          <p:cNvSpPr>
            <a:spLocks noGrp="1"/>
          </p:cNvSpPr>
          <p:nvPr/>
        </p:nvSpPr>
        <p:spPr>
          <a:xfrm>
            <a:off x="8858250" y="1638300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质量闭环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92532D-29BC-4132-985B-E58064C29A54}"/>
              </a:ext>
            </a:extLst>
          </p:cNvPr>
          <p:cNvSpPr>
            <a:spLocks noGrp="1"/>
          </p:cNvSpPr>
          <p:nvPr/>
        </p:nvSpPr>
        <p:spPr>
          <a:xfrm>
            <a:off x="8858250" y="1943100"/>
            <a:ext cx="2019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trace 记录每一步决策</a:t>
            </a:r>
          </a:p>
          <a:p>
            <a:pPr algn="l">
              <a:def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低置信度受控回答</a:t>
            </a:r>
          </a:p>
          <a:p>
            <a:pPr algn="l">
              <a:def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反馈定位知识缺口和策略问题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AB9D003-0493-4BF4-97A0-B31BC2492EC3}"/>
              </a:ext>
            </a:extLst>
          </p:cNvPr>
          <p:cNvSpPr>
            <a:spLocks noGrp="1"/>
          </p:cNvSpPr>
          <p:nvPr/>
        </p:nvSpPr>
        <p:spPr>
          <a:xfrm>
            <a:off x="685800" y="3171825"/>
            <a:ext cx="4857750" cy="1390650"/>
          </a:xfrm>
          <a:prstGeom prst="rect">
            <a:avLst/>
          </a:prstGeom>
          <a:solidFill>
            <a:srgbClr val="081827"/>
          </a:solidFill>
          <a:ln w="9525">
            <a:solidFill>
              <a:srgbClr val="2342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8481D06-93A8-41F3-8C77-AFBFBBC72A14}"/>
              </a:ext>
            </a:extLst>
          </p:cNvPr>
          <p:cNvSpPr>
            <a:spLocks noGrp="1"/>
          </p:cNvSpPr>
          <p:nvPr/>
        </p:nvSpPr>
        <p:spPr>
          <a:xfrm>
            <a:off x="838200" y="3286125"/>
            <a:ext cx="455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8E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EC5FF"/>
                </a:solidFill>
                <a:latin typeface="Microsoft YaHei"/>
                <a:ea typeface="Microsoft YaHei"/>
                <a:cs typeface="Microsoft YaHei"/>
              </a:rPr>
              <a:t>Docker Redis </a:t>
            </a:r>
            <a:r>
              <a:rPr sz="1200" b="1" err="1">
                <a:solidFill>
                  <a:srgbClr val="8EC5FF"/>
                </a:solidFill>
                <a:latin typeface="Microsoft YaHei"/>
                <a:ea typeface="Microsoft YaHei"/>
                <a:cs typeface="Microsoft YaHei"/>
              </a:rPr>
              <a:t>多轮追问验证</a:t>
            </a:r>
            <a:endParaRPr sz="1200" b="1">
              <a:solidFill>
                <a:srgbClr val="8EC5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BA035F0-615A-4A6D-9A42-0C6C2E052218}"/>
              </a:ext>
            </a:extLst>
          </p:cNvPr>
          <p:cNvSpPr>
            <a:spLocks noGrp="1"/>
          </p:cNvSpPr>
          <p:nvPr/>
        </p:nvSpPr>
        <p:spPr>
          <a:xfrm>
            <a:off x="838200" y="3533775"/>
            <a:ext cx="45529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0">
                <a:solidFill>
                  <a:srgbClr val="E0ECF8"/>
                </a:solidFill>
                <a:latin typeface="Consolas"/>
                <a:ea typeface="Consolas"/>
                <a:cs typeface="Consolas"/>
              </a:defRPr>
            </a:pPr>
            <a:r>
              <a:rPr lang="en-US" sz="900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followUpTrace</a:t>
            </a:r>
            <a:r>
              <a:rPr sz="900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=[..., </a:t>
            </a:r>
            <a:r>
              <a:rPr sz="900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memory_loaded</a:t>
            </a:r>
            <a:r>
              <a:rPr sz="900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00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follow_up_resolved</a:t>
            </a:r>
            <a:r>
              <a:rPr sz="900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, ...]</a:t>
            </a:r>
          </a:p>
          <a:p>
            <a:pPr algn="l">
              <a:defRPr sz="705" b="0">
                <a:solidFill>
                  <a:srgbClr val="E0ECF8"/>
                </a:solidFill>
                <a:latin typeface="Consolas"/>
                <a:ea typeface="Consolas"/>
                <a:cs typeface="Consolas"/>
              </a:defRPr>
            </a:pPr>
            <a:r>
              <a:rPr sz="900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persistedStatus</a:t>
            </a:r>
            <a:r>
              <a:rPr sz="900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=ACTIVE</a:t>
            </a:r>
          </a:p>
          <a:p>
            <a:pPr algn="l">
              <a:defRPr sz="705" b="0">
                <a:solidFill>
                  <a:srgbClr val="E0ECF8"/>
                </a:solidFill>
                <a:latin typeface="Consolas"/>
                <a:ea typeface="Consolas"/>
                <a:cs typeface="Consolas"/>
              </a:defRPr>
            </a:pPr>
            <a:r>
              <a:rPr sz="900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activeIntent</a:t>
            </a:r>
            <a:r>
              <a:rPr sz="900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900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after_sales</a:t>
            </a:r>
            <a:endParaRPr sz="900" b="0">
              <a:solidFill>
                <a:srgbClr val="E0ECF8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05" b="0">
                <a:solidFill>
                  <a:srgbClr val="E0ECF8"/>
                </a:solidFill>
                <a:latin typeface="Consolas"/>
                <a:ea typeface="Consolas"/>
                <a:cs typeface="Consolas"/>
              </a:defRPr>
            </a:pPr>
            <a:r>
              <a:rPr sz="900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turnCount</a:t>
            </a:r>
            <a:r>
              <a:rPr sz="900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=2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274EA43-525A-4095-A895-E76CD735D312}"/>
              </a:ext>
            </a:extLst>
          </p:cNvPr>
          <p:cNvSpPr>
            <a:spLocks noGrp="1"/>
          </p:cNvSpPr>
          <p:nvPr/>
        </p:nvSpPr>
        <p:spPr>
          <a:xfrm>
            <a:off x="6019800" y="3171825"/>
            <a:ext cx="4286250" cy="1390650"/>
          </a:xfrm>
          <a:prstGeom prst="rect">
            <a:avLst/>
          </a:prstGeom>
          <a:solidFill>
            <a:srgbClr val="081827"/>
          </a:solidFill>
          <a:ln w="9525">
            <a:solidFill>
              <a:srgbClr val="2342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63CF10F-0365-4CF3-9CC2-A5325B9E079A}"/>
              </a:ext>
            </a:extLst>
          </p:cNvPr>
          <p:cNvSpPr>
            <a:spLocks noGrp="1"/>
          </p:cNvSpPr>
          <p:nvPr/>
        </p:nvSpPr>
        <p:spPr>
          <a:xfrm>
            <a:off x="6172200" y="3286125"/>
            <a:ext cx="398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8E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EC5FF"/>
                </a:solidFill>
                <a:latin typeface="Microsoft YaHei"/>
                <a:ea typeface="Microsoft YaHei"/>
                <a:cs typeface="Microsoft YaHei"/>
              </a:rPr>
              <a:t>Docker MySQL </a:t>
            </a:r>
            <a:r>
              <a:rPr sz="1200" b="1" err="1">
                <a:solidFill>
                  <a:srgbClr val="8EC5FF"/>
                </a:solidFill>
                <a:latin typeface="Microsoft YaHei"/>
                <a:ea typeface="Microsoft YaHei"/>
                <a:cs typeface="Microsoft YaHei"/>
              </a:rPr>
              <a:t>审计验证</a:t>
            </a:r>
            <a:endParaRPr sz="1200" b="1">
              <a:solidFill>
                <a:srgbClr val="8EC5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D41C484-121A-467B-8298-4747984A8F13}"/>
              </a:ext>
            </a:extLst>
          </p:cNvPr>
          <p:cNvSpPr>
            <a:spLocks noGrp="1"/>
          </p:cNvSpPr>
          <p:nvPr/>
        </p:nvSpPr>
        <p:spPr>
          <a:xfrm>
            <a:off x="6172200" y="3533775"/>
            <a:ext cx="39814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0">
                <a:solidFill>
                  <a:srgbClr val="E0ECF8"/>
                </a:solidFill>
                <a:latin typeface="Consolas"/>
                <a:ea typeface="Consolas"/>
                <a:cs typeface="Consolas"/>
              </a:defRPr>
            </a:pPr>
            <a:r>
              <a:rPr sz="900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documentCount</a:t>
            </a:r>
            <a:r>
              <a:rPr sz="900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=3</a:t>
            </a:r>
          </a:p>
          <a:p>
            <a:pPr algn="l">
              <a:defRPr sz="705" b="0">
                <a:solidFill>
                  <a:srgbClr val="E0ECF8"/>
                </a:solidFill>
                <a:latin typeface="Consolas"/>
                <a:ea typeface="Consolas"/>
                <a:cs typeface="Consolas"/>
              </a:defRPr>
            </a:pPr>
            <a:r>
              <a:rPr sz="900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qaLogCount</a:t>
            </a:r>
            <a:r>
              <a:rPr sz="900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=1</a:t>
            </a:r>
          </a:p>
          <a:p>
            <a:pPr algn="l">
              <a:defRPr sz="705" b="0">
                <a:solidFill>
                  <a:srgbClr val="E0ECF8"/>
                </a:solidFill>
                <a:latin typeface="Consolas"/>
                <a:ea typeface="Consolas"/>
                <a:cs typeface="Consolas"/>
              </a:defRPr>
            </a:pPr>
            <a:r>
              <a:rPr sz="900" b="0" err="1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feedbackCount</a:t>
            </a:r>
            <a:r>
              <a:rPr sz="900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=1</a:t>
            </a:r>
          </a:p>
          <a:p>
            <a:pPr algn="l">
              <a:defRPr sz="705" b="0">
                <a:solidFill>
                  <a:srgbClr val="E0ECF8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E0ECF8"/>
                </a:solidFill>
                <a:latin typeface="Consolas"/>
                <a:ea typeface="Consolas"/>
                <a:cs typeface="Consolas"/>
              </a:rPr>
              <a:t>sources=[DOC-001]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D700A59-52FF-4FE5-8AE6-F58A15E4402B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9620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3CAC337-6E17-42B9-94EC-47E55DA51EB4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45719" cy="876300"/>
          </a:xfrm>
          <a:prstGeom prst="rect">
            <a:avLst/>
          </a:prstGeom>
          <a:solidFill>
            <a:srgbClr val="1769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86842AE-602F-46A1-881C-C5168CB53F2B}"/>
              </a:ext>
            </a:extLst>
          </p:cNvPr>
          <p:cNvSpPr>
            <a:spLocks noGrp="1"/>
          </p:cNvSpPr>
          <p:nvPr/>
        </p:nvSpPr>
        <p:spPr>
          <a:xfrm>
            <a:off x="895350" y="5238750"/>
            <a:ext cx="927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上下文压缩边界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367B957-A556-40B6-943C-C73FACD889C0}"/>
              </a:ext>
            </a:extLst>
          </p:cNvPr>
          <p:cNvSpPr>
            <a:spLocks noGrp="1"/>
          </p:cNvSpPr>
          <p:nvPr/>
        </p:nvSpPr>
        <p:spPr>
          <a:xfrm>
            <a:off x="895350" y="5543550"/>
            <a:ext cx="9258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当前实现是轻量摘要式压缩：summary 只用于追问消解和 activeIntent 延续，不作为事实来源；事实依据仍然必须来自 RAG 召回的 evidence block。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0BE99B7-65F8-49C7-9B3D-04F9E2D5A2AF}"/>
              </a:ext>
            </a:extLst>
          </p:cNvPr>
          <p:cNvSpPr>
            <a:spLocks noGrp="1"/>
          </p:cNvSpPr>
          <p:nvPr/>
        </p:nvSpPr>
        <p:spPr>
          <a:xfrm>
            <a:off x="857250" y="6105525"/>
            <a:ext cx="952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治理链路让系统不只“</a:t>
            </a:r>
            <a:r>
              <a:rPr sz="1275" b="1" err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能回答</a:t>
            </a:r>
            <a:r>
              <a:rPr sz="127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”，</a:t>
            </a:r>
            <a:r>
              <a:rPr sz="1275" b="1" err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还能够解释依据、追踪问题、持续迭代</a:t>
            </a:r>
            <a:r>
              <a:rPr sz="1275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A49507CB-5498-255D-3CBB-412209A845A1}"/>
              </a:ext>
            </a:extLst>
          </p:cNvPr>
          <p:cNvSpPr>
            <a:spLocks noGrp="1"/>
          </p:cNvSpPr>
          <p:nvPr/>
        </p:nvSpPr>
        <p:spPr>
          <a:xfrm>
            <a:off x="8686800" y="6510528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7A8797"/>
                </a:solidFill>
                <a:latin typeface="Microsoft YaHei"/>
                <a:ea typeface="Microsoft YaHei"/>
                <a:cs typeface="Microsoft YaHei"/>
              </a:rPr>
              <a:t>华为AI应用开发技术答辩 · 0</a:t>
            </a:r>
            <a:r>
              <a:rPr lang="en-US" sz="750">
                <a:solidFill>
                  <a:srgbClr val="7A8797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750">
              <a:solidFill>
                <a:srgbClr val="7A8797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77877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DBB246A4-05C8-4AD9-9AE0-8CC99A3DB8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EE97BC-0A99-4FAB-A1AE-4FEFF2BAFCF4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CLOSED LOOP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1761B7-1ED1-4129-9DD4-F121A26DADD3}"/>
              </a:ext>
            </a:extLst>
          </p:cNvPr>
          <p:cNvSpPr>
            <a:spLocks noGrp="1"/>
          </p:cNvSpPr>
          <p:nvPr/>
        </p:nvSpPr>
        <p:spPr>
          <a:xfrm>
            <a:off x="361950" y="628650"/>
            <a:ext cx="1047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工程闭环验证：从源码拆解到可运行 AI 应用链路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98F256-B8B6-44A9-9557-45AE07B8ECC8}"/>
              </a:ext>
            </a:extLst>
          </p:cNvPr>
          <p:cNvSpPr>
            <a:spLocks noGrp="1"/>
          </p:cNvSpPr>
          <p:nvPr/>
        </p:nvSpPr>
        <p:spPr>
          <a:xfrm>
            <a:off x="361950" y="1200150"/>
            <a:ext cx="11468100" cy="11430"/>
          </a:xfrm>
          <a:prstGeom prst="rect">
            <a:avLst/>
          </a:prstGeom>
          <a:solidFill>
            <a:srgbClr val="D7E1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DF3DDF-FD1B-4468-A8F4-7D2805950698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1619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B785B3-6496-46CE-A765-AD6CDCD3AF52}"/>
              </a:ext>
            </a:extLst>
          </p:cNvPr>
          <p:cNvSpPr>
            <a:spLocks noGrp="1"/>
          </p:cNvSpPr>
          <p:nvPr/>
        </p:nvSpPr>
        <p:spPr>
          <a:xfrm>
            <a:off x="514350" y="1466850"/>
            <a:ext cx="66675" cy="781050"/>
          </a:xfrm>
          <a:prstGeom prst="rect">
            <a:avLst/>
          </a:prstGeom>
          <a:solidFill>
            <a:srgbClr val="1769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857D88-5266-4074-B228-7AD6178E7D7F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用户问题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18941D-DB35-4001-A49F-8BE354CC7A81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682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2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ChatRequest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4F942B-D58B-461A-8715-6193C38C9225}"/>
              </a:ext>
            </a:extLst>
          </p:cNvPr>
          <p:cNvSpPr>
            <a:spLocks noGrp="1"/>
          </p:cNvSpPr>
          <p:nvPr/>
        </p:nvSpPr>
        <p:spPr>
          <a:xfrm>
            <a:off x="2209800" y="17430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212366-E7BE-42AE-8823-B5F4601E7824}"/>
              </a:ext>
            </a:extLst>
          </p:cNvPr>
          <p:cNvSpPr>
            <a:spLocks noGrp="1"/>
          </p:cNvSpPr>
          <p:nvPr/>
        </p:nvSpPr>
        <p:spPr>
          <a:xfrm>
            <a:off x="2419350" y="1466850"/>
            <a:ext cx="1619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57F58F-9F82-4AC3-809C-86BEDFA8C4F4}"/>
              </a:ext>
            </a:extLst>
          </p:cNvPr>
          <p:cNvSpPr>
            <a:spLocks noGrp="1"/>
          </p:cNvSpPr>
          <p:nvPr/>
        </p:nvSpPr>
        <p:spPr>
          <a:xfrm>
            <a:off x="2419350" y="1466850"/>
            <a:ext cx="66675" cy="781050"/>
          </a:xfrm>
          <a:prstGeom prst="rect">
            <a:avLst/>
          </a:prstGeom>
          <a:solidFill>
            <a:srgbClr val="25B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0FFD32-B3E0-46B0-AAEB-8B41790BAB69}"/>
              </a:ext>
            </a:extLst>
          </p:cNvPr>
          <p:cNvSpPr>
            <a:spLocks noGrp="1"/>
          </p:cNvSpPr>
          <p:nvPr/>
        </p:nvSpPr>
        <p:spPr>
          <a:xfrm>
            <a:off x="2628900" y="16383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记忆加载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8AC9389-25EC-4EAA-9CBC-D5EC5B2F0941}"/>
              </a:ext>
            </a:extLst>
          </p:cNvPr>
          <p:cNvSpPr>
            <a:spLocks noGrp="1"/>
          </p:cNvSpPr>
          <p:nvPr/>
        </p:nvSpPr>
        <p:spPr>
          <a:xfrm>
            <a:off x="2628900" y="19431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682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2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Redis summary / intent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D88EDF2-4193-478E-B150-63EF4A16DCC9}"/>
              </a:ext>
            </a:extLst>
          </p:cNvPr>
          <p:cNvSpPr>
            <a:spLocks noGrp="1"/>
          </p:cNvSpPr>
          <p:nvPr/>
        </p:nvSpPr>
        <p:spPr>
          <a:xfrm>
            <a:off x="4114800" y="17430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728F07C-2538-46DC-8504-66229F30705D}"/>
              </a:ext>
            </a:extLst>
          </p:cNvPr>
          <p:cNvSpPr>
            <a:spLocks noGrp="1"/>
          </p:cNvSpPr>
          <p:nvPr/>
        </p:nvSpPr>
        <p:spPr>
          <a:xfrm>
            <a:off x="4324350" y="1466850"/>
            <a:ext cx="1619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3491ED-D8E0-4A82-A328-57F00A60EE2F}"/>
              </a:ext>
            </a:extLst>
          </p:cNvPr>
          <p:cNvSpPr>
            <a:spLocks noGrp="1"/>
          </p:cNvSpPr>
          <p:nvPr/>
        </p:nvSpPr>
        <p:spPr>
          <a:xfrm>
            <a:off x="4324350" y="1466850"/>
            <a:ext cx="66675" cy="781050"/>
          </a:xfrm>
          <a:prstGeom prst="rect">
            <a:avLst/>
          </a:prstGeom>
          <a:solidFill>
            <a:srgbClr val="18A7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6AE19DA-BA58-48A0-B9FA-23224267B182}"/>
              </a:ext>
            </a:extLst>
          </p:cNvPr>
          <p:cNvSpPr>
            <a:spLocks noGrp="1"/>
          </p:cNvSpPr>
          <p:nvPr/>
        </p:nvSpPr>
        <p:spPr>
          <a:xfrm>
            <a:off x="4533900" y="16383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状态机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6DCEBC4-B4F0-45E2-ABB4-AA455B09D57A}"/>
              </a:ext>
            </a:extLst>
          </p:cNvPr>
          <p:cNvSpPr>
            <a:spLocks noGrp="1"/>
          </p:cNvSpPr>
          <p:nvPr/>
        </p:nvSpPr>
        <p:spPr>
          <a:xfrm>
            <a:off x="4533900" y="19431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682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2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Multi Agent orchestration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C92242B-3101-43B8-A710-1B27BCDDC5E7}"/>
              </a:ext>
            </a:extLst>
          </p:cNvPr>
          <p:cNvSpPr>
            <a:spLocks noGrp="1"/>
          </p:cNvSpPr>
          <p:nvPr/>
        </p:nvSpPr>
        <p:spPr>
          <a:xfrm>
            <a:off x="6019800" y="17430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C43BE46-8D19-447F-BCC6-3DD29B6DE9DE}"/>
              </a:ext>
            </a:extLst>
          </p:cNvPr>
          <p:cNvSpPr>
            <a:spLocks noGrp="1"/>
          </p:cNvSpPr>
          <p:nvPr/>
        </p:nvSpPr>
        <p:spPr>
          <a:xfrm>
            <a:off x="6229350" y="1466850"/>
            <a:ext cx="1619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17196A3-C02E-43D9-8B44-A85B564BC97D}"/>
              </a:ext>
            </a:extLst>
          </p:cNvPr>
          <p:cNvSpPr>
            <a:spLocks noGrp="1"/>
          </p:cNvSpPr>
          <p:nvPr/>
        </p:nvSpPr>
        <p:spPr>
          <a:xfrm>
            <a:off x="6229350" y="1466850"/>
            <a:ext cx="66675" cy="781050"/>
          </a:xfrm>
          <a:prstGeom prst="rect">
            <a:avLst/>
          </a:prstGeom>
          <a:solidFill>
            <a:srgbClr val="F59A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641894-9835-4FDF-B081-15DD80783FDE}"/>
              </a:ext>
            </a:extLst>
          </p:cNvPr>
          <p:cNvSpPr>
            <a:spLocks noGrp="1"/>
          </p:cNvSpPr>
          <p:nvPr/>
        </p:nvSpPr>
        <p:spPr>
          <a:xfrm>
            <a:off x="6438900" y="16383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知识召回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20513B3-CCC6-4C7B-AA54-2F6C1B05411A}"/>
              </a:ext>
            </a:extLst>
          </p:cNvPr>
          <p:cNvSpPr>
            <a:spLocks noGrp="1"/>
          </p:cNvSpPr>
          <p:nvPr/>
        </p:nvSpPr>
        <p:spPr>
          <a:xfrm>
            <a:off x="6438900" y="19431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682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2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Milvus TopK evidence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D2376E3-B402-4029-A834-B357EBF37E36}"/>
              </a:ext>
            </a:extLst>
          </p:cNvPr>
          <p:cNvSpPr>
            <a:spLocks noGrp="1"/>
          </p:cNvSpPr>
          <p:nvPr/>
        </p:nvSpPr>
        <p:spPr>
          <a:xfrm>
            <a:off x="7924800" y="17430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56B1146-6432-4966-9980-E39E717048ED}"/>
              </a:ext>
            </a:extLst>
          </p:cNvPr>
          <p:cNvSpPr>
            <a:spLocks noGrp="1"/>
          </p:cNvSpPr>
          <p:nvPr/>
        </p:nvSpPr>
        <p:spPr>
          <a:xfrm>
            <a:off x="8134350" y="1466850"/>
            <a:ext cx="1619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522779F-225C-4849-B2B1-F5378CD4FC58}"/>
              </a:ext>
            </a:extLst>
          </p:cNvPr>
          <p:cNvSpPr>
            <a:spLocks noGrp="1"/>
          </p:cNvSpPr>
          <p:nvPr/>
        </p:nvSpPr>
        <p:spPr>
          <a:xfrm>
            <a:off x="8134350" y="1466850"/>
            <a:ext cx="66675" cy="781050"/>
          </a:xfrm>
          <a:prstGeom prst="rect">
            <a:avLst/>
          </a:prstGeom>
          <a:solidFill>
            <a:srgbClr val="1769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D2DA9DA-421F-4FE9-A9C6-D3F8B4C85B3E}"/>
              </a:ext>
            </a:extLst>
          </p:cNvPr>
          <p:cNvSpPr>
            <a:spLocks noGrp="1"/>
          </p:cNvSpPr>
          <p:nvPr/>
        </p:nvSpPr>
        <p:spPr>
          <a:xfrm>
            <a:off x="8343900" y="16383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受控生成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5957FEF-C57E-410B-BDDA-6CFDDC107065}"/>
              </a:ext>
            </a:extLst>
          </p:cNvPr>
          <p:cNvSpPr>
            <a:spLocks noGrp="1"/>
          </p:cNvSpPr>
          <p:nvPr/>
        </p:nvSpPr>
        <p:spPr>
          <a:xfrm>
            <a:off x="8343900" y="19431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682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2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GroundedPrompt / Qwen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6C969A5-9A89-484C-8B3C-713D92F73009}"/>
              </a:ext>
            </a:extLst>
          </p:cNvPr>
          <p:cNvSpPr>
            <a:spLocks noGrp="1"/>
          </p:cNvSpPr>
          <p:nvPr/>
        </p:nvSpPr>
        <p:spPr>
          <a:xfrm>
            <a:off x="9829800" y="17430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69E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FB52FED-0B64-4257-95E0-724275EE4CF5}"/>
              </a:ext>
            </a:extLst>
          </p:cNvPr>
          <p:cNvSpPr>
            <a:spLocks noGrp="1"/>
          </p:cNvSpPr>
          <p:nvPr/>
        </p:nvSpPr>
        <p:spPr>
          <a:xfrm>
            <a:off x="10039350" y="1466850"/>
            <a:ext cx="1619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A06282F-44CB-4BF6-89D0-112918024C09}"/>
              </a:ext>
            </a:extLst>
          </p:cNvPr>
          <p:cNvSpPr>
            <a:spLocks noGrp="1"/>
          </p:cNvSpPr>
          <p:nvPr/>
        </p:nvSpPr>
        <p:spPr>
          <a:xfrm>
            <a:off x="10039350" y="1466850"/>
            <a:ext cx="66675" cy="781050"/>
          </a:xfrm>
          <a:prstGeom prst="rect">
            <a:avLst/>
          </a:prstGeom>
          <a:solidFill>
            <a:srgbClr val="18A7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F164FD9-417D-4238-A21C-199A05EE5C84}"/>
              </a:ext>
            </a:extLst>
          </p:cNvPr>
          <p:cNvSpPr>
            <a:spLocks noGrp="1"/>
          </p:cNvSpPr>
          <p:nvPr/>
        </p:nvSpPr>
        <p:spPr>
          <a:xfrm>
            <a:off x="10248900" y="16383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日志反馈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84DC8B2-C5F6-4530-8DD4-2E64BF319BFD}"/>
              </a:ext>
            </a:extLst>
          </p:cNvPr>
          <p:cNvSpPr>
            <a:spLocks noGrp="1"/>
          </p:cNvSpPr>
          <p:nvPr/>
        </p:nvSpPr>
        <p:spPr>
          <a:xfrm>
            <a:off x="10248900" y="19431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682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2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MySQL QA log / feedback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9E2B448-FBBB-4111-B6EC-998E392CBE6C}"/>
              </a:ext>
            </a:extLst>
          </p:cNvPr>
          <p:cNvSpPr>
            <a:spLocks noGrp="1"/>
          </p:cNvSpPr>
          <p:nvPr/>
        </p:nvSpPr>
        <p:spPr>
          <a:xfrm>
            <a:off x="666750" y="2886075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已打通验证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5B134EE-D2AC-4A83-854E-9305EE202DE8}"/>
              </a:ext>
            </a:extLst>
          </p:cNvPr>
          <p:cNvSpPr>
            <a:spLocks noGrp="1"/>
          </p:cNvSpPr>
          <p:nvPr/>
        </p:nvSpPr>
        <p:spPr>
          <a:xfrm>
            <a:off x="666750" y="3352800"/>
            <a:ext cx="233362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108AC40-6C86-47E9-B260-9EC0C72807DE}"/>
              </a:ext>
            </a:extLst>
          </p:cNvPr>
          <p:cNvSpPr>
            <a:spLocks noGrp="1"/>
          </p:cNvSpPr>
          <p:nvPr/>
        </p:nvSpPr>
        <p:spPr>
          <a:xfrm>
            <a:off x="666750" y="3352800"/>
            <a:ext cx="66675" cy="1066800"/>
          </a:xfrm>
          <a:prstGeom prst="rect">
            <a:avLst/>
          </a:prstGeom>
          <a:solidFill>
            <a:srgbClr val="18A7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659116A-19AE-4F99-8577-385CE1B589D6}"/>
              </a:ext>
            </a:extLst>
          </p:cNvPr>
          <p:cNvSpPr>
            <a:spLocks noGrp="1"/>
          </p:cNvSpPr>
          <p:nvPr/>
        </p:nvSpPr>
        <p:spPr>
          <a:xfrm>
            <a:off x="876300" y="3524250"/>
            <a:ext cx="1990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Milvus RAG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9C077E9-583D-42B7-9273-9B3D638D135C}"/>
              </a:ext>
            </a:extLst>
          </p:cNvPr>
          <p:cNvSpPr>
            <a:spLocks noGrp="1"/>
          </p:cNvSpPr>
          <p:nvPr/>
        </p:nvSpPr>
        <p:spPr>
          <a:xfrm>
            <a:off x="876300" y="3829050"/>
            <a:ext cx="19716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真实文档入库 85 chunks</a:t>
            </a:r>
          </a:p>
          <a:p>
            <a:pPr algn="l">
              <a:def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TopK 命中上传文档</a:t>
            </a:r>
          </a:p>
          <a:p>
            <a:pPr algn="l">
              <a:def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confidence=0.816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47ECD4A-F2C2-4A19-89E4-BBA6E9508C8B}"/>
              </a:ext>
            </a:extLst>
          </p:cNvPr>
          <p:cNvSpPr>
            <a:spLocks noGrp="1"/>
          </p:cNvSpPr>
          <p:nvPr/>
        </p:nvSpPr>
        <p:spPr>
          <a:xfrm>
            <a:off x="3286125" y="3352800"/>
            <a:ext cx="233362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1983B14-8E93-4688-BB78-10218FE5428A}"/>
              </a:ext>
            </a:extLst>
          </p:cNvPr>
          <p:cNvSpPr>
            <a:spLocks noGrp="1"/>
          </p:cNvSpPr>
          <p:nvPr/>
        </p:nvSpPr>
        <p:spPr>
          <a:xfrm>
            <a:off x="3286125" y="3352800"/>
            <a:ext cx="66675" cy="1066800"/>
          </a:xfrm>
          <a:prstGeom prst="rect">
            <a:avLst/>
          </a:prstGeom>
          <a:solidFill>
            <a:srgbClr val="1769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1382595-91C9-46CD-9C0C-AE9C469DD7CB}"/>
              </a:ext>
            </a:extLst>
          </p:cNvPr>
          <p:cNvSpPr>
            <a:spLocks noGrp="1"/>
          </p:cNvSpPr>
          <p:nvPr/>
        </p:nvSpPr>
        <p:spPr>
          <a:xfrm>
            <a:off x="3495675" y="3524250"/>
            <a:ext cx="1990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Redis Memory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18173B3-F60B-4293-B18A-A1D78C61AC16}"/>
              </a:ext>
            </a:extLst>
          </p:cNvPr>
          <p:cNvSpPr>
            <a:spLocks noGrp="1"/>
          </p:cNvSpPr>
          <p:nvPr/>
        </p:nvSpPr>
        <p:spPr>
          <a:xfrm>
            <a:off x="3495675" y="3829050"/>
            <a:ext cx="19716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同 session 两轮追问</a:t>
            </a:r>
          </a:p>
          <a:p>
            <a:pPr algn="l">
              <a:def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activeIntent=after_sales</a:t>
            </a:r>
          </a:p>
          <a:p>
            <a:pPr algn="l">
              <a:def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turnCount=2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D9F5DAE-A75F-490B-9355-7002C04BF4FE}"/>
              </a:ext>
            </a:extLst>
          </p:cNvPr>
          <p:cNvSpPr>
            <a:spLocks noGrp="1"/>
          </p:cNvSpPr>
          <p:nvPr/>
        </p:nvSpPr>
        <p:spPr>
          <a:xfrm>
            <a:off x="5905500" y="3352800"/>
            <a:ext cx="233362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E0ED6A4-2A77-492E-A79F-884378889DB1}"/>
              </a:ext>
            </a:extLst>
          </p:cNvPr>
          <p:cNvSpPr>
            <a:spLocks noGrp="1"/>
          </p:cNvSpPr>
          <p:nvPr/>
        </p:nvSpPr>
        <p:spPr>
          <a:xfrm>
            <a:off x="5905500" y="3352800"/>
            <a:ext cx="66675" cy="1066800"/>
          </a:xfrm>
          <a:prstGeom prst="rect">
            <a:avLst/>
          </a:prstGeom>
          <a:solidFill>
            <a:srgbClr val="F59A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D73DE06-40E6-45F2-A801-38B319B4798C}"/>
              </a:ext>
            </a:extLst>
          </p:cNvPr>
          <p:cNvSpPr>
            <a:spLocks noGrp="1"/>
          </p:cNvSpPr>
          <p:nvPr/>
        </p:nvSpPr>
        <p:spPr>
          <a:xfrm>
            <a:off x="6115050" y="3524250"/>
            <a:ext cx="1990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MySQL Audit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953E81A-32FC-4F5C-82E6-4E8F4DCE01FB}"/>
              </a:ext>
            </a:extLst>
          </p:cNvPr>
          <p:cNvSpPr>
            <a:spLocks noGrp="1"/>
          </p:cNvSpPr>
          <p:nvPr/>
        </p:nvSpPr>
        <p:spPr>
          <a:xfrm>
            <a:off x="6115050" y="3829050"/>
            <a:ext cx="19716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documentCount=3</a:t>
            </a:r>
          </a:p>
          <a:p>
            <a:pPr algn="l">
              <a:def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qaLogCount=1</a:t>
            </a:r>
          </a:p>
          <a:p>
            <a:pPr algn="l">
              <a:def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feedbackCount=1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328EEE2-CFB9-430B-AB34-D9273A428FE2}"/>
              </a:ext>
            </a:extLst>
          </p:cNvPr>
          <p:cNvSpPr>
            <a:spLocks noGrp="1"/>
          </p:cNvSpPr>
          <p:nvPr/>
        </p:nvSpPr>
        <p:spPr>
          <a:xfrm>
            <a:off x="8524875" y="3352800"/>
            <a:ext cx="2333625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EF8B0BC-2CAE-4AA5-AF1E-74EA363FEACC}"/>
              </a:ext>
            </a:extLst>
          </p:cNvPr>
          <p:cNvSpPr>
            <a:spLocks noGrp="1"/>
          </p:cNvSpPr>
          <p:nvPr/>
        </p:nvSpPr>
        <p:spPr>
          <a:xfrm>
            <a:off x="8524875" y="3352800"/>
            <a:ext cx="66675" cy="1066800"/>
          </a:xfrm>
          <a:prstGeom prst="rect">
            <a:avLst/>
          </a:prstGeom>
          <a:solidFill>
            <a:srgbClr val="25B8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CB1C300-CC11-4A8E-A25D-7C402C77565C}"/>
              </a:ext>
            </a:extLst>
          </p:cNvPr>
          <p:cNvSpPr>
            <a:spLocks noGrp="1"/>
          </p:cNvSpPr>
          <p:nvPr/>
        </p:nvSpPr>
        <p:spPr>
          <a:xfrm>
            <a:off x="8734425" y="3524250"/>
            <a:ext cx="1990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236"/>
                </a:solidFill>
                <a:latin typeface="Microsoft YaHei"/>
                <a:ea typeface="Microsoft YaHei"/>
                <a:cs typeface="Microsoft YaHei"/>
              </a:rPr>
              <a:t>Qwen Chat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C06F5C4-722E-4AE7-8138-7B03050E1C36}"/>
              </a:ext>
            </a:extLst>
          </p:cNvPr>
          <p:cNvSpPr>
            <a:spLocks noGrp="1"/>
          </p:cNvSpPr>
          <p:nvPr/>
        </p:nvSpPr>
        <p:spPr>
          <a:xfrm>
            <a:off x="8734425" y="3829050"/>
            <a:ext cx="19716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38100" bIns="0" anchor="t"/>
          <a:lstStyle/>
          <a:p>
            <a:pPr algn="l">
              <a:def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OpenAI-compatible adapter</a:t>
            </a:r>
          </a:p>
          <a:p>
            <a:pPr algn="l">
              <a:def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trace: llm_evidence_only</a:t>
            </a:r>
          </a:p>
          <a:p>
            <a:pPr algn="l">
              <a:def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" b="0">
                <a:solidFill>
                  <a:srgbClr val="36506D"/>
                </a:solidFill>
                <a:latin typeface="Microsoft YaHei"/>
                <a:ea typeface="Microsoft YaHei"/>
                <a:cs typeface="Microsoft YaHei"/>
              </a:rPr>
              <a:t>model: qwen3.7-plus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FB3F4B0-0D15-4721-A30A-292BA8B28284}"/>
              </a:ext>
            </a:extLst>
          </p:cNvPr>
          <p:cNvSpPr>
            <a:spLocks noGrp="1"/>
          </p:cNvSpPr>
          <p:nvPr/>
        </p:nvSpPr>
        <p:spPr>
          <a:xfrm>
            <a:off x="762000" y="5095874"/>
            <a:ext cx="10287000" cy="1038225"/>
          </a:xfrm>
          <a:prstGeom prst="rect">
            <a:avLst/>
          </a:prstGeom>
          <a:solidFill>
            <a:srgbClr val="0A1A2B"/>
          </a:solidFill>
          <a:ln w="0">
            <a:solidFill>
              <a:srgbClr val="0A1A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8E6833D-48A7-497B-BE4D-CB1CD2F92880}"/>
              </a:ext>
            </a:extLst>
          </p:cNvPr>
          <p:cNvSpPr>
            <a:spLocks noGrp="1"/>
          </p:cNvSpPr>
          <p:nvPr/>
        </p:nvSpPr>
        <p:spPr>
          <a:xfrm>
            <a:off x="1047750" y="526732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E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err="1">
                <a:solidFill>
                  <a:srgbClr val="8EC5FF"/>
                </a:solidFill>
                <a:latin typeface="Microsoft YaHei"/>
                <a:ea typeface="Microsoft YaHei"/>
                <a:cs typeface="Microsoft YaHei"/>
              </a:rPr>
              <a:t>项目收束</a:t>
            </a:r>
            <a:endParaRPr sz="1200" b="1">
              <a:solidFill>
                <a:srgbClr val="8EC5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5E53D0E-91A8-4FBE-9EEA-37C77DF4DCA3}"/>
              </a:ext>
            </a:extLst>
          </p:cNvPr>
          <p:cNvSpPr>
            <a:spLocks noGrp="1"/>
          </p:cNvSpPr>
          <p:nvPr/>
        </p:nvSpPr>
        <p:spPr>
          <a:xfrm>
            <a:off x="1047750" y="5576887"/>
            <a:ext cx="962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这个系统不是简单调用大模型，而是把模型放进可调度、可检索、可记忆、可约束、可审计的工程链路里；从</a:t>
            </a:r>
            <a:r>
              <a:rPr sz="106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Nanobot 式 Runtime </a:t>
            </a:r>
            <a:r>
              <a:rPr sz="1065" b="1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闭环出发，最终落到企业知识库智能问答这一类</a:t>
            </a:r>
            <a:r>
              <a:rPr sz="106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AI </a:t>
            </a:r>
            <a:r>
              <a:rPr sz="1065" b="1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应用场景</a:t>
            </a:r>
            <a:r>
              <a:rPr sz="106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E9ECD76B-5BF9-1F53-46DB-3D733DF05233}"/>
              </a:ext>
            </a:extLst>
          </p:cNvPr>
          <p:cNvSpPr>
            <a:spLocks noGrp="1"/>
          </p:cNvSpPr>
          <p:nvPr/>
        </p:nvSpPr>
        <p:spPr>
          <a:xfrm>
            <a:off x="8686800" y="6510528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7A8797"/>
                </a:solidFill>
                <a:latin typeface="Microsoft YaHei"/>
                <a:ea typeface="Microsoft YaHei"/>
                <a:cs typeface="Microsoft YaHei"/>
              </a:rPr>
              <a:t>华为AI应用开发技术答辩 · 0</a:t>
            </a:r>
            <a:r>
              <a:rPr lang="en-US" sz="750">
                <a:solidFill>
                  <a:srgbClr val="7A8797"/>
                </a:solidFill>
                <a:latin typeface="Microsoft YaHei"/>
                <a:ea typeface="Microsoft YaHei"/>
                <a:cs typeface="Microsoft YaHei"/>
              </a:rPr>
              <a:t>8</a:t>
            </a:r>
            <a:endParaRPr sz="750">
              <a:solidFill>
                <a:srgbClr val="7A8797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49325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6D9431-4E48-48B8-B46C-CEAA3D4C5A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B6C9"/>
          </a:solidFill>
          <a:ln w="12700">
            <a:solidFill>
              <a:srgbClr val="1FB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E04BC1-EF6C-40D4-A1B4-856D93BABAA4}"/>
              </a:ext>
            </a:extLst>
          </p:cNvPr>
          <p:cNvSpPr>
            <a:spLocks noGrp="1"/>
          </p:cNvSpPr>
          <p:nvPr/>
        </p:nvSpPr>
        <p:spPr>
          <a:xfrm>
            <a:off x="502920" y="34747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850" b="1">
                <a:solidFill>
                  <a:srgbClr val="8FC5FF"/>
                </a:solidFill>
                <a:latin typeface="Microsoft YaHei"/>
                <a:ea typeface="Microsoft YaHei"/>
                <a:cs typeface="Microsoft YaHei"/>
              </a:rPr>
              <a:t>ENGINEERING FIT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7A30B6-B0B1-4124-89A6-3199DB82BB4B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9966960" cy="51206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应用开发的核心能力是把模型放进可靠系统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D83A892-9FC1-439C-BEC4-011BE22EA69B}"/>
              </a:ext>
            </a:extLst>
          </p:cNvPr>
          <p:cNvSpPr>
            <a:spLocks noGrp="1"/>
          </p:cNvSpPr>
          <p:nvPr/>
        </p:nvSpPr>
        <p:spPr>
          <a:xfrm>
            <a:off x="502920" y="1261872"/>
            <a:ext cx="11064240" cy="0"/>
          </a:xfrm>
          <a:prstGeom prst="line">
            <a:avLst/>
          </a:prstGeom>
          <a:noFill/>
          <a:ln w="12700">
            <a:solidFill>
              <a:srgbClr val="2B39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D86093F-743A-4DE1-8BC9-93EC2580F152}"/>
              </a:ext>
            </a:extLst>
          </p:cNvPr>
          <p:cNvSpPr>
            <a:spLocks noGrp="1"/>
          </p:cNvSpPr>
          <p:nvPr/>
        </p:nvSpPr>
        <p:spPr>
          <a:xfrm>
            <a:off x="8686800" y="6510528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750">
                <a:solidFill>
                  <a:srgbClr val="738195"/>
                </a:solidFill>
                <a:latin typeface="Microsoft YaHei"/>
                <a:ea typeface="Microsoft YaHei"/>
                <a:cs typeface="Microsoft YaHei"/>
              </a:rPr>
              <a:t>华为AI应用开发技术答辩 · 09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7210F84-7616-4970-AAF7-45C0F81EA677}"/>
              </a:ext>
            </a:extLst>
          </p:cNvPr>
          <p:cNvSpPr>
            <a:spLocks noGrp="1"/>
          </p:cNvSpPr>
          <p:nvPr/>
        </p:nvSpPr>
        <p:spPr>
          <a:xfrm>
            <a:off x="777240" y="1645920"/>
            <a:ext cx="3154680" cy="1143000"/>
          </a:xfrm>
          <a:prstGeom prst="roundRect">
            <a:avLst>
              <a:gd name="adj" fmla="val 4000"/>
            </a:avLst>
          </a:prstGeom>
          <a:solidFill>
            <a:srgbClr val="111B2A"/>
          </a:solidFill>
          <a:ln w="12700">
            <a:solidFill>
              <a:srgbClr val="293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D1D9807-855A-438E-B768-F5609C8BD1D9}"/>
              </a:ext>
            </a:extLst>
          </p:cNvPr>
          <p:cNvSpPr>
            <a:spLocks noGrp="1"/>
          </p:cNvSpPr>
          <p:nvPr/>
        </p:nvSpPr>
        <p:spPr>
          <a:xfrm>
            <a:off x="777240" y="1645920"/>
            <a:ext cx="73152" cy="1143000"/>
          </a:xfrm>
          <a:prstGeom prst="rect">
            <a:avLst/>
          </a:prstGeom>
          <a:solidFill>
            <a:srgbClr val="1769E0"/>
          </a:solidFill>
          <a:ln w="1270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D422769-A0B5-4A01-B201-DDDFE186AE27}"/>
              </a:ext>
            </a:extLst>
          </p:cNvPr>
          <p:cNvSpPr>
            <a:spLocks noGrp="1"/>
          </p:cNvSpPr>
          <p:nvPr/>
        </p:nvSpPr>
        <p:spPr>
          <a:xfrm>
            <a:off x="978408" y="1810512"/>
            <a:ext cx="2843784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架构理解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F81D468-5D2F-494E-B307-985B7EDBB3D1}"/>
              </a:ext>
            </a:extLst>
          </p:cNvPr>
          <p:cNvSpPr>
            <a:spLocks noGrp="1"/>
          </p:cNvSpPr>
          <p:nvPr/>
        </p:nvSpPr>
        <p:spPr>
          <a:xfrm>
            <a:off x="978408" y="2157984"/>
            <a:ext cx="2843784" cy="5212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从 Agent Runtime </a:t>
            </a:r>
            <a:r>
              <a:rPr sz="930" err="1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闭环理解状态机、执行引擎、能力路由和上下文回填</a:t>
            </a:r>
            <a:r>
              <a:rPr sz="93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391ED0B-3496-4D65-9052-619FFB1DDFBC}"/>
              </a:ext>
            </a:extLst>
          </p:cNvPr>
          <p:cNvSpPr>
            <a:spLocks noGrp="1"/>
          </p:cNvSpPr>
          <p:nvPr/>
        </p:nvSpPr>
        <p:spPr>
          <a:xfrm>
            <a:off x="4343400" y="1645920"/>
            <a:ext cx="3154680" cy="1143000"/>
          </a:xfrm>
          <a:prstGeom prst="roundRect">
            <a:avLst>
              <a:gd name="adj" fmla="val 4000"/>
            </a:avLst>
          </a:prstGeom>
          <a:solidFill>
            <a:srgbClr val="111B2A"/>
          </a:solidFill>
          <a:ln w="12700">
            <a:solidFill>
              <a:srgbClr val="293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4F10825-ED61-4340-B6AF-C8EF7677C485}"/>
              </a:ext>
            </a:extLst>
          </p:cNvPr>
          <p:cNvSpPr>
            <a:spLocks noGrp="1"/>
          </p:cNvSpPr>
          <p:nvPr/>
        </p:nvSpPr>
        <p:spPr>
          <a:xfrm>
            <a:off x="4343400" y="1645920"/>
            <a:ext cx="73152" cy="1143000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FCA4BA7-7A2A-496D-A098-B2386DB49549}"/>
              </a:ext>
            </a:extLst>
          </p:cNvPr>
          <p:cNvSpPr>
            <a:spLocks noGrp="1"/>
          </p:cNvSpPr>
          <p:nvPr/>
        </p:nvSpPr>
        <p:spPr>
          <a:xfrm>
            <a:off x="4544568" y="1810512"/>
            <a:ext cx="2843784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源码拆解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0DACD13-9229-4664-AE52-D58DDE1CA831}"/>
              </a:ext>
            </a:extLst>
          </p:cNvPr>
          <p:cNvSpPr>
            <a:spLocks noGrp="1"/>
          </p:cNvSpPr>
          <p:nvPr/>
        </p:nvSpPr>
        <p:spPr>
          <a:xfrm>
            <a:off x="4544568" y="2157984"/>
            <a:ext cx="3081528" cy="5212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 err="1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通过</a:t>
            </a:r>
            <a:r>
              <a:rPr sz="93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 Nanobot </a:t>
            </a:r>
            <a:r>
              <a:rPr sz="930" err="1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理解轻量级</a:t>
            </a:r>
            <a:r>
              <a:rPr sz="93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 Runtime </a:t>
            </a:r>
            <a:r>
              <a:rPr sz="930" err="1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的主路径与扩展点</a:t>
            </a:r>
            <a:r>
              <a:rPr sz="93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A669C3A-651E-43A6-A4F7-70AFBFD5063A}"/>
              </a:ext>
            </a:extLst>
          </p:cNvPr>
          <p:cNvSpPr>
            <a:spLocks noGrp="1"/>
          </p:cNvSpPr>
          <p:nvPr/>
        </p:nvSpPr>
        <p:spPr>
          <a:xfrm>
            <a:off x="7909560" y="1645920"/>
            <a:ext cx="3154680" cy="1143000"/>
          </a:xfrm>
          <a:prstGeom prst="roundRect">
            <a:avLst>
              <a:gd name="adj" fmla="val 4000"/>
            </a:avLst>
          </a:prstGeom>
          <a:solidFill>
            <a:srgbClr val="111B2A"/>
          </a:solidFill>
          <a:ln w="12700">
            <a:solidFill>
              <a:srgbClr val="293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2CD0CE5-5FE4-41A3-BDBD-CDB5B644243B}"/>
              </a:ext>
            </a:extLst>
          </p:cNvPr>
          <p:cNvSpPr>
            <a:spLocks noGrp="1"/>
          </p:cNvSpPr>
          <p:nvPr/>
        </p:nvSpPr>
        <p:spPr>
          <a:xfrm>
            <a:off x="7909560" y="164592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8E673FC-6EC3-4E32-BCB6-689E3E9691FE}"/>
              </a:ext>
            </a:extLst>
          </p:cNvPr>
          <p:cNvSpPr>
            <a:spLocks noGrp="1"/>
          </p:cNvSpPr>
          <p:nvPr/>
        </p:nvSpPr>
        <p:spPr>
          <a:xfrm>
            <a:off x="8110728" y="1810512"/>
            <a:ext cx="2843784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自研验证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DFE6B4A-3763-4FFD-BE53-3D15E34943AE}"/>
              </a:ext>
            </a:extLst>
          </p:cNvPr>
          <p:cNvSpPr>
            <a:spLocks noGrp="1"/>
          </p:cNvSpPr>
          <p:nvPr/>
        </p:nvSpPr>
        <p:spPr>
          <a:xfrm>
            <a:off x="8110728" y="2157984"/>
            <a:ext cx="2843784" cy="5212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30" err="1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通过</a:t>
            </a:r>
            <a:r>
              <a:rPr sz="93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 Java Agent </a:t>
            </a:r>
            <a:r>
              <a:rPr sz="930" err="1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原型验证多</a:t>
            </a:r>
            <a:r>
              <a:rPr sz="93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 Agent </a:t>
            </a:r>
            <a:r>
              <a:rPr sz="930" err="1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状态流转、工具路由、上下文管理与验证闭环</a:t>
            </a:r>
            <a:r>
              <a:rPr sz="93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AAD1C99-9846-4ACC-BC7F-D2A5D8CC8863}"/>
              </a:ext>
            </a:extLst>
          </p:cNvPr>
          <p:cNvSpPr>
            <a:spLocks noGrp="1"/>
          </p:cNvSpPr>
          <p:nvPr/>
        </p:nvSpPr>
        <p:spPr>
          <a:xfrm>
            <a:off x="813816" y="358444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sz="2000" b="1" err="1">
                <a:solidFill>
                  <a:srgbClr val="8FC5FF"/>
                </a:solidFill>
                <a:latin typeface="Microsoft YaHei"/>
                <a:ea typeface="Microsoft YaHei"/>
                <a:cs typeface="Microsoft YaHei"/>
              </a:rPr>
              <a:t>岗位匹配总结</a:t>
            </a:r>
            <a:endParaRPr sz="2000" b="1">
              <a:solidFill>
                <a:srgbClr val="8FC5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DFF4157-9441-4077-B847-C8D06CB718A0}"/>
              </a:ext>
            </a:extLst>
          </p:cNvPr>
          <p:cNvSpPr>
            <a:spLocks noGrp="1"/>
          </p:cNvSpPr>
          <p:nvPr/>
        </p:nvSpPr>
        <p:spPr>
          <a:xfrm>
            <a:off x="822960" y="4133088"/>
            <a:ext cx="10241280" cy="8046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面向华为 AI 应用开发，工程价值不止在于模型调用，而在于把模型能力、工具系统、业务接口、状态管理和验证机制组织成可上线、可追踪、可迭代的系统。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55454DF-4A64-406E-BEF1-66DE5E98FB9D}"/>
              </a:ext>
            </a:extLst>
          </p:cNvPr>
          <p:cNvSpPr>
            <a:spLocks noGrp="1"/>
          </p:cNvSpPr>
          <p:nvPr/>
        </p:nvSpPr>
        <p:spPr>
          <a:xfrm>
            <a:off x="4023360" y="5687568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marL="0" indent="0" algn="ctr">
              <a:buNone/>
            </a:pPr>
            <a:r>
              <a:rPr sz="2100" b="1">
                <a:solidFill>
                  <a:srgbClr val="8FC5FF"/>
                </a:solidFill>
                <a:latin typeface="Microsoft YaHei"/>
                <a:ea typeface="Microsoft YaHei"/>
                <a:cs typeface="Microsoft YaHei"/>
              </a:rPr>
              <a:t>谢谢，欢迎老师提问。</a:t>
            </a:r>
          </a:p>
        </p:txBody>
      </p:sp>
    </p:spTree>
    <p:extLst>
      <p:ext uri="{BB962C8B-B14F-4D97-AF65-F5344CB8AC3E}">
        <p14:creationId xmlns:p14="http://schemas.microsoft.com/office/powerpoint/2010/main" val="1350065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912</Words>
  <Application>Microsoft Office PowerPoint</Application>
  <DocSecurity>0</DocSecurity>
  <PresentationFormat>宽屏</PresentationFormat>
  <Paragraphs>227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Microsoft YaHei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tree Bread_</cp:lastModifiedBy>
  <cp:revision>13</cp:revision>
  <dcterms:created xsi:type="dcterms:W3CDTF">2026-06-02T16:50:56Z</dcterms:created>
  <dcterms:modified xsi:type="dcterms:W3CDTF">2026-06-18T06:56:19Z</dcterms:modified>
</cp:coreProperties>
</file>